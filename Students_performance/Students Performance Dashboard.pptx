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embeddedFontLst>
    <p:embeddedFont>
      <p:font typeface="Barlow" panose="00000500000000000000" pitchFamily="34" charset="0"/>
      <p:regular r:id="rId23"/>
      <p:bold r:id="rId24"/>
    </p:embeddedFont>
    <p:embeddedFont>
      <p:font typeface="Barlow Condensed" panose="00000506000000000000" pitchFamily="34" charset="0"/>
      <p:regular r:id="rId25"/>
      <p:bold r:id="rId2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 Id="rId23" Type="http://schemas.openxmlformats.org/officeDocument/2006/relationships/font" Target="fonts/font1.fntdata"/><Relationship Id="rId24" Type="http://schemas.openxmlformats.org/officeDocument/2006/relationships/font" Target="fonts/font2.fntdata"/><Relationship Id="rId25" Type="http://schemas.openxmlformats.org/officeDocument/2006/relationships/font" Target="fonts/font3.fntdata"/><Relationship Id="rId26" Type="http://schemas.openxmlformats.org/officeDocument/2006/relationships/font" Target="fonts/font4.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20232A"/>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061721"/>
            <a:ext cx="10566400" cy="474980"/>
          </a:xfrm>
          <a:prstGeom prst="rect">
            <a:avLst/>
          </a:prstGeom>
          <a:noFill/>
          <a:ln/>
        </p:spPr>
        <p:txBody>
          <a:bodyPr wrap="square" lIns="0" tIns="0" rIns="0" bIns="0" rtlCol="0" anchor="t"/>
          <a:lstStyle>
            <a:lvl1pPr algn="l" indent="0" marL="0">
              <a:lnSpc>
                <a:spcPct val="115000"/>
              </a:lnSpc>
              <a:buNone/>
              <a:defRPr lang="en-US" sz="3400" dirty="0">
                <a:solidFill>
                  <a:srgbClr val="FFFFFF"/>
                </a:solidFill>
                <a:latin typeface="Barlow Condensed" pitchFamily="34" charset="0"/>
                <a:ea typeface="Barlow Condensed" pitchFamily="34" charset="-122"/>
                <a:cs typeface="Barlow Condensed" pitchFamily="34" charset="-120"/>
              </a:defRPr>
            </a:lvl1pPr>
          </a:lstStyle>
          <a:p>
            <a:pPr algn="l" indent="0" marL="0">
              <a:lnSpc>
                <a:spcPct val="115000"/>
              </a:lnSpc>
              <a:buNone/>
            </a:pPr>
            <a:endParaRPr lang="en-US" sz="3400" dirty="0"/>
          </a:p>
        </p:txBody>
      </p:sp>
      <p:sp>
        <p:nvSpPr>
          <p:cNvPr id="3" name="Text Placeholder 2"/>
          <p:cNvSpPr/>
          <p:nvPr>
            <p:ph idx="101" type="body"/>
          </p:nvPr>
        </p:nvSpPr>
        <p:spPr>
          <a:xfrm>
            <a:off x="812800" y="1841501"/>
            <a:ext cx="10566400" cy="4203699"/>
          </a:xfrm>
          <a:prstGeom prst="rect">
            <a:avLst/>
          </a:prstGeom>
          <a:noFill/>
          <a:ln/>
        </p:spPr>
        <p:txBody>
          <a:bodyPr wrap="square" lIns="0" tIns="0" rIns="0" bIns="0" rtlCol="0" anchor="t"/>
          <a:lstStyle>
            <a:lvl1pPr algn="l" indent="0" marL="0">
              <a:lnSpc>
                <a:spcPct val="140000"/>
              </a:lnSpc>
              <a:buNone/>
              <a:defRPr lang="en-US" sz="1600" dirty="0">
                <a:solidFill>
                  <a:srgbClr val="FFFFFF"/>
                </a:solidFill>
                <a:latin typeface="Barlow" pitchFamily="34" charset="0"/>
                <a:ea typeface="Barlow" pitchFamily="34" charset="-122"/>
                <a:cs typeface="Barlow"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20232A"/>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061721"/>
            <a:ext cx="10566400" cy="474980"/>
          </a:xfrm>
          <a:prstGeom prst="rect">
            <a:avLst/>
          </a:prstGeom>
          <a:noFill/>
          <a:ln/>
        </p:spPr>
        <p:txBody>
          <a:bodyPr wrap="square" lIns="0" tIns="0" rIns="0" bIns="0" rtlCol="0" anchor="t"/>
          <a:lstStyle>
            <a:lvl1pPr algn="l" indent="0" marL="0">
              <a:lnSpc>
                <a:spcPct val="115000"/>
              </a:lnSpc>
              <a:buNone/>
              <a:defRPr lang="en-US" sz="3400" dirty="0">
                <a:solidFill>
                  <a:srgbClr val="FFFFFF"/>
                </a:solidFill>
                <a:latin typeface="Barlow Condensed" pitchFamily="34" charset="0"/>
                <a:ea typeface="Barlow Condensed" pitchFamily="34" charset="-122"/>
                <a:cs typeface="Barlow Condensed" pitchFamily="34" charset="-120"/>
              </a:defRPr>
            </a:lvl1pPr>
          </a:lstStyle>
          <a:p>
            <a:pPr algn="l" indent="0" marL="0">
              <a:lnSpc>
                <a:spcPct val="115000"/>
              </a:lnSpc>
              <a:buNone/>
            </a:pPr>
            <a:endParaRPr lang="en-US" sz="3400" dirty="0"/>
          </a:p>
        </p:txBody>
      </p:sp>
      <p:sp>
        <p:nvSpPr>
          <p:cNvPr id="3" name="Text Placeholder 2"/>
          <p:cNvSpPr/>
          <p:nvPr>
            <p:ph idx="101" type="body"/>
          </p:nvPr>
        </p:nvSpPr>
        <p:spPr>
          <a:xfrm>
            <a:off x="812800" y="1841501"/>
            <a:ext cx="10566400" cy="4203699"/>
          </a:xfrm>
          <a:prstGeom prst="rect">
            <a:avLst/>
          </a:prstGeom>
          <a:noFill/>
          <a:ln/>
        </p:spPr>
        <p:txBody>
          <a:bodyPr wrap="square" lIns="0" tIns="0" rIns="0" bIns="0" rtlCol="0" anchor="t"/>
          <a:lstStyle>
            <a:lvl1pPr algn="l" indent="0" marL="0">
              <a:lnSpc>
                <a:spcPct val="140000"/>
              </a:lnSpc>
              <a:buNone/>
              <a:defRPr lang="en-US" sz="1600" dirty="0">
                <a:solidFill>
                  <a:srgbClr val="FFFFFF"/>
                </a:solidFill>
                <a:latin typeface="Barlow" pitchFamily="34" charset="0"/>
                <a:ea typeface="Barlow" pitchFamily="34" charset="-122"/>
                <a:cs typeface="Barlow" pitchFamily="34" charset="-120"/>
              </a:defRPr>
            </a:lvl1pPr>
          </a:lstStyle>
          <a:p>
            <a:pPr algn="l" indent="0" marL="0">
              <a:lnSpc>
                <a:spcPct val="140000"/>
              </a:lnSpc>
              <a:buNone/>
            </a:pPr>
            <a:endParaRPr lang="en-US" sz="1600"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0232A"/>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E66C37"/>
                </a:solidFill>
                <a:latin typeface="Barlow" pitchFamily="34" charset="0"/>
                <a:ea typeface="Barlow" pitchFamily="34" charset="-122"/>
                <a:cs typeface="Barlow" pitchFamily="34" charset="-120"/>
              </a:rPr>
              <a:t>PROJECT BRIEF</a:t>
            </a:r>
            <a:endParaRPr lang="en-US" sz="1400" dirty="0"/>
          </a:p>
        </p:txBody>
      </p:sp>
      <p:sp>
        <p:nvSpPr>
          <p:cNvPr id="3" name="Text 1"/>
          <p:cNvSpPr/>
          <p:nvPr>
            <p:ph type="title"/>
          </p:nvPr>
        </p:nvSpPr>
        <p:spPr>
          <a:xfrm>
            <a:off x="812800" y="1264920"/>
            <a:ext cx="10883392" cy="1676400"/>
          </a:xfrm>
          <a:prstGeom prst="rect">
            <a:avLst/>
          </a:prstGeom>
          <a:noFill/>
          <a:ln/>
        </p:spPr>
        <p:txBody>
          <a:bodyPr wrap="square" lIns="0" tIns="0" rIns="0" bIns="0" rtlCol="0" anchor="t">
            <a:normAutofit/>
          </a:bodyPr>
          <a:lstStyle/>
          <a:p>
            <a:pPr algn="l" indent="0" marL="0">
              <a:lnSpc>
                <a:spcPts val="6500"/>
              </a:lnSpc>
              <a:buNone/>
            </a:pPr>
            <a:r>
              <a:rPr lang="en-US" sz="6500" b="1" i="0" dirty="0">
                <a:solidFill>
                  <a:srgbClr val="FFFFFF"/>
                </a:solidFill>
                <a:latin typeface="Barlow Condensed" pitchFamily="34" charset="0"/>
                <a:ea typeface="Barlow Condensed" pitchFamily="34" charset="-122"/>
                <a:cs typeface="Barlow Condensed" pitchFamily="34" charset="-120"/>
              </a:rPr>
              <a:t>Students Performance</a:t>
            </a:r>
            <a:endParaRPr lang="en-US" sz="6500" dirty="0"/>
          </a:p>
          <a:p>
            <a:pPr algn="l" indent="0" marL="0">
              <a:lnSpc>
                <a:spcPts val="6500"/>
              </a:lnSpc>
              <a:buNone/>
            </a:pPr>
            <a:r>
              <a:rPr lang="en-US" sz="6500" b="1" i="0" dirty="0">
                <a:solidFill>
                  <a:srgbClr val="FFFFFF"/>
                </a:solidFill>
                <a:latin typeface="Barlow Condensed" pitchFamily="34" charset="0"/>
                <a:ea typeface="Barlow Condensed" pitchFamily="34" charset="-122"/>
                <a:cs typeface="Barlow Condensed" pitchFamily="34" charset="-120"/>
              </a:rPr>
              <a:t>Dashboard</a:t>
            </a:r>
            <a:endParaRPr lang="en-US" sz="6500" dirty="0"/>
          </a:p>
        </p:txBody>
      </p:sp>
      <p:sp>
        <p:nvSpPr>
          <p:cNvPr id="4" name="Text 2"/>
          <p:cNvSpPr/>
          <p:nvPr/>
        </p:nvSpPr>
        <p:spPr>
          <a:xfrm>
            <a:off x="812800" y="3119120"/>
            <a:ext cx="8502650" cy="61976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EFB5B9"/>
                </a:solidFill>
                <a:latin typeface="Barlow" pitchFamily="34" charset="0"/>
                <a:ea typeface="Barlow" pitchFamily="34" charset="-122"/>
                <a:cs typeface="Barlow" pitchFamily="34" charset="-120"/>
              </a:rPr>
              <a:t>A three-page Power BI report on 397 students from two schools: how family, study habits and lifestyle relate to grades, absences and passing.</a:t>
            </a:r>
            <a:endParaRPr lang="en-US" sz="1800" dirty="0"/>
          </a:p>
        </p:txBody>
      </p:sp>
      <p:sp>
        <p:nvSpPr>
          <p:cNvPr id="5" name="Text 3"/>
          <p:cNvSpPr/>
          <p:nvPr/>
        </p:nvSpPr>
        <p:spPr>
          <a:xfrm>
            <a:off x="812800" y="391668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9AA0AB"/>
                </a:solidFill>
                <a:latin typeface="Barlow" pitchFamily="34" charset="0"/>
                <a:ea typeface="Barlow" pitchFamily="34" charset="-122"/>
                <a:cs typeface="Barlow" pitchFamily="34" charset="-120"/>
              </a:rPr>
              <a:t>Source data: Student_perf.xlsx · 35 columns · schools GP and MS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20232A"/>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E66C37"/>
                </a:solidFill>
                <a:latin typeface="Barlow" pitchFamily="34" charset="0"/>
                <a:ea typeface="Barlow" pitchFamily="34" charset="-122"/>
                <a:cs typeface="Barlow" pitchFamily="34" charset="-120"/>
              </a:rPr>
              <a:t>THE PROJECT</a:t>
            </a:r>
            <a:endParaRPr lang="en-US" sz="1400" dirty="0"/>
          </a:p>
        </p:txBody>
      </p:sp>
      <p:sp>
        <p:nvSpPr>
          <p:cNvPr id="3" name="Text 1"/>
          <p:cNvSpPr/>
          <p:nvPr>
            <p:ph type="title"/>
          </p:nvPr>
        </p:nvSpPr>
        <p:spPr>
          <a:xfrm>
            <a:off x="812800" y="1264920"/>
            <a:ext cx="10883392" cy="500380"/>
          </a:xfrm>
          <a:prstGeom prst="rect">
            <a:avLst/>
          </a:prstGeom>
          <a:noFill/>
          <a:ln/>
        </p:spPr>
        <p:txBody>
          <a:bodyPr wrap="square" lIns="0" tIns="0" rIns="0" bIns="0" rtlCol="0" anchor="t">
            <a:normAutofit/>
          </a:bodyPr>
          <a:lstStyle/>
          <a:p>
            <a:pPr algn="l" indent="0" marL="0">
              <a:lnSpc>
                <a:spcPts val="3740"/>
              </a:lnSpc>
              <a:buNone/>
            </a:pPr>
            <a:r>
              <a:rPr lang="en-US" sz="3400" b="1" i="0" dirty="0">
                <a:solidFill>
                  <a:srgbClr val="FFFFFF"/>
                </a:solidFill>
                <a:latin typeface="Barlow Condensed" pitchFamily="34" charset="0"/>
                <a:ea typeface="Barlow Condensed" pitchFamily="34" charset="-122"/>
                <a:cs typeface="Barlow Condensed" pitchFamily="34" charset="-120"/>
              </a:rPr>
              <a:t>The problem we solved</a:t>
            </a:r>
            <a:endParaRPr lang="en-US" sz="3400" dirty="0"/>
          </a:p>
        </p:txBody>
      </p:sp>
      <p:sp>
        <p:nvSpPr>
          <p:cNvPr id="4" name="Shape 2"/>
          <p:cNvSpPr/>
          <p:nvPr/>
        </p:nvSpPr>
        <p:spPr>
          <a:xfrm>
            <a:off x="822325" y="1952625"/>
            <a:ext cx="3384550" cy="1785620"/>
          </a:xfrm>
          <a:prstGeom prst="roundRect">
            <a:avLst>
              <a:gd name="adj" fmla="val 6579"/>
            </a:avLst>
          </a:prstGeom>
          <a:solidFill>
            <a:srgbClr val="F4F4EF"/>
          </a:solidFill>
          <a:ln w="19050">
            <a:solidFill>
              <a:srgbClr val="A01D26"/>
            </a:solidFill>
            <a:prstDash val="solid"/>
          </a:ln>
        </p:spPr>
      </p:sp>
      <p:sp>
        <p:nvSpPr>
          <p:cNvPr id="5" name="Text 3"/>
          <p:cNvSpPr/>
          <p:nvPr/>
        </p:nvSpPr>
        <p:spPr>
          <a:xfrm>
            <a:off x="828040" y="1958340"/>
            <a:ext cx="3373120" cy="421640"/>
          </a:xfrm>
          <a:custGeom>
            <a:avLst/>
            <a:gdLst/>
            <a:ahLst/>
            <a:cxnLst/>
            <a:rect l="l" t="t" r="r" b="b"/>
            <a:pathLst>
              <a:path w="3373120" h="421640">
                <a:moveTo>
                  <a:pt x="88900" y="0"/>
                </a:moveTo>
                <a:lnTo>
                  <a:pt x="3284220" y="0"/>
                </a:lnTo>
                <a:arcTo hR="88900" wR="88900" stAng="16200000" swAng="5400000"/>
                <a:lnTo>
                  <a:pt x="3373120" y="421640"/>
                </a:lnTo>
                <a:lnTo>
                  <a:pt x="0" y="421640"/>
                </a:lnTo>
                <a:lnTo>
                  <a:pt x="0" y="88900"/>
                </a:lnTo>
                <a:arcTo hR="88900" wR="88900" stAng="10800000" swAng="5400000"/>
                <a:close/>
              </a:path>
            </a:pathLst>
          </a:custGeom>
          <a:solidFill>
            <a:srgbClr val="A01D26"/>
          </a:solidFill>
          <a:ln/>
        </p:spPr>
        <p:txBody>
          <a:bodyPr wrap="square" lIns="152400" tIns="88900" rIns="60350" bIns="63500" rtlCol="0" anchor="t">
            <a:normAutofit/>
          </a:bodyPr>
          <a:lstStyle/>
          <a:p>
            <a:pPr algn="l" indent="0" marL="0">
              <a:lnSpc>
                <a:spcPts val="1920"/>
              </a:lnSpc>
              <a:buNone/>
            </a:pPr>
            <a:r>
              <a:rPr lang="en-US" sz="1600" b="1" dirty="0">
                <a:solidFill>
                  <a:srgbClr val="FFFFFF"/>
                </a:solidFill>
                <a:latin typeface="Barlow Condensed" pitchFamily="34" charset="0"/>
                <a:ea typeface="Barlow Condensed" pitchFamily="34" charset="-122"/>
                <a:cs typeface="Barlow Condensed" pitchFamily="34" charset="-120"/>
              </a:rPr>
              <a:t>The problem</a:t>
            </a:r>
            <a:endParaRPr lang="en-US" sz="1600" dirty="0"/>
          </a:p>
        </p:txBody>
      </p:sp>
      <p:sp>
        <p:nvSpPr>
          <p:cNvPr id="6" name="Text 4"/>
          <p:cNvSpPr/>
          <p:nvPr/>
        </p:nvSpPr>
        <p:spPr>
          <a:xfrm>
            <a:off x="980440" y="2519680"/>
            <a:ext cx="3160370" cy="109855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2B1A1C"/>
                </a:solidFill>
                <a:latin typeface="Barlow" pitchFamily="34" charset="0"/>
                <a:ea typeface="Barlow" pitchFamily="34" charset="-122"/>
                <a:cs typeface="Barlow" pitchFamily="34" charset="-120"/>
              </a:rPr>
              <a:t>One flat sheet: 397 students and 35 columns. Grades, family, habits and absences sit side by side, grades are split over three subjects (Sub1 to Sub3), and many answers are codes from 1 to 5.</a:t>
            </a:r>
            <a:endParaRPr lang="en-US" sz="1300" dirty="0"/>
          </a:p>
        </p:txBody>
      </p:sp>
      <p:sp>
        <p:nvSpPr>
          <p:cNvPr id="7" name="Shape 5"/>
          <p:cNvSpPr/>
          <p:nvPr/>
        </p:nvSpPr>
        <p:spPr>
          <a:xfrm>
            <a:off x="4403725" y="1952625"/>
            <a:ext cx="3384550" cy="1785620"/>
          </a:xfrm>
          <a:prstGeom prst="roundRect">
            <a:avLst>
              <a:gd name="adj" fmla="val 6579"/>
            </a:avLst>
          </a:prstGeom>
          <a:solidFill>
            <a:srgbClr val="F4F4EF"/>
          </a:solidFill>
          <a:ln w="19050">
            <a:solidFill>
              <a:srgbClr val="A01D26"/>
            </a:solidFill>
            <a:prstDash val="solid"/>
          </a:ln>
        </p:spPr>
      </p:sp>
      <p:sp>
        <p:nvSpPr>
          <p:cNvPr id="8" name="Text 6"/>
          <p:cNvSpPr/>
          <p:nvPr/>
        </p:nvSpPr>
        <p:spPr>
          <a:xfrm>
            <a:off x="4409440" y="1958340"/>
            <a:ext cx="3373120" cy="421640"/>
          </a:xfrm>
          <a:custGeom>
            <a:avLst/>
            <a:gdLst/>
            <a:ahLst/>
            <a:cxnLst/>
            <a:rect l="l" t="t" r="r" b="b"/>
            <a:pathLst>
              <a:path w="3373120" h="421640">
                <a:moveTo>
                  <a:pt x="88900" y="0"/>
                </a:moveTo>
                <a:lnTo>
                  <a:pt x="3284220" y="0"/>
                </a:lnTo>
                <a:arcTo hR="88900" wR="88900" stAng="16200000" swAng="5400000"/>
                <a:lnTo>
                  <a:pt x="3373120" y="421640"/>
                </a:lnTo>
                <a:lnTo>
                  <a:pt x="0" y="421640"/>
                </a:lnTo>
                <a:lnTo>
                  <a:pt x="0" y="88900"/>
                </a:lnTo>
                <a:arcTo hR="88900" wR="88900" stAng="10800000" swAng="5400000"/>
                <a:close/>
              </a:path>
            </a:pathLst>
          </a:custGeom>
          <a:solidFill>
            <a:srgbClr val="A01D26"/>
          </a:solidFill>
          <a:ln/>
        </p:spPr>
        <p:txBody>
          <a:bodyPr wrap="square" lIns="152400" tIns="88900" rIns="60350" bIns="63500" rtlCol="0" anchor="t">
            <a:normAutofit/>
          </a:bodyPr>
          <a:lstStyle/>
          <a:p>
            <a:pPr algn="l" indent="0" marL="0">
              <a:lnSpc>
                <a:spcPts val="1920"/>
              </a:lnSpc>
              <a:buNone/>
            </a:pPr>
            <a:r>
              <a:rPr lang="en-US" sz="1600" b="1" dirty="0">
                <a:solidFill>
                  <a:srgbClr val="FFFFFF"/>
                </a:solidFill>
                <a:latin typeface="Barlow Condensed" pitchFamily="34" charset="0"/>
                <a:ea typeface="Barlow Condensed" pitchFamily="34" charset="-122"/>
                <a:cs typeface="Barlow Condensed" pitchFamily="34" charset="-120"/>
              </a:rPr>
              <a:t>What we built</a:t>
            </a:r>
            <a:endParaRPr lang="en-US" sz="1600" dirty="0"/>
          </a:p>
        </p:txBody>
      </p:sp>
      <p:sp>
        <p:nvSpPr>
          <p:cNvPr id="9" name="Text 7"/>
          <p:cNvSpPr/>
          <p:nvPr/>
        </p:nvSpPr>
        <p:spPr>
          <a:xfrm>
            <a:off x="4561840" y="2519680"/>
            <a:ext cx="3160370" cy="109855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2B1A1C"/>
                </a:solidFill>
                <a:latin typeface="Barlow" pitchFamily="34" charset="0"/>
                <a:ea typeface="Barlow" pitchFamily="34" charset="-122"/>
                <a:cs typeface="Barlow" pitchFamily="34" charset="-120"/>
              </a:rPr>
              <a:t>A three-page Power BI report with slicers for address, age, school and gender, and measures for student counts, average absences, average grades, pass or fail, High Risk and Perfect Healthy students.</a:t>
            </a:r>
            <a:endParaRPr lang="en-US" sz="1300" dirty="0"/>
          </a:p>
        </p:txBody>
      </p:sp>
      <p:sp>
        <p:nvSpPr>
          <p:cNvPr id="10" name="Shape 8"/>
          <p:cNvSpPr/>
          <p:nvPr/>
        </p:nvSpPr>
        <p:spPr>
          <a:xfrm>
            <a:off x="7985125" y="1952625"/>
            <a:ext cx="3384550" cy="1785620"/>
          </a:xfrm>
          <a:prstGeom prst="roundRect">
            <a:avLst>
              <a:gd name="adj" fmla="val 6579"/>
            </a:avLst>
          </a:prstGeom>
          <a:solidFill>
            <a:srgbClr val="F4F4EF"/>
          </a:solidFill>
          <a:ln w="19050">
            <a:solidFill>
              <a:srgbClr val="A01D26"/>
            </a:solidFill>
            <a:prstDash val="solid"/>
          </a:ln>
        </p:spPr>
      </p:sp>
      <p:sp>
        <p:nvSpPr>
          <p:cNvPr id="11" name="Text 9"/>
          <p:cNvSpPr/>
          <p:nvPr/>
        </p:nvSpPr>
        <p:spPr>
          <a:xfrm>
            <a:off x="7990840" y="1958340"/>
            <a:ext cx="3373120" cy="421640"/>
          </a:xfrm>
          <a:custGeom>
            <a:avLst/>
            <a:gdLst/>
            <a:ahLst/>
            <a:cxnLst/>
            <a:rect l="l" t="t" r="r" b="b"/>
            <a:pathLst>
              <a:path w="3373120" h="421640">
                <a:moveTo>
                  <a:pt x="88900" y="0"/>
                </a:moveTo>
                <a:lnTo>
                  <a:pt x="3284220" y="0"/>
                </a:lnTo>
                <a:arcTo hR="88900" wR="88900" stAng="16200000" swAng="5400000"/>
                <a:lnTo>
                  <a:pt x="3373120" y="421640"/>
                </a:lnTo>
                <a:lnTo>
                  <a:pt x="0" y="421640"/>
                </a:lnTo>
                <a:lnTo>
                  <a:pt x="0" y="88900"/>
                </a:lnTo>
                <a:arcTo hR="88900" wR="88900" stAng="10800000" swAng="5400000"/>
                <a:close/>
              </a:path>
            </a:pathLst>
          </a:custGeom>
          <a:solidFill>
            <a:srgbClr val="A01D26"/>
          </a:solidFill>
          <a:ln/>
        </p:spPr>
        <p:txBody>
          <a:bodyPr wrap="square" lIns="152400" tIns="88900" rIns="60350" bIns="63500" rtlCol="0" anchor="t">
            <a:normAutofit/>
          </a:bodyPr>
          <a:lstStyle/>
          <a:p>
            <a:pPr algn="l" indent="0" marL="0">
              <a:lnSpc>
                <a:spcPts val="1920"/>
              </a:lnSpc>
              <a:buNone/>
            </a:pPr>
            <a:r>
              <a:rPr lang="en-US" sz="1600" b="1" dirty="0">
                <a:solidFill>
                  <a:srgbClr val="FFFFFF"/>
                </a:solidFill>
                <a:latin typeface="Barlow Condensed" pitchFamily="34" charset="0"/>
                <a:ea typeface="Barlow Condensed" pitchFamily="34" charset="-122"/>
                <a:cs typeface="Barlow Condensed" pitchFamily="34" charset="-120"/>
              </a:rPr>
              <a:t>What it gives the school</a:t>
            </a:r>
            <a:endParaRPr lang="en-US" sz="1600" dirty="0"/>
          </a:p>
        </p:txBody>
      </p:sp>
      <p:sp>
        <p:nvSpPr>
          <p:cNvPr id="12" name="Text 10"/>
          <p:cNvSpPr/>
          <p:nvPr/>
        </p:nvSpPr>
        <p:spPr>
          <a:xfrm>
            <a:off x="8143240" y="2519680"/>
            <a:ext cx="3160370" cy="88392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2B1A1C"/>
                </a:solidFill>
                <a:latin typeface="Barlow" pitchFamily="34" charset="0"/>
                <a:ea typeface="Barlow" pitchFamily="34" charset="-122"/>
                <a:cs typeface="Barlow" pitchFamily="34" charset="-120"/>
              </a:rPr>
              <a:t>One place to see who the students are, which home and study conditions go with passing, and how diet, sleep and alcohol relate to results.</a:t>
            </a:r>
            <a:endParaRPr lang="en-US" sz="1300" dirty="0"/>
          </a:p>
        </p:txBody>
      </p:sp>
      <p:sp>
        <p:nvSpPr>
          <p:cNvPr id="13" name="Text 11"/>
          <p:cNvSpPr/>
          <p:nvPr/>
        </p:nvSpPr>
        <p:spPr>
          <a:xfrm>
            <a:off x="812800" y="6238241"/>
            <a:ext cx="91567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0AB"/>
                </a:solidFill>
                <a:latin typeface="Barlow" pitchFamily="34" charset="0"/>
                <a:ea typeface="Barlow" pitchFamily="34" charset="-122"/>
                <a:cs typeface="Barlow" pitchFamily="34" charset="-120"/>
              </a:rPr>
              <a:t>Students Performance Dashboard · Project brief · 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20232A"/>
        </a:solidFill>
      </p:bgPr>
    </p:bg>
    <p:spTree>
      <p:nvGrpSpPr>
        <p:cNvPr id="1" name=""/>
        <p:cNvGrpSpPr/>
        <p:nvPr/>
      </p:nvGrpSpPr>
      <p:grpSpPr>
        <a:xfrm>
          <a:off x="0" y="0"/>
          <a:ext cx="0" cy="0"/>
          <a:chOff x="0" y="0"/>
          <a:chExt cx="0" cy="0"/>
        </a:xfrm>
      </p:grpSpPr>
      <p:sp>
        <p:nvSpPr>
          <p:cNvPr id="2" name="Text 0"/>
          <p:cNvSpPr/>
          <p:nvPr/>
        </p:nvSpPr>
        <p:spPr>
          <a:xfrm>
            <a:off x="812800" y="6096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E66C37"/>
                </a:solidFill>
                <a:latin typeface="Barlow" pitchFamily="34" charset="0"/>
                <a:ea typeface="Barlow" pitchFamily="34" charset="-122"/>
                <a:cs typeface="Barlow" pitchFamily="34" charset="-120"/>
              </a:rPr>
              <a:t>THE DATA</a:t>
            </a:r>
            <a:endParaRPr lang="en-US" sz="1400" dirty="0"/>
          </a:p>
        </p:txBody>
      </p:sp>
      <p:sp>
        <p:nvSpPr>
          <p:cNvPr id="3" name="Text 1"/>
          <p:cNvSpPr/>
          <p:nvPr>
            <p:ph type="title"/>
          </p:nvPr>
        </p:nvSpPr>
        <p:spPr>
          <a:xfrm>
            <a:off x="812800" y="1061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FFFFFF"/>
                </a:solidFill>
                <a:latin typeface="Barlow Condensed" pitchFamily="34" charset="0"/>
                <a:ea typeface="Barlow Condensed" pitchFamily="34" charset="-122"/>
                <a:cs typeface="Barlow Condensed" pitchFamily="34" charset="-120"/>
              </a:rPr>
              <a:t>What is in the sheet</a:t>
            </a:r>
            <a:endParaRPr lang="en-US" sz="3000" dirty="0"/>
          </a:p>
        </p:txBody>
      </p:sp>
      <p:sp>
        <p:nvSpPr>
          <p:cNvPr id="4" name="Shape 2"/>
          <p:cNvSpPr/>
          <p:nvPr/>
        </p:nvSpPr>
        <p:spPr>
          <a:xfrm>
            <a:off x="822325" y="1693545"/>
            <a:ext cx="2489200" cy="1113790"/>
          </a:xfrm>
          <a:prstGeom prst="roundRect">
            <a:avLst>
              <a:gd name="adj" fmla="val 10547"/>
            </a:avLst>
          </a:prstGeom>
          <a:solidFill>
            <a:srgbClr val="F4F4EF"/>
          </a:solidFill>
          <a:ln w="19050">
            <a:solidFill>
              <a:srgbClr val="A01D26"/>
            </a:solidFill>
            <a:prstDash val="solid"/>
          </a:ln>
        </p:spPr>
      </p:sp>
      <p:sp>
        <p:nvSpPr>
          <p:cNvPr id="5" name="Text 3"/>
          <p:cNvSpPr/>
          <p:nvPr/>
        </p:nvSpPr>
        <p:spPr>
          <a:xfrm>
            <a:off x="1005840" y="1864361"/>
            <a:ext cx="2185835" cy="532130"/>
          </a:xfrm>
          <a:prstGeom prst="rect">
            <a:avLst/>
          </a:prstGeom>
          <a:noFill/>
          <a:ln/>
        </p:spPr>
        <p:txBody>
          <a:bodyPr wrap="square" lIns="0" tIns="0" rIns="0" bIns="0" rtlCol="0" anchor="t">
            <a:normAutofit/>
          </a:bodyPr>
          <a:lstStyle/>
          <a:p>
            <a:pPr algn="l" indent="0" marL="0">
              <a:lnSpc>
                <a:spcPts val="3990"/>
              </a:lnSpc>
              <a:buNone/>
            </a:pPr>
            <a:r>
              <a:rPr lang="en-US" sz="3800" b="1" dirty="0">
                <a:solidFill>
                  <a:srgbClr val="A01D26"/>
                </a:solidFill>
                <a:latin typeface="Barlow Condensed" pitchFamily="34" charset="0"/>
                <a:ea typeface="Barlow Condensed" pitchFamily="34" charset="-122"/>
                <a:cs typeface="Barlow Condensed" pitchFamily="34" charset="-120"/>
              </a:rPr>
              <a:t>397</a:t>
            </a:r>
            <a:endParaRPr lang="en-US" sz="3800" dirty="0"/>
          </a:p>
        </p:txBody>
      </p:sp>
      <p:sp>
        <p:nvSpPr>
          <p:cNvPr id="6" name="Text 4"/>
          <p:cNvSpPr/>
          <p:nvPr/>
        </p:nvSpPr>
        <p:spPr>
          <a:xfrm>
            <a:off x="1005840" y="2421891"/>
            <a:ext cx="2185835" cy="24003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2B1A1C"/>
                </a:solidFill>
                <a:latin typeface="Barlow" pitchFamily="34" charset="0"/>
                <a:ea typeface="Barlow" pitchFamily="34" charset="-122"/>
                <a:cs typeface="Barlow" pitchFamily="34" charset="-120"/>
              </a:rPr>
              <a:t>students (rows)</a:t>
            </a:r>
            <a:endParaRPr lang="en-US" sz="1300" dirty="0"/>
          </a:p>
        </p:txBody>
      </p:sp>
      <p:sp>
        <p:nvSpPr>
          <p:cNvPr id="7" name="Shape 5"/>
          <p:cNvSpPr/>
          <p:nvPr/>
        </p:nvSpPr>
        <p:spPr>
          <a:xfrm>
            <a:off x="3508375" y="1693545"/>
            <a:ext cx="2489200" cy="1113790"/>
          </a:xfrm>
          <a:prstGeom prst="roundRect">
            <a:avLst>
              <a:gd name="adj" fmla="val 10547"/>
            </a:avLst>
          </a:prstGeom>
          <a:solidFill>
            <a:srgbClr val="F4F4EF"/>
          </a:solidFill>
          <a:ln w="19050">
            <a:solidFill>
              <a:srgbClr val="A01D26"/>
            </a:solidFill>
            <a:prstDash val="solid"/>
          </a:ln>
        </p:spPr>
      </p:sp>
      <p:sp>
        <p:nvSpPr>
          <p:cNvPr id="8" name="Text 6"/>
          <p:cNvSpPr/>
          <p:nvPr/>
        </p:nvSpPr>
        <p:spPr>
          <a:xfrm>
            <a:off x="3691890" y="1864361"/>
            <a:ext cx="2185835" cy="532130"/>
          </a:xfrm>
          <a:prstGeom prst="rect">
            <a:avLst/>
          </a:prstGeom>
          <a:noFill/>
          <a:ln/>
        </p:spPr>
        <p:txBody>
          <a:bodyPr wrap="square" lIns="0" tIns="0" rIns="0" bIns="0" rtlCol="0" anchor="t">
            <a:normAutofit/>
          </a:bodyPr>
          <a:lstStyle/>
          <a:p>
            <a:pPr algn="l" indent="0" marL="0">
              <a:lnSpc>
                <a:spcPts val="3990"/>
              </a:lnSpc>
              <a:buNone/>
            </a:pPr>
            <a:r>
              <a:rPr lang="en-US" sz="3800" b="1" dirty="0">
                <a:solidFill>
                  <a:srgbClr val="A01D26"/>
                </a:solidFill>
                <a:latin typeface="Barlow Condensed" pitchFamily="34" charset="0"/>
                <a:ea typeface="Barlow Condensed" pitchFamily="34" charset="-122"/>
                <a:cs typeface="Barlow Condensed" pitchFamily="34" charset="-120"/>
              </a:rPr>
              <a:t>35</a:t>
            </a:r>
            <a:endParaRPr lang="en-US" sz="3800" dirty="0"/>
          </a:p>
        </p:txBody>
      </p:sp>
      <p:sp>
        <p:nvSpPr>
          <p:cNvPr id="9" name="Text 7"/>
          <p:cNvSpPr/>
          <p:nvPr/>
        </p:nvSpPr>
        <p:spPr>
          <a:xfrm>
            <a:off x="3691890" y="2421891"/>
            <a:ext cx="2185835" cy="24003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2B1A1C"/>
                </a:solidFill>
                <a:latin typeface="Barlow" pitchFamily="34" charset="0"/>
                <a:ea typeface="Barlow" pitchFamily="34" charset="-122"/>
                <a:cs typeface="Barlow" pitchFamily="34" charset="-120"/>
              </a:rPr>
              <a:t>columns</a:t>
            </a:r>
            <a:endParaRPr lang="en-US" sz="1300" dirty="0"/>
          </a:p>
        </p:txBody>
      </p:sp>
      <p:sp>
        <p:nvSpPr>
          <p:cNvPr id="10" name="Shape 8"/>
          <p:cNvSpPr/>
          <p:nvPr/>
        </p:nvSpPr>
        <p:spPr>
          <a:xfrm>
            <a:off x="6194425" y="1693545"/>
            <a:ext cx="2489200" cy="1113790"/>
          </a:xfrm>
          <a:prstGeom prst="roundRect">
            <a:avLst>
              <a:gd name="adj" fmla="val 10547"/>
            </a:avLst>
          </a:prstGeom>
          <a:solidFill>
            <a:srgbClr val="F4F4EF"/>
          </a:solidFill>
          <a:ln w="19050">
            <a:solidFill>
              <a:srgbClr val="A01D26"/>
            </a:solidFill>
            <a:prstDash val="solid"/>
          </a:ln>
        </p:spPr>
      </p:sp>
      <p:sp>
        <p:nvSpPr>
          <p:cNvPr id="11" name="Text 9"/>
          <p:cNvSpPr/>
          <p:nvPr/>
        </p:nvSpPr>
        <p:spPr>
          <a:xfrm>
            <a:off x="6377940" y="1864361"/>
            <a:ext cx="2185835" cy="532130"/>
          </a:xfrm>
          <a:prstGeom prst="rect">
            <a:avLst/>
          </a:prstGeom>
          <a:noFill/>
          <a:ln/>
        </p:spPr>
        <p:txBody>
          <a:bodyPr wrap="square" lIns="0" tIns="0" rIns="0" bIns="0" rtlCol="0" anchor="t">
            <a:normAutofit/>
          </a:bodyPr>
          <a:lstStyle/>
          <a:p>
            <a:pPr algn="l" indent="0" marL="0">
              <a:lnSpc>
                <a:spcPts val="3990"/>
              </a:lnSpc>
              <a:buNone/>
            </a:pPr>
            <a:r>
              <a:rPr lang="en-US" sz="3800" b="1" dirty="0">
                <a:solidFill>
                  <a:srgbClr val="A01D26"/>
                </a:solidFill>
                <a:latin typeface="Barlow Condensed" pitchFamily="34" charset="0"/>
                <a:ea typeface="Barlow Condensed" pitchFamily="34" charset="-122"/>
                <a:cs typeface="Barlow Condensed" pitchFamily="34" charset="-120"/>
              </a:rPr>
              <a:t>350 / 47</a:t>
            </a:r>
            <a:endParaRPr lang="en-US" sz="3800" dirty="0"/>
          </a:p>
        </p:txBody>
      </p:sp>
      <p:sp>
        <p:nvSpPr>
          <p:cNvPr id="12" name="Text 10"/>
          <p:cNvSpPr/>
          <p:nvPr/>
        </p:nvSpPr>
        <p:spPr>
          <a:xfrm>
            <a:off x="6377940" y="2421891"/>
            <a:ext cx="2185835" cy="24003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2B1A1C"/>
                </a:solidFill>
                <a:latin typeface="Barlow" pitchFamily="34" charset="0"/>
                <a:ea typeface="Barlow" pitchFamily="34" charset="-122"/>
                <a:cs typeface="Barlow" pitchFamily="34" charset="-120"/>
              </a:rPr>
              <a:t>students in GP / MS</a:t>
            </a:r>
            <a:endParaRPr lang="en-US" sz="1300" dirty="0"/>
          </a:p>
        </p:txBody>
      </p:sp>
      <p:sp>
        <p:nvSpPr>
          <p:cNvPr id="13" name="Shape 11"/>
          <p:cNvSpPr/>
          <p:nvPr/>
        </p:nvSpPr>
        <p:spPr>
          <a:xfrm>
            <a:off x="8880475" y="1693545"/>
            <a:ext cx="2489200" cy="1113790"/>
          </a:xfrm>
          <a:prstGeom prst="roundRect">
            <a:avLst>
              <a:gd name="adj" fmla="val 10547"/>
            </a:avLst>
          </a:prstGeom>
          <a:solidFill>
            <a:srgbClr val="F4F4EF"/>
          </a:solidFill>
          <a:ln w="19050">
            <a:solidFill>
              <a:srgbClr val="A01D26"/>
            </a:solidFill>
            <a:prstDash val="solid"/>
          </a:ln>
        </p:spPr>
      </p:sp>
      <p:sp>
        <p:nvSpPr>
          <p:cNvPr id="14" name="Text 12"/>
          <p:cNvSpPr/>
          <p:nvPr/>
        </p:nvSpPr>
        <p:spPr>
          <a:xfrm>
            <a:off x="9063990" y="1864361"/>
            <a:ext cx="2185835" cy="532130"/>
          </a:xfrm>
          <a:prstGeom prst="rect">
            <a:avLst/>
          </a:prstGeom>
          <a:noFill/>
          <a:ln/>
        </p:spPr>
        <p:txBody>
          <a:bodyPr wrap="square" lIns="0" tIns="0" rIns="0" bIns="0" rtlCol="0" anchor="t">
            <a:normAutofit/>
          </a:bodyPr>
          <a:lstStyle/>
          <a:p>
            <a:pPr algn="l" indent="0" marL="0">
              <a:lnSpc>
                <a:spcPts val="3990"/>
              </a:lnSpc>
              <a:buNone/>
            </a:pPr>
            <a:r>
              <a:rPr lang="en-US" sz="3800" b="1" dirty="0">
                <a:solidFill>
                  <a:srgbClr val="A01D26"/>
                </a:solidFill>
                <a:latin typeface="Barlow Condensed" pitchFamily="34" charset="0"/>
                <a:ea typeface="Barlow Condensed" pitchFamily="34" charset="-122"/>
                <a:cs typeface="Barlow Condensed" pitchFamily="34" charset="-120"/>
              </a:rPr>
              <a:t>15 to 22</a:t>
            </a:r>
            <a:endParaRPr lang="en-US" sz="3800" dirty="0"/>
          </a:p>
        </p:txBody>
      </p:sp>
      <p:sp>
        <p:nvSpPr>
          <p:cNvPr id="15" name="Text 13"/>
          <p:cNvSpPr/>
          <p:nvPr/>
        </p:nvSpPr>
        <p:spPr>
          <a:xfrm>
            <a:off x="9063990" y="2421891"/>
            <a:ext cx="2185835" cy="24003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2B1A1C"/>
                </a:solidFill>
                <a:latin typeface="Barlow" pitchFamily="34" charset="0"/>
                <a:ea typeface="Barlow" pitchFamily="34" charset="-122"/>
                <a:cs typeface="Barlow" pitchFamily="34" charset="-120"/>
              </a:rPr>
              <a:t>age range</a:t>
            </a:r>
            <a:endParaRPr lang="en-US" sz="1300" dirty="0"/>
          </a:p>
        </p:txBody>
      </p:sp>
      <p:sp>
        <p:nvSpPr>
          <p:cNvPr id="16" name="Shape 14"/>
          <p:cNvSpPr/>
          <p:nvPr/>
        </p:nvSpPr>
        <p:spPr>
          <a:xfrm>
            <a:off x="822325" y="3029586"/>
            <a:ext cx="3384550" cy="1306830"/>
          </a:xfrm>
          <a:prstGeom prst="roundRect">
            <a:avLst>
              <a:gd name="adj" fmla="val 8989"/>
            </a:avLst>
          </a:prstGeom>
          <a:solidFill>
            <a:srgbClr val="F4F4EF"/>
          </a:solidFill>
          <a:ln w="19050">
            <a:solidFill>
              <a:srgbClr val="A01D26"/>
            </a:solidFill>
            <a:prstDash val="solid"/>
          </a:ln>
        </p:spPr>
      </p:sp>
      <p:sp>
        <p:nvSpPr>
          <p:cNvPr id="17" name="Text 15"/>
          <p:cNvSpPr/>
          <p:nvPr/>
        </p:nvSpPr>
        <p:spPr>
          <a:xfrm>
            <a:off x="828040" y="3035300"/>
            <a:ext cx="3373120" cy="421640"/>
          </a:xfrm>
          <a:custGeom>
            <a:avLst/>
            <a:gdLst/>
            <a:ahLst/>
            <a:cxnLst/>
            <a:rect l="l" t="t" r="r" b="b"/>
            <a:pathLst>
              <a:path w="3373120" h="421640">
                <a:moveTo>
                  <a:pt x="88900" y="0"/>
                </a:moveTo>
                <a:lnTo>
                  <a:pt x="3284220" y="0"/>
                </a:lnTo>
                <a:arcTo hR="88900" wR="88900" stAng="16200000" swAng="5400000"/>
                <a:lnTo>
                  <a:pt x="3373120" y="421640"/>
                </a:lnTo>
                <a:lnTo>
                  <a:pt x="0" y="421640"/>
                </a:lnTo>
                <a:lnTo>
                  <a:pt x="0" y="88900"/>
                </a:lnTo>
                <a:arcTo hR="88900" wR="88900" stAng="10800000" swAng="5400000"/>
                <a:close/>
              </a:path>
            </a:pathLst>
          </a:custGeom>
          <a:solidFill>
            <a:srgbClr val="A01D26"/>
          </a:solidFill>
          <a:ln/>
        </p:spPr>
        <p:txBody>
          <a:bodyPr wrap="square" lIns="152400" tIns="88900" rIns="60350" bIns="63500" rtlCol="0" anchor="t">
            <a:normAutofit/>
          </a:bodyPr>
          <a:lstStyle/>
          <a:p>
            <a:pPr algn="l" indent="0" marL="0">
              <a:lnSpc>
                <a:spcPts val="1920"/>
              </a:lnSpc>
              <a:buNone/>
            </a:pPr>
            <a:r>
              <a:rPr lang="en-US" sz="1600" b="1" dirty="0">
                <a:solidFill>
                  <a:srgbClr val="FFFFFF"/>
                </a:solidFill>
                <a:latin typeface="Barlow Condensed" pitchFamily="34" charset="0"/>
                <a:ea typeface="Barlow Condensed" pitchFamily="34" charset="-122"/>
                <a:cs typeface="Barlow Condensed" pitchFamily="34" charset="-120"/>
              </a:rPr>
              <a:t>Student · 4</a:t>
            </a:r>
            <a:endParaRPr lang="en-US" sz="1600" dirty="0"/>
          </a:p>
        </p:txBody>
      </p:sp>
      <p:sp>
        <p:nvSpPr>
          <p:cNvPr id="18" name="Text 16"/>
          <p:cNvSpPr/>
          <p:nvPr/>
        </p:nvSpPr>
        <p:spPr>
          <a:xfrm>
            <a:off x="980440" y="3596641"/>
            <a:ext cx="3160370"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2B1A1C"/>
                </a:solidFill>
                <a:latin typeface="Barlow" pitchFamily="34" charset="0"/>
                <a:ea typeface="Barlow" pitchFamily="34" charset="-122"/>
                <a:cs typeface="Barlow" pitchFamily="34" charset="-120"/>
              </a:rPr>
              <a:t>school, sex, age, address</a:t>
            </a:r>
            <a:endParaRPr lang="en-US" sz="1200" dirty="0"/>
          </a:p>
        </p:txBody>
      </p:sp>
      <p:sp>
        <p:nvSpPr>
          <p:cNvPr id="19" name="Shape 17"/>
          <p:cNvSpPr/>
          <p:nvPr/>
        </p:nvSpPr>
        <p:spPr>
          <a:xfrm>
            <a:off x="4403725" y="3029586"/>
            <a:ext cx="3384550" cy="1306830"/>
          </a:xfrm>
          <a:prstGeom prst="roundRect">
            <a:avLst>
              <a:gd name="adj" fmla="val 8989"/>
            </a:avLst>
          </a:prstGeom>
          <a:solidFill>
            <a:srgbClr val="F4F4EF"/>
          </a:solidFill>
          <a:ln w="19050">
            <a:solidFill>
              <a:srgbClr val="A01D26"/>
            </a:solidFill>
            <a:prstDash val="solid"/>
          </a:ln>
        </p:spPr>
      </p:sp>
      <p:sp>
        <p:nvSpPr>
          <p:cNvPr id="20" name="Text 18"/>
          <p:cNvSpPr/>
          <p:nvPr/>
        </p:nvSpPr>
        <p:spPr>
          <a:xfrm>
            <a:off x="4409440" y="3035300"/>
            <a:ext cx="3373120" cy="421640"/>
          </a:xfrm>
          <a:custGeom>
            <a:avLst/>
            <a:gdLst/>
            <a:ahLst/>
            <a:cxnLst/>
            <a:rect l="l" t="t" r="r" b="b"/>
            <a:pathLst>
              <a:path w="3373120" h="421640">
                <a:moveTo>
                  <a:pt x="88900" y="0"/>
                </a:moveTo>
                <a:lnTo>
                  <a:pt x="3284220" y="0"/>
                </a:lnTo>
                <a:arcTo hR="88900" wR="88900" stAng="16200000" swAng="5400000"/>
                <a:lnTo>
                  <a:pt x="3373120" y="421640"/>
                </a:lnTo>
                <a:lnTo>
                  <a:pt x="0" y="421640"/>
                </a:lnTo>
                <a:lnTo>
                  <a:pt x="0" y="88900"/>
                </a:lnTo>
                <a:arcTo hR="88900" wR="88900" stAng="10800000" swAng="5400000"/>
                <a:close/>
              </a:path>
            </a:pathLst>
          </a:custGeom>
          <a:solidFill>
            <a:srgbClr val="A01D26"/>
          </a:solidFill>
          <a:ln/>
        </p:spPr>
        <p:txBody>
          <a:bodyPr wrap="square" lIns="152400" tIns="88900" rIns="60350" bIns="63500" rtlCol="0" anchor="t">
            <a:normAutofit/>
          </a:bodyPr>
          <a:lstStyle/>
          <a:p>
            <a:pPr algn="l" indent="0" marL="0">
              <a:lnSpc>
                <a:spcPts val="1920"/>
              </a:lnSpc>
              <a:buNone/>
            </a:pPr>
            <a:r>
              <a:rPr lang="en-US" sz="1600" b="1" dirty="0">
                <a:solidFill>
                  <a:srgbClr val="FFFFFF"/>
                </a:solidFill>
                <a:latin typeface="Barlow Condensed" pitchFamily="34" charset="0"/>
                <a:ea typeface="Barlow Condensed" pitchFamily="34" charset="-122"/>
                <a:cs typeface="Barlow Condensed" pitchFamily="34" charset="-120"/>
              </a:rPr>
              <a:t>Family · 9</a:t>
            </a:r>
            <a:endParaRPr lang="en-US" sz="1600" dirty="0"/>
          </a:p>
        </p:txBody>
      </p:sp>
      <p:sp>
        <p:nvSpPr>
          <p:cNvPr id="21" name="Text 19"/>
          <p:cNvSpPr/>
          <p:nvPr/>
        </p:nvSpPr>
        <p:spPr>
          <a:xfrm>
            <a:off x="4561840" y="3596641"/>
            <a:ext cx="3160370" cy="42164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2B1A1C"/>
                </a:solidFill>
                <a:latin typeface="Barlow" pitchFamily="34" charset="0"/>
                <a:ea typeface="Barlow" pitchFamily="34" charset="-122"/>
                <a:cs typeface="Barlow" pitchFamily="34" charset="-120"/>
              </a:rPr>
              <a:t>famsize, Pstatus, Medu, Fedu, Mjob, Fjob, guardian, famrel, famsup</a:t>
            </a:r>
            <a:endParaRPr lang="en-US" sz="1200" dirty="0"/>
          </a:p>
        </p:txBody>
      </p:sp>
      <p:sp>
        <p:nvSpPr>
          <p:cNvPr id="22" name="Shape 20"/>
          <p:cNvSpPr/>
          <p:nvPr/>
        </p:nvSpPr>
        <p:spPr>
          <a:xfrm>
            <a:off x="7985125" y="3029586"/>
            <a:ext cx="3384550" cy="1306830"/>
          </a:xfrm>
          <a:prstGeom prst="roundRect">
            <a:avLst>
              <a:gd name="adj" fmla="val 8989"/>
            </a:avLst>
          </a:prstGeom>
          <a:solidFill>
            <a:srgbClr val="F4F4EF"/>
          </a:solidFill>
          <a:ln w="19050">
            <a:solidFill>
              <a:srgbClr val="A01D26"/>
            </a:solidFill>
            <a:prstDash val="solid"/>
          </a:ln>
        </p:spPr>
      </p:sp>
      <p:sp>
        <p:nvSpPr>
          <p:cNvPr id="23" name="Text 21"/>
          <p:cNvSpPr/>
          <p:nvPr/>
        </p:nvSpPr>
        <p:spPr>
          <a:xfrm>
            <a:off x="7990840" y="3035300"/>
            <a:ext cx="3373120" cy="421640"/>
          </a:xfrm>
          <a:custGeom>
            <a:avLst/>
            <a:gdLst/>
            <a:ahLst/>
            <a:cxnLst/>
            <a:rect l="l" t="t" r="r" b="b"/>
            <a:pathLst>
              <a:path w="3373120" h="421640">
                <a:moveTo>
                  <a:pt x="88900" y="0"/>
                </a:moveTo>
                <a:lnTo>
                  <a:pt x="3284220" y="0"/>
                </a:lnTo>
                <a:arcTo hR="88900" wR="88900" stAng="16200000" swAng="5400000"/>
                <a:lnTo>
                  <a:pt x="3373120" y="421640"/>
                </a:lnTo>
                <a:lnTo>
                  <a:pt x="0" y="421640"/>
                </a:lnTo>
                <a:lnTo>
                  <a:pt x="0" y="88900"/>
                </a:lnTo>
                <a:arcTo hR="88900" wR="88900" stAng="10800000" swAng="5400000"/>
                <a:close/>
              </a:path>
            </a:pathLst>
          </a:custGeom>
          <a:solidFill>
            <a:srgbClr val="A01D26"/>
          </a:solidFill>
          <a:ln/>
        </p:spPr>
        <p:txBody>
          <a:bodyPr wrap="square" lIns="152400" tIns="88900" rIns="60350" bIns="63500" rtlCol="0" anchor="t">
            <a:normAutofit/>
          </a:bodyPr>
          <a:lstStyle/>
          <a:p>
            <a:pPr algn="l" indent="0" marL="0">
              <a:lnSpc>
                <a:spcPts val="1920"/>
              </a:lnSpc>
              <a:buNone/>
            </a:pPr>
            <a:r>
              <a:rPr lang="en-US" sz="1600" b="1" dirty="0">
                <a:solidFill>
                  <a:srgbClr val="FFFFFF"/>
                </a:solidFill>
                <a:latin typeface="Barlow Condensed" pitchFamily="34" charset="0"/>
                <a:ea typeface="Barlow Condensed" pitchFamily="34" charset="-122"/>
                <a:cs typeface="Barlow Condensed" pitchFamily="34" charset="-120"/>
              </a:rPr>
              <a:t>School life · 10</a:t>
            </a:r>
            <a:endParaRPr lang="en-US" sz="1600" dirty="0"/>
          </a:p>
        </p:txBody>
      </p:sp>
      <p:sp>
        <p:nvSpPr>
          <p:cNvPr id="24" name="Text 22"/>
          <p:cNvSpPr/>
          <p:nvPr/>
        </p:nvSpPr>
        <p:spPr>
          <a:xfrm>
            <a:off x="8143240" y="3596641"/>
            <a:ext cx="3160370" cy="61976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2B1A1C"/>
                </a:solidFill>
                <a:latin typeface="Barlow" pitchFamily="34" charset="0"/>
                <a:ea typeface="Barlow" pitchFamily="34" charset="-122"/>
                <a:cs typeface="Barlow" pitchFamily="34" charset="-120"/>
              </a:rPr>
              <a:t>reason, traveltime, studytime, failures, schoolsup, paid, activities, nursery, higher, internet</a:t>
            </a:r>
            <a:endParaRPr lang="en-US" sz="1200" dirty="0"/>
          </a:p>
        </p:txBody>
      </p:sp>
      <p:sp>
        <p:nvSpPr>
          <p:cNvPr id="25" name="Shape 23"/>
          <p:cNvSpPr/>
          <p:nvPr/>
        </p:nvSpPr>
        <p:spPr>
          <a:xfrm>
            <a:off x="822325" y="4558666"/>
            <a:ext cx="3394710" cy="1108710"/>
          </a:xfrm>
          <a:prstGeom prst="roundRect">
            <a:avLst>
              <a:gd name="adj" fmla="val 10596"/>
            </a:avLst>
          </a:prstGeom>
          <a:solidFill>
            <a:srgbClr val="F4F4EF"/>
          </a:solidFill>
          <a:ln w="19050">
            <a:solidFill>
              <a:srgbClr val="A01D26"/>
            </a:solidFill>
            <a:prstDash val="solid"/>
          </a:ln>
        </p:spPr>
      </p:sp>
      <p:sp>
        <p:nvSpPr>
          <p:cNvPr id="26" name="Text 24"/>
          <p:cNvSpPr/>
          <p:nvPr/>
        </p:nvSpPr>
        <p:spPr>
          <a:xfrm>
            <a:off x="828040" y="4564380"/>
            <a:ext cx="3383280" cy="421640"/>
          </a:xfrm>
          <a:custGeom>
            <a:avLst/>
            <a:gdLst/>
            <a:ahLst/>
            <a:cxnLst/>
            <a:rect l="l" t="t" r="r" b="b"/>
            <a:pathLst>
              <a:path w="3383280" h="421640">
                <a:moveTo>
                  <a:pt x="88900" y="0"/>
                </a:moveTo>
                <a:lnTo>
                  <a:pt x="3294380" y="0"/>
                </a:lnTo>
                <a:arcTo hR="88900" wR="88900" stAng="16200000" swAng="5400000"/>
                <a:lnTo>
                  <a:pt x="3383280" y="421640"/>
                </a:lnTo>
                <a:lnTo>
                  <a:pt x="0" y="421640"/>
                </a:lnTo>
                <a:lnTo>
                  <a:pt x="0" y="88900"/>
                </a:lnTo>
                <a:arcTo hR="88900" wR="88900" stAng="10800000" swAng="5400000"/>
                <a:close/>
              </a:path>
            </a:pathLst>
          </a:custGeom>
          <a:solidFill>
            <a:srgbClr val="A01D26"/>
          </a:solidFill>
          <a:ln/>
        </p:spPr>
        <p:txBody>
          <a:bodyPr wrap="square" lIns="152400" tIns="88900" rIns="60045" bIns="63500" rtlCol="0" anchor="t">
            <a:normAutofit/>
          </a:bodyPr>
          <a:lstStyle/>
          <a:p>
            <a:pPr algn="l" indent="0" marL="0">
              <a:lnSpc>
                <a:spcPts val="1920"/>
              </a:lnSpc>
              <a:buNone/>
            </a:pPr>
            <a:r>
              <a:rPr lang="en-US" sz="1600" b="1" dirty="0">
                <a:solidFill>
                  <a:srgbClr val="FFFFFF"/>
                </a:solidFill>
                <a:latin typeface="Barlow Condensed" pitchFamily="34" charset="0"/>
                <a:ea typeface="Barlow Condensed" pitchFamily="34" charset="-122"/>
                <a:cs typeface="Barlow Condensed" pitchFamily="34" charset="-120"/>
              </a:rPr>
              <a:t>Lifestyle · 8</a:t>
            </a:r>
            <a:endParaRPr lang="en-US" sz="1600" dirty="0"/>
          </a:p>
        </p:txBody>
      </p:sp>
      <p:sp>
        <p:nvSpPr>
          <p:cNvPr id="27" name="Text 25"/>
          <p:cNvSpPr/>
          <p:nvPr/>
        </p:nvSpPr>
        <p:spPr>
          <a:xfrm>
            <a:off x="980440" y="5125720"/>
            <a:ext cx="3170835" cy="42164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2B1A1C"/>
                </a:solidFill>
                <a:latin typeface="Barlow" pitchFamily="34" charset="0"/>
                <a:ea typeface="Barlow" pitchFamily="34" charset="-122"/>
                <a:cs typeface="Barlow" pitchFamily="34" charset="-120"/>
              </a:rPr>
              <a:t>freetime, goout, Dalc, Walc, health, romantic, Sleep Duration, Dietary Habits</a:t>
            </a:r>
            <a:endParaRPr lang="en-US" sz="1200" dirty="0"/>
          </a:p>
        </p:txBody>
      </p:sp>
      <p:sp>
        <p:nvSpPr>
          <p:cNvPr id="28" name="Shape 26"/>
          <p:cNvSpPr/>
          <p:nvPr/>
        </p:nvSpPr>
        <p:spPr>
          <a:xfrm>
            <a:off x="4413885" y="4558666"/>
            <a:ext cx="3394710" cy="1108710"/>
          </a:xfrm>
          <a:prstGeom prst="roundRect">
            <a:avLst>
              <a:gd name="adj" fmla="val 10596"/>
            </a:avLst>
          </a:prstGeom>
          <a:solidFill>
            <a:srgbClr val="F4F4EF"/>
          </a:solidFill>
          <a:ln w="19050">
            <a:solidFill>
              <a:srgbClr val="A01D26"/>
            </a:solidFill>
            <a:prstDash val="solid"/>
          </a:ln>
        </p:spPr>
      </p:sp>
      <p:sp>
        <p:nvSpPr>
          <p:cNvPr id="29" name="Text 27"/>
          <p:cNvSpPr/>
          <p:nvPr/>
        </p:nvSpPr>
        <p:spPr>
          <a:xfrm>
            <a:off x="4419600" y="4564380"/>
            <a:ext cx="3383280" cy="421640"/>
          </a:xfrm>
          <a:custGeom>
            <a:avLst/>
            <a:gdLst/>
            <a:ahLst/>
            <a:cxnLst/>
            <a:rect l="l" t="t" r="r" b="b"/>
            <a:pathLst>
              <a:path w="3383280" h="421640">
                <a:moveTo>
                  <a:pt x="88900" y="0"/>
                </a:moveTo>
                <a:lnTo>
                  <a:pt x="3294380" y="0"/>
                </a:lnTo>
                <a:arcTo hR="88900" wR="88900" stAng="16200000" swAng="5400000"/>
                <a:lnTo>
                  <a:pt x="3383280" y="421640"/>
                </a:lnTo>
                <a:lnTo>
                  <a:pt x="0" y="421640"/>
                </a:lnTo>
                <a:lnTo>
                  <a:pt x="0" y="88900"/>
                </a:lnTo>
                <a:arcTo hR="88900" wR="88900" stAng="10800000" swAng="5400000"/>
                <a:close/>
              </a:path>
            </a:pathLst>
          </a:custGeom>
          <a:solidFill>
            <a:srgbClr val="A01D26"/>
          </a:solidFill>
          <a:ln/>
        </p:spPr>
        <p:txBody>
          <a:bodyPr wrap="square" lIns="152400" tIns="88900" rIns="60045" bIns="63500" rtlCol="0" anchor="t">
            <a:normAutofit/>
          </a:bodyPr>
          <a:lstStyle/>
          <a:p>
            <a:pPr algn="l" indent="0" marL="0">
              <a:lnSpc>
                <a:spcPts val="1920"/>
              </a:lnSpc>
              <a:buNone/>
            </a:pPr>
            <a:r>
              <a:rPr lang="en-US" sz="1600" b="1" dirty="0">
                <a:solidFill>
                  <a:srgbClr val="FFFFFF"/>
                </a:solidFill>
                <a:latin typeface="Barlow Condensed" pitchFamily="34" charset="0"/>
                <a:ea typeface="Barlow Condensed" pitchFamily="34" charset="-122"/>
                <a:cs typeface="Barlow Condensed" pitchFamily="34" charset="-120"/>
              </a:rPr>
              <a:t>Results · 4</a:t>
            </a:r>
            <a:endParaRPr lang="en-US" sz="1600" dirty="0"/>
          </a:p>
        </p:txBody>
      </p:sp>
      <p:sp>
        <p:nvSpPr>
          <p:cNvPr id="30" name="Text 28"/>
          <p:cNvSpPr/>
          <p:nvPr/>
        </p:nvSpPr>
        <p:spPr>
          <a:xfrm>
            <a:off x="4572000" y="5125720"/>
            <a:ext cx="3170835"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2B1A1C"/>
                </a:solidFill>
                <a:latin typeface="Barlow" pitchFamily="34" charset="0"/>
                <a:ea typeface="Barlow" pitchFamily="34" charset="-122"/>
                <a:cs typeface="Barlow" pitchFamily="34" charset="-120"/>
              </a:rPr>
              <a:t>absences, Sub1, Sub2, Sub3</a:t>
            </a:r>
            <a:endParaRPr lang="en-US" sz="1200" dirty="0"/>
          </a:p>
        </p:txBody>
      </p:sp>
      <p:sp>
        <p:nvSpPr>
          <p:cNvPr id="31" name="Text 29"/>
          <p:cNvSpPr/>
          <p:nvPr/>
        </p:nvSpPr>
        <p:spPr>
          <a:xfrm>
            <a:off x="812800" y="6238241"/>
            <a:ext cx="91567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0AB"/>
                </a:solidFill>
                <a:latin typeface="Barlow" pitchFamily="34" charset="0"/>
                <a:ea typeface="Barlow" pitchFamily="34" charset="-122"/>
                <a:cs typeface="Barlow" pitchFamily="34" charset="-120"/>
              </a:rPr>
              <a:t>Students Performance Dashboard · Project brief · 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20232A"/>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E66C37"/>
                </a:solidFill>
                <a:latin typeface="Barlow" pitchFamily="34" charset="0"/>
                <a:ea typeface="Barlow" pitchFamily="34" charset="-122"/>
                <a:cs typeface="Barlow" pitchFamily="34" charset="-120"/>
              </a:rPr>
              <a:t>THE REPORT</a:t>
            </a:r>
            <a:endParaRPr lang="en-US" sz="1400" dirty="0"/>
          </a:p>
        </p:txBody>
      </p:sp>
      <p:sp>
        <p:nvSpPr>
          <p:cNvPr id="3" name="Text 1"/>
          <p:cNvSpPr/>
          <p:nvPr>
            <p:ph type="title"/>
          </p:nvPr>
        </p:nvSpPr>
        <p:spPr>
          <a:xfrm>
            <a:off x="812800" y="1264920"/>
            <a:ext cx="10883392" cy="500380"/>
          </a:xfrm>
          <a:prstGeom prst="rect">
            <a:avLst/>
          </a:prstGeom>
          <a:noFill/>
          <a:ln/>
        </p:spPr>
        <p:txBody>
          <a:bodyPr wrap="square" lIns="0" tIns="0" rIns="0" bIns="0" rtlCol="0" anchor="t">
            <a:normAutofit/>
          </a:bodyPr>
          <a:lstStyle/>
          <a:p>
            <a:pPr algn="l" indent="0" marL="0">
              <a:lnSpc>
                <a:spcPts val="3740"/>
              </a:lnSpc>
              <a:buNone/>
            </a:pPr>
            <a:r>
              <a:rPr lang="en-US" sz="3400" b="1" i="0" dirty="0">
                <a:solidFill>
                  <a:srgbClr val="FFFFFF"/>
                </a:solidFill>
                <a:latin typeface="Barlow Condensed" pitchFamily="34" charset="0"/>
                <a:ea typeface="Barlow Condensed" pitchFamily="34" charset="-122"/>
                <a:cs typeface="Barlow Condensed" pitchFamily="34" charset="-120"/>
              </a:rPr>
              <a:t>Three pages, three questions</a:t>
            </a:r>
            <a:endParaRPr lang="en-US" sz="3400" dirty="0"/>
          </a:p>
        </p:txBody>
      </p:sp>
      <p:sp>
        <p:nvSpPr>
          <p:cNvPr id="4" name="Shape 2"/>
          <p:cNvSpPr/>
          <p:nvPr/>
        </p:nvSpPr>
        <p:spPr>
          <a:xfrm>
            <a:off x="822325" y="1952625"/>
            <a:ext cx="10547350" cy="2176780"/>
          </a:xfrm>
          <a:prstGeom prst="roundRect">
            <a:avLst>
              <a:gd name="adj" fmla="val 5397"/>
            </a:avLst>
          </a:prstGeom>
          <a:solidFill>
            <a:srgbClr val="F4F4EF"/>
          </a:solidFill>
          <a:ln w="19050">
            <a:solidFill>
              <a:srgbClr val="A01D26"/>
            </a:solidFill>
            <a:prstDash val="solid"/>
          </a:ln>
        </p:spPr>
      </p:sp>
      <p:sp>
        <p:nvSpPr>
          <p:cNvPr id="5" name="Shape 3"/>
          <p:cNvSpPr/>
          <p:nvPr/>
        </p:nvSpPr>
        <p:spPr>
          <a:xfrm>
            <a:off x="828040" y="1958341"/>
            <a:ext cx="10535920" cy="374650"/>
          </a:xfrm>
          <a:custGeom>
            <a:avLst/>
            <a:gdLst/>
            <a:ahLst/>
            <a:cxnLst/>
            <a:rect l="l" t="t" r="r" b="b"/>
            <a:pathLst>
              <a:path w="10535920" h="374650">
                <a:moveTo>
                  <a:pt x="101600" y="0"/>
                </a:moveTo>
                <a:lnTo>
                  <a:pt x="10434320" y="0"/>
                </a:lnTo>
                <a:arcTo hR="101600" wR="101600" stAng="16200000" swAng="5400000"/>
                <a:lnTo>
                  <a:pt x="10535920" y="374650"/>
                </a:lnTo>
                <a:lnTo>
                  <a:pt x="0" y="374650"/>
                </a:lnTo>
                <a:lnTo>
                  <a:pt x="0" y="101600"/>
                </a:lnTo>
                <a:arcTo hR="101600" wR="101600" stAng="10800000" swAng="5400000"/>
                <a:close/>
              </a:path>
            </a:pathLst>
          </a:custGeom>
          <a:solidFill>
            <a:srgbClr val="A01D26"/>
          </a:solidFill>
          <a:ln/>
        </p:spPr>
      </p:sp>
      <p:sp>
        <p:nvSpPr>
          <p:cNvPr id="6" name="Text 4"/>
          <p:cNvSpPr/>
          <p:nvPr/>
        </p:nvSpPr>
        <p:spPr>
          <a:xfrm>
            <a:off x="967740" y="2034541"/>
            <a:ext cx="431800"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FFFFFF"/>
                </a:solidFill>
                <a:latin typeface="Barlow" pitchFamily="34" charset="0"/>
                <a:ea typeface="Barlow" pitchFamily="34" charset="-122"/>
                <a:cs typeface="Barlow" pitchFamily="34" charset="-120"/>
              </a:rPr>
              <a:t>#</a:t>
            </a:r>
            <a:endParaRPr lang="en-US" sz="1400" dirty="0"/>
          </a:p>
        </p:txBody>
      </p:sp>
      <p:sp>
        <p:nvSpPr>
          <p:cNvPr id="7" name="Text 5"/>
          <p:cNvSpPr/>
          <p:nvPr/>
        </p:nvSpPr>
        <p:spPr>
          <a:xfrm>
            <a:off x="1450340" y="2034541"/>
            <a:ext cx="2354580"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FFFFFF"/>
                </a:solidFill>
                <a:latin typeface="Barlow" pitchFamily="34" charset="0"/>
                <a:ea typeface="Barlow" pitchFamily="34" charset="-122"/>
                <a:cs typeface="Barlow" pitchFamily="34" charset="-120"/>
              </a:rPr>
              <a:t>Page</a:t>
            </a:r>
            <a:endParaRPr lang="en-US" sz="1400" dirty="0"/>
          </a:p>
        </p:txBody>
      </p:sp>
      <p:sp>
        <p:nvSpPr>
          <p:cNvPr id="8" name="Text 6"/>
          <p:cNvSpPr/>
          <p:nvPr/>
        </p:nvSpPr>
        <p:spPr>
          <a:xfrm>
            <a:off x="3837940" y="2034541"/>
            <a:ext cx="4578350"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FFFFFF"/>
                </a:solidFill>
                <a:latin typeface="Barlow" pitchFamily="34" charset="0"/>
                <a:ea typeface="Barlow" pitchFamily="34" charset="-122"/>
                <a:cs typeface="Barlow" pitchFamily="34" charset="-120"/>
              </a:rPr>
              <a:t>The question it answers</a:t>
            </a:r>
            <a:endParaRPr lang="en-US" sz="1400" dirty="0"/>
          </a:p>
        </p:txBody>
      </p:sp>
      <p:sp>
        <p:nvSpPr>
          <p:cNvPr id="9" name="Text 7"/>
          <p:cNvSpPr/>
          <p:nvPr/>
        </p:nvSpPr>
        <p:spPr>
          <a:xfrm>
            <a:off x="8384540" y="2034541"/>
            <a:ext cx="3270250"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FFFFFF"/>
                </a:solidFill>
                <a:latin typeface="Barlow" pitchFamily="34" charset="0"/>
                <a:ea typeface="Barlow" pitchFamily="34" charset="-122"/>
                <a:cs typeface="Barlow" pitchFamily="34" charset="-120"/>
              </a:rPr>
              <a:t>Main visuals</a:t>
            </a:r>
            <a:endParaRPr lang="en-US" sz="1400" dirty="0"/>
          </a:p>
        </p:txBody>
      </p:sp>
      <p:sp>
        <p:nvSpPr>
          <p:cNvPr id="10" name="Shape 8"/>
          <p:cNvSpPr/>
          <p:nvPr/>
        </p:nvSpPr>
        <p:spPr>
          <a:xfrm>
            <a:off x="828040" y="2332991"/>
            <a:ext cx="10535920" cy="596900"/>
          </a:xfrm>
          <a:prstGeom prst="rect">
            <a:avLst/>
          </a:prstGeom>
          <a:solidFill>
            <a:srgbClr val="F4F4EF"/>
          </a:solidFill>
          <a:ln/>
        </p:spPr>
      </p:sp>
      <p:sp>
        <p:nvSpPr>
          <p:cNvPr id="11" name="Text 9"/>
          <p:cNvSpPr/>
          <p:nvPr/>
        </p:nvSpPr>
        <p:spPr>
          <a:xfrm>
            <a:off x="967740" y="2409191"/>
            <a:ext cx="431800" cy="469900"/>
          </a:xfrm>
          <a:prstGeom prst="rect">
            <a:avLst/>
          </a:prstGeom>
          <a:noFill/>
          <a:ln/>
        </p:spPr>
        <p:txBody>
          <a:bodyPr wrap="square" lIns="0" tIns="0" rIns="0" bIns="0" rtlCol="0" anchor="t">
            <a:normAutofit/>
          </a:bodyPr>
          <a:lstStyle/>
          <a:p>
            <a:pPr algn="l" indent="0" marL="0">
              <a:lnSpc>
                <a:spcPts val="1750"/>
              </a:lnSpc>
              <a:buNone/>
            </a:pPr>
            <a:r>
              <a:rPr lang="en-US" sz="1400" dirty="0">
                <a:solidFill>
                  <a:srgbClr val="2B1A1C"/>
                </a:solidFill>
                <a:latin typeface="Barlow" pitchFamily="34" charset="0"/>
                <a:ea typeface="Barlow" pitchFamily="34" charset="-122"/>
                <a:cs typeface="Barlow" pitchFamily="34" charset="-120"/>
              </a:rPr>
              <a:t>1</a:t>
            </a:r>
            <a:endParaRPr lang="en-US" sz="1400" dirty="0"/>
          </a:p>
        </p:txBody>
      </p:sp>
      <p:sp>
        <p:nvSpPr>
          <p:cNvPr id="12" name="Text 10"/>
          <p:cNvSpPr/>
          <p:nvPr/>
        </p:nvSpPr>
        <p:spPr>
          <a:xfrm>
            <a:off x="1450340" y="2409191"/>
            <a:ext cx="2354580" cy="469900"/>
          </a:xfrm>
          <a:prstGeom prst="rect">
            <a:avLst/>
          </a:prstGeom>
          <a:noFill/>
          <a:ln/>
        </p:spPr>
        <p:txBody>
          <a:bodyPr wrap="square" lIns="0" tIns="0" rIns="0" bIns="0" rtlCol="0" anchor="t">
            <a:normAutofit/>
          </a:bodyPr>
          <a:lstStyle/>
          <a:p>
            <a:pPr algn="l" indent="0" marL="0">
              <a:lnSpc>
                <a:spcPts val="1750"/>
              </a:lnSpc>
              <a:buNone/>
            </a:pPr>
            <a:r>
              <a:rPr lang="en-US" sz="1400" dirty="0">
                <a:solidFill>
                  <a:srgbClr val="2B1A1C"/>
                </a:solidFill>
                <a:latin typeface="Barlow" pitchFamily="34" charset="0"/>
                <a:ea typeface="Barlow" pitchFamily="34" charset="-122"/>
                <a:cs typeface="Barlow" pitchFamily="34" charset="-120"/>
              </a:rPr>
              <a:t>Student profile</a:t>
            </a:r>
            <a:endParaRPr lang="en-US" sz="1400" dirty="0"/>
          </a:p>
        </p:txBody>
      </p:sp>
      <p:sp>
        <p:nvSpPr>
          <p:cNvPr id="13" name="Text 11"/>
          <p:cNvSpPr/>
          <p:nvPr/>
        </p:nvSpPr>
        <p:spPr>
          <a:xfrm>
            <a:off x="3837940" y="2409191"/>
            <a:ext cx="4578350" cy="469900"/>
          </a:xfrm>
          <a:prstGeom prst="rect">
            <a:avLst/>
          </a:prstGeom>
          <a:noFill/>
          <a:ln/>
        </p:spPr>
        <p:txBody>
          <a:bodyPr wrap="square" lIns="0" tIns="0" rIns="0" bIns="0" rtlCol="0" anchor="t">
            <a:normAutofit/>
          </a:bodyPr>
          <a:lstStyle/>
          <a:p>
            <a:pPr algn="l" indent="0" marL="0">
              <a:lnSpc>
                <a:spcPts val="1750"/>
              </a:lnSpc>
              <a:buNone/>
            </a:pPr>
            <a:r>
              <a:rPr lang="en-US" sz="1400" dirty="0">
                <a:solidFill>
                  <a:srgbClr val="2B1A1C"/>
                </a:solidFill>
                <a:latin typeface="Barlow" pitchFamily="34" charset="0"/>
                <a:ea typeface="Barlow" pitchFamily="34" charset="-122"/>
                <a:cs typeface="Barlow" pitchFamily="34" charset="-120"/>
              </a:rPr>
              <a:t>Who are the students, and how do the two schools compare?</a:t>
            </a:r>
            <a:endParaRPr lang="en-US" sz="1400" dirty="0"/>
          </a:p>
        </p:txBody>
      </p:sp>
      <p:sp>
        <p:nvSpPr>
          <p:cNvPr id="14" name="Text 12"/>
          <p:cNvSpPr/>
          <p:nvPr/>
        </p:nvSpPr>
        <p:spPr>
          <a:xfrm>
            <a:off x="8384540" y="2409191"/>
            <a:ext cx="3270250" cy="469900"/>
          </a:xfrm>
          <a:prstGeom prst="rect">
            <a:avLst/>
          </a:prstGeom>
          <a:noFill/>
          <a:ln/>
        </p:spPr>
        <p:txBody>
          <a:bodyPr wrap="square" lIns="0" tIns="0" rIns="0" bIns="0" rtlCol="0" anchor="t">
            <a:normAutofit/>
          </a:bodyPr>
          <a:lstStyle/>
          <a:p>
            <a:pPr algn="l" indent="0" marL="0">
              <a:lnSpc>
                <a:spcPts val="1750"/>
              </a:lnSpc>
              <a:buNone/>
            </a:pPr>
            <a:r>
              <a:rPr lang="en-US" sz="1400" dirty="0">
                <a:solidFill>
                  <a:srgbClr val="2B1A1C"/>
                </a:solidFill>
                <a:latin typeface="Barlow" pitchFamily="34" charset="0"/>
                <a:ea typeface="Barlow" pitchFamily="34" charset="-122"/>
                <a:cs typeface="Barlow" pitchFamily="34" charset="-120"/>
              </a:rPr>
              <a:t>School split, reasons, travel time, absences, grades</a:t>
            </a:r>
            <a:endParaRPr lang="en-US" sz="1400" dirty="0"/>
          </a:p>
        </p:txBody>
      </p:sp>
      <p:sp>
        <p:nvSpPr>
          <p:cNvPr id="15" name="Shape 13"/>
          <p:cNvSpPr/>
          <p:nvPr/>
        </p:nvSpPr>
        <p:spPr>
          <a:xfrm>
            <a:off x="828040" y="2929891"/>
            <a:ext cx="10535920" cy="596900"/>
          </a:xfrm>
          <a:prstGeom prst="rect">
            <a:avLst/>
          </a:prstGeom>
          <a:solidFill>
            <a:srgbClr val="E6E6DE"/>
          </a:solidFill>
          <a:ln/>
        </p:spPr>
      </p:sp>
      <p:sp>
        <p:nvSpPr>
          <p:cNvPr id="16" name="Text 14"/>
          <p:cNvSpPr/>
          <p:nvPr/>
        </p:nvSpPr>
        <p:spPr>
          <a:xfrm>
            <a:off x="967740" y="3006091"/>
            <a:ext cx="431800" cy="469900"/>
          </a:xfrm>
          <a:prstGeom prst="rect">
            <a:avLst/>
          </a:prstGeom>
          <a:noFill/>
          <a:ln/>
        </p:spPr>
        <p:txBody>
          <a:bodyPr wrap="square" lIns="0" tIns="0" rIns="0" bIns="0" rtlCol="0" anchor="t">
            <a:normAutofit/>
          </a:bodyPr>
          <a:lstStyle/>
          <a:p>
            <a:pPr algn="l" indent="0" marL="0">
              <a:lnSpc>
                <a:spcPts val="1750"/>
              </a:lnSpc>
              <a:buNone/>
            </a:pPr>
            <a:r>
              <a:rPr lang="en-US" sz="1400" dirty="0">
                <a:solidFill>
                  <a:srgbClr val="2B1A1C"/>
                </a:solidFill>
                <a:latin typeface="Barlow" pitchFamily="34" charset="0"/>
                <a:ea typeface="Barlow" pitchFamily="34" charset="-122"/>
                <a:cs typeface="Barlow" pitchFamily="34" charset="-120"/>
              </a:rPr>
              <a:t>2</a:t>
            </a:r>
            <a:endParaRPr lang="en-US" sz="1400" dirty="0"/>
          </a:p>
        </p:txBody>
      </p:sp>
      <p:sp>
        <p:nvSpPr>
          <p:cNvPr id="17" name="Text 15"/>
          <p:cNvSpPr/>
          <p:nvPr/>
        </p:nvSpPr>
        <p:spPr>
          <a:xfrm>
            <a:off x="1450340" y="3006091"/>
            <a:ext cx="2354580" cy="469900"/>
          </a:xfrm>
          <a:prstGeom prst="rect">
            <a:avLst/>
          </a:prstGeom>
          <a:noFill/>
          <a:ln/>
        </p:spPr>
        <p:txBody>
          <a:bodyPr wrap="square" lIns="0" tIns="0" rIns="0" bIns="0" rtlCol="0" anchor="t">
            <a:normAutofit/>
          </a:bodyPr>
          <a:lstStyle/>
          <a:p>
            <a:pPr algn="l" indent="0" marL="0">
              <a:lnSpc>
                <a:spcPts val="1750"/>
              </a:lnSpc>
              <a:buNone/>
            </a:pPr>
            <a:r>
              <a:rPr lang="en-US" sz="1400" dirty="0">
                <a:solidFill>
                  <a:srgbClr val="2B1A1C"/>
                </a:solidFill>
                <a:latin typeface="Barlow" pitchFamily="34" charset="0"/>
                <a:ea typeface="Barlow" pitchFamily="34" charset="-122"/>
                <a:cs typeface="Barlow" pitchFamily="34" charset="-120"/>
              </a:rPr>
              <a:t>Family and study</a:t>
            </a:r>
            <a:endParaRPr lang="en-US" sz="1400" dirty="0"/>
          </a:p>
        </p:txBody>
      </p:sp>
      <p:sp>
        <p:nvSpPr>
          <p:cNvPr id="18" name="Text 16"/>
          <p:cNvSpPr/>
          <p:nvPr/>
        </p:nvSpPr>
        <p:spPr>
          <a:xfrm>
            <a:off x="3837940" y="3006091"/>
            <a:ext cx="4578350" cy="469900"/>
          </a:xfrm>
          <a:prstGeom prst="rect">
            <a:avLst/>
          </a:prstGeom>
          <a:noFill/>
          <a:ln/>
        </p:spPr>
        <p:txBody>
          <a:bodyPr wrap="square" lIns="0" tIns="0" rIns="0" bIns="0" rtlCol="0" anchor="t">
            <a:normAutofit/>
          </a:bodyPr>
          <a:lstStyle/>
          <a:p>
            <a:pPr algn="l" indent="0" marL="0">
              <a:lnSpc>
                <a:spcPts val="1750"/>
              </a:lnSpc>
              <a:buNone/>
            </a:pPr>
            <a:r>
              <a:rPr lang="en-US" sz="1400" dirty="0">
                <a:solidFill>
                  <a:srgbClr val="2B1A1C"/>
                </a:solidFill>
                <a:latin typeface="Barlow" pitchFamily="34" charset="0"/>
                <a:ea typeface="Barlow" pitchFamily="34" charset="-122"/>
                <a:cs typeface="Barlow" pitchFamily="34" charset="-120"/>
              </a:rPr>
              <a:t>Which family and study conditions go with passing?</a:t>
            </a:r>
            <a:endParaRPr lang="en-US" sz="1400" dirty="0"/>
          </a:p>
        </p:txBody>
      </p:sp>
      <p:sp>
        <p:nvSpPr>
          <p:cNvPr id="19" name="Text 17"/>
          <p:cNvSpPr/>
          <p:nvPr/>
        </p:nvSpPr>
        <p:spPr>
          <a:xfrm>
            <a:off x="8384540" y="3006091"/>
            <a:ext cx="3270250" cy="469900"/>
          </a:xfrm>
          <a:prstGeom prst="rect">
            <a:avLst/>
          </a:prstGeom>
          <a:noFill/>
          <a:ln/>
        </p:spPr>
        <p:txBody>
          <a:bodyPr wrap="square" lIns="0" tIns="0" rIns="0" bIns="0" rtlCol="0" anchor="t">
            <a:normAutofit/>
          </a:bodyPr>
          <a:lstStyle/>
          <a:p>
            <a:pPr algn="l" indent="0" marL="0">
              <a:lnSpc>
                <a:spcPts val="1750"/>
              </a:lnSpc>
              <a:buNone/>
            </a:pPr>
            <a:r>
              <a:rPr lang="en-US" sz="1400" dirty="0">
                <a:solidFill>
                  <a:srgbClr val="2B1A1C"/>
                </a:solidFill>
                <a:latin typeface="Barlow" pitchFamily="34" charset="0"/>
                <a:ea typeface="Barlow" pitchFamily="34" charset="-122"/>
                <a:cs typeface="Barlow" pitchFamily="34" charset="-120"/>
              </a:rPr>
              <a:t>Guardian, family relations, paid classes, internet, study time, failures</a:t>
            </a:r>
            <a:endParaRPr lang="en-US" sz="1400" dirty="0"/>
          </a:p>
        </p:txBody>
      </p:sp>
      <p:sp>
        <p:nvSpPr>
          <p:cNvPr id="20" name="Shape 18"/>
          <p:cNvSpPr/>
          <p:nvPr/>
        </p:nvSpPr>
        <p:spPr>
          <a:xfrm>
            <a:off x="828040" y="3526791"/>
            <a:ext cx="10535920" cy="596900"/>
          </a:xfrm>
          <a:prstGeom prst="rect">
            <a:avLst/>
          </a:prstGeom>
          <a:solidFill>
            <a:srgbClr val="F4F4EF"/>
          </a:solidFill>
          <a:ln/>
        </p:spPr>
      </p:sp>
      <p:sp>
        <p:nvSpPr>
          <p:cNvPr id="21" name="Text 19"/>
          <p:cNvSpPr/>
          <p:nvPr/>
        </p:nvSpPr>
        <p:spPr>
          <a:xfrm>
            <a:off x="967740" y="3602991"/>
            <a:ext cx="431800" cy="469900"/>
          </a:xfrm>
          <a:prstGeom prst="rect">
            <a:avLst/>
          </a:prstGeom>
          <a:noFill/>
          <a:ln/>
        </p:spPr>
        <p:txBody>
          <a:bodyPr wrap="square" lIns="0" tIns="0" rIns="0" bIns="0" rtlCol="0" anchor="t">
            <a:normAutofit/>
          </a:bodyPr>
          <a:lstStyle/>
          <a:p>
            <a:pPr algn="l" indent="0" marL="0">
              <a:lnSpc>
                <a:spcPts val="1750"/>
              </a:lnSpc>
              <a:buNone/>
            </a:pPr>
            <a:r>
              <a:rPr lang="en-US" sz="1400" dirty="0">
                <a:solidFill>
                  <a:srgbClr val="2B1A1C"/>
                </a:solidFill>
                <a:latin typeface="Barlow" pitchFamily="34" charset="0"/>
                <a:ea typeface="Barlow" pitchFamily="34" charset="-122"/>
                <a:cs typeface="Barlow" pitchFamily="34" charset="-120"/>
              </a:rPr>
              <a:t>3</a:t>
            </a:r>
            <a:endParaRPr lang="en-US" sz="1400" dirty="0"/>
          </a:p>
        </p:txBody>
      </p:sp>
      <p:sp>
        <p:nvSpPr>
          <p:cNvPr id="22" name="Text 20"/>
          <p:cNvSpPr/>
          <p:nvPr/>
        </p:nvSpPr>
        <p:spPr>
          <a:xfrm>
            <a:off x="1450340" y="3602991"/>
            <a:ext cx="2354580" cy="469900"/>
          </a:xfrm>
          <a:prstGeom prst="rect">
            <a:avLst/>
          </a:prstGeom>
          <a:noFill/>
          <a:ln/>
        </p:spPr>
        <p:txBody>
          <a:bodyPr wrap="square" lIns="0" tIns="0" rIns="0" bIns="0" rtlCol="0" anchor="t">
            <a:normAutofit/>
          </a:bodyPr>
          <a:lstStyle/>
          <a:p>
            <a:pPr algn="l" indent="0" marL="0">
              <a:lnSpc>
                <a:spcPts val="1750"/>
              </a:lnSpc>
              <a:buNone/>
            </a:pPr>
            <a:r>
              <a:rPr lang="en-US" sz="1400" dirty="0">
                <a:solidFill>
                  <a:srgbClr val="2B1A1C"/>
                </a:solidFill>
                <a:latin typeface="Barlow" pitchFamily="34" charset="0"/>
                <a:ea typeface="Barlow" pitchFamily="34" charset="-122"/>
                <a:cs typeface="Barlow" pitchFamily="34" charset="-120"/>
              </a:rPr>
              <a:t>Health and lifestyle</a:t>
            </a:r>
            <a:endParaRPr lang="en-US" sz="1400" dirty="0"/>
          </a:p>
        </p:txBody>
      </p:sp>
      <p:sp>
        <p:nvSpPr>
          <p:cNvPr id="23" name="Text 21"/>
          <p:cNvSpPr/>
          <p:nvPr/>
        </p:nvSpPr>
        <p:spPr>
          <a:xfrm>
            <a:off x="3837940" y="3602991"/>
            <a:ext cx="4578350" cy="469900"/>
          </a:xfrm>
          <a:prstGeom prst="rect">
            <a:avLst/>
          </a:prstGeom>
          <a:noFill/>
          <a:ln/>
        </p:spPr>
        <p:txBody>
          <a:bodyPr wrap="square" lIns="0" tIns="0" rIns="0" bIns="0" rtlCol="0" anchor="t">
            <a:normAutofit/>
          </a:bodyPr>
          <a:lstStyle/>
          <a:p>
            <a:pPr algn="l" indent="0" marL="0">
              <a:lnSpc>
                <a:spcPts val="1750"/>
              </a:lnSpc>
              <a:buNone/>
            </a:pPr>
            <a:r>
              <a:rPr lang="en-US" sz="1400" dirty="0">
                <a:solidFill>
                  <a:srgbClr val="2B1A1C"/>
                </a:solidFill>
                <a:latin typeface="Barlow" pitchFamily="34" charset="0"/>
                <a:ea typeface="Barlow" pitchFamily="34" charset="-122"/>
                <a:cs typeface="Barlow" pitchFamily="34" charset="-120"/>
              </a:rPr>
              <a:t>How do diet, sleep and alcohol relate to pass or fail?</a:t>
            </a:r>
            <a:endParaRPr lang="en-US" sz="1400" dirty="0"/>
          </a:p>
        </p:txBody>
      </p:sp>
      <p:sp>
        <p:nvSpPr>
          <p:cNvPr id="24" name="Text 22"/>
          <p:cNvSpPr/>
          <p:nvPr/>
        </p:nvSpPr>
        <p:spPr>
          <a:xfrm>
            <a:off x="8384540" y="3602991"/>
            <a:ext cx="3270250" cy="469900"/>
          </a:xfrm>
          <a:prstGeom prst="rect">
            <a:avLst/>
          </a:prstGeom>
          <a:noFill/>
          <a:ln/>
        </p:spPr>
        <p:txBody>
          <a:bodyPr wrap="square" lIns="0" tIns="0" rIns="0" bIns="0" rtlCol="0" anchor="t">
            <a:normAutofit/>
          </a:bodyPr>
          <a:lstStyle/>
          <a:p>
            <a:pPr algn="l" indent="0" marL="0">
              <a:lnSpc>
                <a:spcPts val="1750"/>
              </a:lnSpc>
              <a:buNone/>
            </a:pPr>
            <a:r>
              <a:rPr lang="en-US" sz="1400" dirty="0">
                <a:solidFill>
                  <a:srgbClr val="2B1A1C"/>
                </a:solidFill>
                <a:latin typeface="Barlow" pitchFamily="34" charset="0"/>
                <a:ea typeface="Barlow" pitchFamily="34" charset="-122"/>
                <a:cs typeface="Barlow" pitchFamily="34" charset="-120"/>
              </a:rPr>
              <a:t>Diet, sleep, weekend alcohol, health, free time</a:t>
            </a:r>
            <a:endParaRPr lang="en-US" sz="1400" dirty="0"/>
          </a:p>
        </p:txBody>
      </p:sp>
      <p:sp>
        <p:nvSpPr>
          <p:cNvPr id="25" name="Text 23"/>
          <p:cNvSpPr/>
          <p:nvPr/>
        </p:nvSpPr>
        <p:spPr>
          <a:xfrm>
            <a:off x="812800" y="6238239"/>
            <a:ext cx="91567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0AB"/>
                </a:solidFill>
                <a:latin typeface="Barlow" pitchFamily="34" charset="0"/>
                <a:ea typeface="Barlow" pitchFamily="34" charset="-122"/>
                <a:cs typeface="Barlow" pitchFamily="34" charset="-120"/>
              </a:rPr>
              <a:t>Students Performance Dashboard · Project brief · 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20232A"/>
        </a:solidFill>
      </p:bgPr>
    </p:bg>
    <p:spTree>
      <p:nvGrpSpPr>
        <p:cNvPr id="1" name=""/>
        <p:cNvGrpSpPr/>
        <p:nvPr/>
      </p:nvGrpSpPr>
      <p:grpSpPr>
        <a:xfrm>
          <a:off x="0" y="0"/>
          <a:ext cx="0" cy="0"/>
          <a:chOff x="0" y="0"/>
          <a:chExt cx="0" cy="0"/>
        </a:xfrm>
      </p:grpSpPr>
      <p:sp>
        <p:nvSpPr>
          <p:cNvPr id="2" name="Text 0"/>
          <p:cNvSpPr/>
          <p:nvPr/>
        </p:nvSpPr>
        <p:spPr>
          <a:xfrm>
            <a:off x="812800" y="812800"/>
            <a:ext cx="10883392" cy="258921"/>
          </a:xfrm>
          <a:prstGeom prst="rect">
            <a:avLst/>
          </a:prstGeom>
          <a:noFill/>
          <a:ln/>
        </p:spPr>
        <p:txBody>
          <a:bodyPr wrap="square" lIns="0" tIns="0" rIns="0" bIns="0" rtlCol="0" anchor="t">
            <a:normAutofit/>
          </a:bodyPr>
          <a:lstStyle/>
          <a:p>
            <a:pPr algn="l" indent="0" marL="0">
              <a:lnSpc>
                <a:spcPts val="1874"/>
              </a:lnSpc>
              <a:buNone/>
            </a:pPr>
            <a:r>
              <a:rPr lang="en-US" sz="1339" b="1" dirty="0">
                <a:solidFill>
                  <a:srgbClr val="E66C37"/>
                </a:solidFill>
                <a:latin typeface="Barlow" pitchFamily="34" charset="0"/>
                <a:ea typeface="Barlow" pitchFamily="34" charset="-122"/>
                <a:cs typeface="Barlow" pitchFamily="34" charset="-120"/>
              </a:rPr>
              <a:t>COLOR SYSTEM</a:t>
            </a:r>
            <a:endParaRPr lang="en-US" sz="1339" dirty="0"/>
          </a:p>
        </p:txBody>
      </p:sp>
      <p:sp>
        <p:nvSpPr>
          <p:cNvPr id="3" name="Text 1"/>
          <p:cNvSpPr/>
          <p:nvPr>
            <p:ph type="title"/>
          </p:nvPr>
        </p:nvSpPr>
        <p:spPr>
          <a:xfrm>
            <a:off x="812800" y="1249521"/>
            <a:ext cx="10883392" cy="470932"/>
          </a:xfrm>
          <a:prstGeom prst="rect">
            <a:avLst/>
          </a:prstGeom>
          <a:noFill/>
          <a:ln/>
        </p:spPr>
        <p:txBody>
          <a:bodyPr wrap="square" lIns="0" tIns="0" rIns="0" bIns="0" rtlCol="0" anchor="t">
            <a:normAutofit/>
          </a:bodyPr>
          <a:lstStyle/>
          <a:p>
            <a:pPr algn="l" indent="0" marL="0">
              <a:lnSpc>
                <a:spcPts val="3518"/>
              </a:lnSpc>
              <a:buNone/>
            </a:pPr>
            <a:r>
              <a:rPr lang="en-US" sz="3198" b="1" i="0" dirty="0">
                <a:solidFill>
                  <a:srgbClr val="FFFFFF"/>
                </a:solidFill>
                <a:latin typeface="Barlow Condensed" pitchFamily="34" charset="0"/>
                <a:ea typeface="Barlow Condensed" pitchFamily="34" charset="-122"/>
                <a:cs typeface="Barlow Condensed" pitchFamily="34" charset="-120"/>
              </a:rPr>
              <a:t>One red family, one highlight</a:t>
            </a:r>
            <a:endParaRPr lang="en-US" sz="3198" dirty="0"/>
          </a:p>
        </p:txBody>
      </p:sp>
      <p:sp>
        <p:nvSpPr>
          <p:cNvPr id="4" name="Shape 2"/>
          <p:cNvSpPr/>
          <p:nvPr/>
        </p:nvSpPr>
        <p:spPr>
          <a:xfrm>
            <a:off x="822325" y="1907778"/>
            <a:ext cx="2489200" cy="1851184"/>
          </a:xfrm>
          <a:prstGeom prst="roundRect">
            <a:avLst>
              <a:gd name="adj" fmla="val 6346"/>
            </a:avLst>
          </a:prstGeom>
          <a:solidFill>
            <a:srgbClr val="F4F4EF"/>
          </a:solidFill>
          <a:ln w="19050">
            <a:solidFill>
              <a:srgbClr val="A01D26"/>
            </a:solidFill>
            <a:prstDash val="solid"/>
          </a:ln>
        </p:spPr>
      </p:sp>
      <p:sp>
        <p:nvSpPr>
          <p:cNvPr id="5" name="Shape 3"/>
          <p:cNvSpPr/>
          <p:nvPr/>
        </p:nvSpPr>
        <p:spPr>
          <a:xfrm>
            <a:off x="974090" y="2059543"/>
            <a:ext cx="2185670" cy="622300"/>
          </a:xfrm>
          <a:prstGeom prst="roundRect">
            <a:avLst>
              <a:gd name="adj" fmla="val 11224"/>
            </a:avLst>
          </a:prstGeom>
          <a:solidFill>
            <a:srgbClr val="20232A"/>
          </a:solidFill>
          <a:ln w="12700">
            <a:solidFill>
              <a:srgbClr val="C9C9C0"/>
            </a:solidFill>
            <a:prstDash val="solid"/>
          </a:ln>
        </p:spPr>
      </p:sp>
      <p:sp>
        <p:nvSpPr>
          <p:cNvPr id="6" name="Text 4"/>
          <p:cNvSpPr/>
          <p:nvPr/>
        </p:nvSpPr>
        <p:spPr>
          <a:xfrm>
            <a:off x="967740" y="2738993"/>
            <a:ext cx="2264321" cy="32766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2B1A1C"/>
                </a:solidFill>
                <a:latin typeface="Barlow Condensed" pitchFamily="34" charset="0"/>
                <a:ea typeface="Barlow Condensed" pitchFamily="34" charset="-122"/>
                <a:cs typeface="Barlow Condensed" pitchFamily="34" charset="-120"/>
              </a:rPr>
              <a:t>Canvas</a:t>
            </a:r>
            <a:endParaRPr lang="en-US" sz="1700" dirty="0"/>
          </a:p>
        </p:txBody>
      </p:sp>
      <p:sp>
        <p:nvSpPr>
          <p:cNvPr id="7" name="Text 5"/>
          <p:cNvSpPr/>
          <p:nvPr/>
        </p:nvSpPr>
        <p:spPr>
          <a:xfrm>
            <a:off x="967740" y="3092053"/>
            <a:ext cx="2264321"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01D26"/>
                </a:solidFill>
                <a:latin typeface="Barlow" pitchFamily="34" charset="0"/>
                <a:ea typeface="Barlow" pitchFamily="34" charset="-122"/>
                <a:cs typeface="Barlow" pitchFamily="34" charset="-120"/>
              </a:rPr>
              <a:t>#20232A</a:t>
            </a:r>
            <a:endParaRPr lang="en-US" sz="1200" dirty="0"/>
          </a:p>
        </p:txBody>
      </p:sp>
      <p:sp>
        <p:nvSpPr>
          <p:cNvPr id="8" name="Text 6"/>
          <p:cNvSpPr/>
          <p:nvPr/>
        </p:nvSpPr>
        <p:spPr>
          <a:xfrm>
            <a:off x="967740" y="3356214"/>
            <a:ext cx="2264321"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2B1A1C"/>
                </a:solidFill>
                <a:latin typeface="Barlow" pitchFamily="34" charset="0"/>
                <a:ea typeface="Barlow" pitchFamily="34" charset="-122"/>
                <a:cs typeface="Barlow" pitchFamily="34" charset="-120"/>
              </a:rPr>
              <a:t>Dashboard background</a:t>
            </a:r>
            <a:endParaRPr lang="en-US" sz="1200" dirty="0"/>
          </a:p>
        </p:txBody>
      </p:sp>
      <p:sp>
        <p:nvSpPr>
          <p:cNvPr id="9" name="Shape 7"/>
          <p:cNvSpPr/>
          <p:nvPr/>
        </p:nvSpPr>
        <p:spPr>
          <a:xfrm>
            <a:off x="3508375" y="1907778"/>
            <a:ext cx="2489200" cy="1851184"/>
          </a:xfrm>
          <a:prstGeom prst="roundRect">
            <a:avLst>
              <a:gd name="adj" fmla="val 6346"/>
            </a:avLst>
          </a:prstGeom>
          <a:solidFill>
            <a:srgbClr val="F4F4EF"/>
          </a:solidFill>
          <a:ln w="19050">
            <a:solidFill>
              <a:srgbClr val="A01D26"/>
            </a:solidFill>
            <a:prstDash val="solid"/>
          </a:ln>
        </p:spPr>
      </p:sp>
      <p:sp>
        <p:nvSpPr>
          <p:cNvPr id="10" name="Shape 8"/>
          <p:cNvSpPr/>
          <p:nvPr/>
        </p:nvSpPr>
        <p:spPr>
          <a:xfrm>
            <a:off x="3660140" y="2059543"/>
            <a:ext cx="2185670" cy="622300"/>
          </a:xfrm>
          <a:prstGeom prst="roundRect">
            <a:avLst>
              <a:gd name="adj" fmla="val 11224"/>
            </a:avLst>
          </a:prstGeom>
          <a:solidFill>
            <a:srgbClr val="F4F4EF"/>
          </a:solidFill>
          <a:ln w="12700">
            <a:solidFill>
              <a:srgbClr val="C9C9C0"/>
            </a:solidFill>
            <a:prstDash val="solid"/>
          </a:ln>
        </p:spPr>
      </p:sp>
      <p:sp>
        <p:nvSpPr>
          <p:cNvPr id="11" name="Text 9"/>
          <p:cNvSpPr/>
          <p:nvPr/>
        </p:nvSpPr>
        <p:spPr>
          <a:xfrm>
            <a:off x="3653790" y="2738993"/>
            <a:ext cx="2264321" cy="32766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2B1A1C"/>
                </a:solidFill>
                <a:latin typeface="Barlow Condensed" pitchFamily="34" charset="0"/>
                <a:ea typeface="Barlow Condensed" pitchFamily="34" charset="-122"/>
                <a:cs typeface="Barlow Condensed" pitchFamily="34" charset="-120"/>
              </a:rPr>
              <a:t>Card</a:t>
            </a:r>
            <a:endParaRPr lang="en-US" sz="1700" dirty="0"/>
          </a:p>
        </p:txBody>
      </p:sp>
      <p:sp>
        <p:nvSpPr>
          <p:cNvPr id="12" name="Text 10"/>
          <p:cNvSpPr/>
          <p:nvPr/>
        </p:nvSpPr>
        <p:spPr>
          <a:xfrm>
            <a:off x="3653790" y="3092053"/>
            <a:ext cx="2264321"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01D26"/>
                </a:solidFill>
                <a:latin typeface="Barlow" pitchFamily="34" charset="0"/>
                <a:ea typeface="Barlow" pitchFamily="34" charset="-122"/>
                <a:cs typeface="Barlow" pitchFamily="34" charset="-120"/>
              </a:rPr>
              <a:t>#F4F4EF</a:t>
            </a:r>
            <a:endParaRPr lang="en-US" sz="1200" dirty="0"/>
          </a:p>
        </p:txBody>
      </p:sp>
      <p:sp>
        <p:nvSpPr>
          <p:cNvPr id="13" name="Text 11"/>
          <p:cNvSpPr/>
          <p:nvPr/>
        </p:nvSpPr>
        <p:spPr>
          <a:xfrm>
            <a:off x="3653790" y="3356214"/>
            <a:ext cx="2264321"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2B1A1C"/>
                </a:solidFill>
                <a:latin typeface="Barlow" pitchFamily="34" charset="0"/>
                <a:ea typeface="Barlow" pitchFamily="34" charset="-122"/>
                <a:cs typeface="Barlow" pitchFamily="34" charset="-120"/>
              </a:rPr>
              <a:t>Chart cards and slicers</a:t>
            </a:r>
            <a:endParaRPr lang="en-US" sz="1200" dirty="0"/>
          </a:p>
        </p:txBody>
      </p:sp>
      <p:sp>
        <p:nvSpPr>
          <p:cNvPr id="14" name="Shape 12"/>
          <p:cNvSpPr/>
          <p:nvPr/>
        </p:nvSpPr>
        <p:spPr>
          <a:xfrm>
            <a:off x="6194425" y="1907778"/>
            <a:ext cx="2489200" cy="1851184"/>
          </a:xfrm>
          <a:prstGeom prst="roundRect">
            <a:avLst>
              <a:gd name="adj" fmla="val 6346"/>
            </a:avLst>
          </a:prstGeom>
          <a:solidFill>
            <a:srgbClr val="F4F4EF"/>
          </a:solidFill>
          <a:ln w="19050">
            <a:solidFill>
              <a:srgbClr val="A01D26"/>
            </a:solidFill>
            <a:prstDash val="solid"/>
          </a:ln>
        </p:spPr>
      </p:sp>
      <p:sp>
        <p:nvSpPr>
          <p:cNvPr id="15" name="Shape 13"/>
          <p:cNvSpPr/>
          <p:nvPr/>
        </p:nvSpPr>
        <p:spPr>
          <a:xfrm>
            <a:off x="6346190" y="2059543"/>
            <a:ext cx="2185670" cy="622300"/>
          </a:xfrm>
          <a:prstGeom prst="roundRect">
            <a:avLst>
              <a:gd name="adj" fmla="val 11224"/>
            </a:avLst>
          </a:prstGeom>
          <a:solidFill>
            <a:srgbClr val="A01D26"/>
          </a:solidFill>
          <a:ln w="12700">
            <a:solidFill>
              <a:srgbClr val="C9C9C0"/>
            </a:solidFill>
            <a:prstDash val="solid"/>
          </a:ln>
        </p:spPr>
      </p:sp>
      <p:sp>
        <p:nvSpPr>
          <p:cNvPr id="16" name="Text 14"/>
          <p:cNvSpPr/>
          <p:nvPr/>
        </p:nvSpPr>
        <p:spPr>
          <a:xfrm>
            <a:off x="6339840" y="2738993"/>
            <a:ext cx="2264321" cy="285988"/>
          </a:xfrm>
          <a:prstGeom prst="rect">
            <a:avLst/>
          </a:prstGeom>
          <a:noFill/>
          <a:ln/>
        </p:spPr>
        <p:txBody>
          <a:bodyPr wrap="square" lIns="0" tIns="0" rIns="0" bIns="0" rtlCol="0" anchor="t">
            <a:normAutofit/>
          </a:bodyPr>
          <a:lstStyle/>
          <a:p>
            <a:pPr algn="l" indent="0" marL="0">
              <a:lnSpc>
                <a:spcPts val="2068"/>
              </a:lnSpc>
              <a:buNone/>
            </a:pPr>
            <a:r>
              <a:rPr lang="en-US" sz="1477" b="1" dirty="0">
                <a:solidFill>
                  <a:srgbClr val="2B1A1C"/>
                </a:solidFill>
                <a:latin typeface="Barlow Condensed" pitchFamily="34" charset="0"/>
                <a:ea typeface="Barlow Condensed" pitchFamily="34" charset="-122"/>
                <a:cs typeface="Barlow Condensed" pitchFamily="34" charset="-120"/>
              </a:rPr>
              <a:t>Crimson</a:t>
            </a:r>
            <a:endParaRPr lang="en-US" sz="1477" dirty="0"/>
          </a:p>
        </p:txBody>
      </p:sp>
      <p:sp>
        <p:nvSpPr>
          <p:cNvPr id="17" name="Text 15"/>
          <p:cNvSpPr/>
          <p:nvPr/>
        </p:nvSpPr>
        <p:spPr>
          <a:xfrm>
            <a:off x="6339840" y="3050381"/>
            <a:ext cx="2264321" cy="209312"/>
          </a:xfrm>
          <a:prstGeom prst="rect">
            <a:avLst/>
          </a:prstGeom>
          <a:noFill/>
          <a:ln/>
        </p:spPr>
        <p:txBody>
          <a:bodyPr wrap="square" lIns="0" tIns="0" rIns="0" bIns="0" rtlCol="0" anchor="t">
            <a:normAutofit/>
          </a:bodyPr>
          <a:lstStyle/>
          <a:p>
            <a:pPr algn="l" indent="0" marL="0">
              <a:lnSpc>
                <a:spcPts val="1470"/>
              </a:lnSpc>
              <a:buNone/>
            </a:pPr>
            <a:r>
              <a:rPr lang="en-US" sz="1050" b="1" dirty="0">
                <a:solidFill>
                  <a:srgbClr val="A01D26"/>
                </a:solidFill>
                <a:latin typeface="Barlow" pitchFamily="34" charset="0"/>
                <a:ea typeface="Barlow" pitchFamily="34" charset="-122"/>
                <a:cs typeface="Barlow" pitchFamily="34" charset="-120"/>
              </a:rPr>
              <a:t>#A01D26</a:t>
            </a:r>
            <a:endParaRPr lang="en-US" sz="1050" dirty="0"/>
          </a:p>
        </p:txBody>
      </p:sp>
      <p:sp>
        <p:nvSpPr>
          <p:cNvPr id="18" name="Text 16"/>
          <p:cNvSpPr/>
          <p:nvPr/>
        </p:nvSpPr>
        <p:spPr>
          <a:xfrm>
            <a:off x="6339840" y="3285093"/>
            <a:ext cx="2334260" cy="353854"/>
          </a:xfrm>
          <a:prstGeom prst="rect">
            <a:avLst/>
          </a:prstGeom>
          <a:noFill/>
          <a:ln/>
        </p:spPr>
        <p:txBody>
          <a:bodyPr wrap="square" lIns="0" tIns="0" rIns="0" bIns="0" rtlCol="0" anchor="t">
            <a:normAutofit/>
          </a:bodyPr>
          <a:lstStyle/>
          <a:p>
            <a:pPr algn="l" indent="0" marL="0">
              <a:lnSpc>
                <a:spcPts val="1350"/>
              </a:lnSpc>
              <a:buNone/>
            </a:pPr>
            <a:r>
              <a:rPr lang="en-US" sz="1080" dirty="0">
                <a:solidFill>
                  <a:srgbClr val="2B1A1C"/>
                </a:solidFill>
                <a:latin typeface="Barlow" pitchFamily="34" charset="0"/>
                <a:ea typeface="Barlow" pitchFamily="34" charset="-122"/>
                <a:cs typeface="Barlow" pitchFamily="34" charset="-120"/>
              </a:rPr>
              <a:t>Card headers, KPI values, main series</a:t>
            </a:r>
            <a:endParaRPr lang="en-US" sz="1080" dirty="0"/>
          </a:p>
        </p:txBody>
      </p:sp>
      <p:sp>
        <p:nvSpPr>
          <p:cNvPr id="19" name="Shape 17"/>
          <p:cNvSpPr/>
          <p:nvPr/>
        </p:nvSpPr>
        <p:spPr>
          <a:xfrm>
            <a:off x="8880475" y="1907778"/>
            <a:ext cx="2489200" cy="1851184"/>
          </a:xfrm>
          <a:prstGeom prst="roundRect">
            <a:avLst>
              <a:gd name="adj" fmla="val 6346"/>
            </a:avLst>
          </a:prstGeom>
          <a:solidFill>
            <a:srgbClr val="F4F4EF"/>
          </a:solidFill>
          <a:ln w="19050">
            <a:solidFill>
              <a:srgbClr val="A01D26"/>
            </a:solidFill>
            <a:prstDash val="solid"/>
          </a:ln>
        </p:spPr>
      </p:sp>
      <p:sp>
        <p:nvSpPr>
          <p:cNvPr id="20" name="Shape 18"/>
          <p:cNvSpPr/>
          <p:nvPr/>
        </p:nvSpPr>
        <p:spPr>
          <a:xfrm>
            <a:off x="9032240" y="2059543"/>
            <a:ext cx="2185670" cy="622300"/>
          </a:xfrm>
          <a:prstGeom prst="roundRect">
            <a:avLst>
              <a:gd name="adj" fmla="val 11224"/>
            </a:avLst>
          </a:prstGeom>
          <a:solidFill>
            <a:srgbClr val="6B2328"/>
          </a:solidFill>
          <a:ln w="12700">
            <a:solidFill>
              <a:srgbClr val="C9C9C0"/>
            </a:solidFill>
            <a:prstDash val="solid"/>
          </a:ln>
        </p:spPr>
      </p:sp>
      <p:sp>
        <p:nvSpPr>
          <p:cNvPr id="21" name="Text 19"/>
          <p:cNvSpPr/>
          <p:nvPr/>
        </p:nvSpPr>
        <p:spPr>
          <a:xfrm>
            <a:off x="9025890" y="2738993"/>
            <a:ext cx="2264321" cy="32766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2B1A1C"/>
                </a:solidFill>
                <a:latin typeface="Barlow Condensed" pitchFamily="34" charset="0"/>
                <a:ea typeface="Barlow Condensed" pitchFamily="34" charset="-122"/>
                <a:cs typeface="Barlow Condensed" pitchFamily="34" charset="-120"/>
              </a:rPr>
              <a:t>Maroon</a:t>
            </a:r>
            <a:endParaRPr lang="en-US" sz="1700" dirty="0"/>
          </a:p>
        </p:txBody>
      </p:sp>
      <p:sp>
        <p:nvSpPr>
          <p:cNvPr id="22" name="Text 20"/>
          <p:cNvSpPr/>
          <p:nvPr/>
        </p:nvSpPr>
        <p:spPr>
          <a:xfrm>
            <a:off x="9025890" y="3092053"/>
            <a:ext cx="2264321"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01D26"/>
                </a:solidFill>
                <a:latin typeface="Barlow" pitchFamily="34" charset="0"/>
                <a:ea typeface="Barlow" pitchFamily="34" charset="-122"/>
                <a:cs typeface="Barlow" pitchFamily="34" charset="-120"/>
              </a:rPr>
              <a:t>#6B2328</a:t>
            </a:r>
            <a:endParaRPr lang="en-US" sz="1200" dirty="0"/>
          </a:p>
        </p:txBody>
      </p:sp>
      <p:sp>
        <p:nvSpPr>
          <p:cNvPr id="23" name="Text 21"/>
          <p:cNvSpPr/>
          <p:nvPr/>
        </p:nvSpPr>
        <p:spPr>
          <a:xfrm>
            <a:off x="9025890" y="3356214"/>
            <a:ext cx="2264321"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2B1A1C"/>
                </a:solidFill>
                <a:latin typeface="Barlow" pitchFamily="34" charset="0"/>
                <a:ea typeface="Barlow" pitchFamily="34" charset="-122"/>
                <a:cs typeface="Barlow" pitchFamily="34" charset="-120"/>
              </a:rPr>
              <a:t>Largest or darkest category</a:t>
            </a:r>
            <a:endParaRPr lang="en-US" sz="1200" dirty="0"/>
          </a:p>
        </p:txBody>
      </p:sp>
      <p:sp>
        <p:nvSpPr>
          <p:cNvPr id="24" name="Shape 22"/>
          <p:cNvSpPr/>
          <p:nvPr/>
        </p:nvSpPr>
        <p:spPr>
          <a:xfrm>
            <a:off x="822325" y="3981211"/>
            <a:ext cx="2489200" cy="1851263"/>
          </a:xfrm>
          <a:prstGeom prst="roundRect">
            <a:avLst>
              <a:gd name="adj" fmla="val 6346"/>
            </a:avLst>
          </a:prstGeom>
          <a:solidFill>
            <a:srgbClr val="F4F4EF"/>
          </a:solidFill>
          <a:ln w="19050">
            <a:solidFill>
              <a:srgbClr val="A01D26"/>
            </a:solidFill>
            <a:prstDash val="solid"/>
          </a:ln>
        </p:spPr>
      </p:sp>
      <p:sp>
        <p:nvSpPr>
          <p:cNvPr id="25" name="Shape 23"/>
          <p:cNvSpPr/>
          <p:nvPr/>
        </p:nvSpPr>
        <p:spPr>
          <a:xfrm>
            <a:off x="974090" y="4132979"/>
            <a:ext cx="2185670" cy="622300"/>
          </a:xfrm>
          <a:prstGeom prst="roundRect">
            <a:avLst>
              <a:gd name="adj" fmla="val 11224"/>
            </a:avLst>
          </a:prstGeom>
          <a:solidFill>
            <a:srgbClr val="D64550"/>
          </a:solidFill>
          <a:ln w="12700">
            <a:solidFill>
              <a:srgbClr val="C9C9C0"/>
            </a:solidFill>
            <a:prstDash val="solid"/>
          </a:ln>
        </p:spPr>
      </p:sp>
      <p:sp>
        <p:nvSpPr>
          <p:cNvPr id="26" name="Text 24"/>
          <p:cNvSpPr/>
          <p:nvPr/>
        </p:nvSpPr>
        <p:spPr>
          <a:xfrm>
            <a:off x="967740" y="4812429"/>
            <a:ext cx="2264321" cy="285988"/>
          </a:xfrm>
          <a:prstGeom prst="rect">
            <a:avLst/>
          </a:prstGeom>
          <a:noFill/>
          <a:ln/>
        </p:spPr>
        <p:txBody>
          <a:bodyPr wrap="square" lIns="0" tIns="0" rIns="0" bIns="0" rtlCol="0" anchor="t">
            <a:normAutofit/>
          </a:bodyPr>
          <a:lstStyle/>
          <a:p>
            <a:pPr algn="l" indent="0" marL="0">
              <a:lnSpc>
                <a:spcPts val="2068"/>
              </a:lnSpc>
              <a:buNone/>
            </a:pPr>
            <a:r>
              <a:rPr lang="en-US" sz="1477" b="1" dirty="0">
                <a:solidFill>
                  <a:srgbClr val="2B1A1C"/>
                </a:solidFill>
                <a:latin typeface="Barlow Condensed" pitchFamily="34" charset="0"/>
                <a:ea typeface="Barlow Condensed" pitchFamily="34" charset="-122"/>
                <a:cs typeface="Barlow Condensed" pitchFamily="34" charset="-120"/>
              </a:rPr>
              <a:t>Rose</a:t>
            </a:r>
            <a:endParaRPr lang="en-US" sz="1477" dirty="0"/>
          </a:p>
        </p:txBody>
      </p:sp>
      <p:sp>
        <p:nvSpPr>
          <p:cNvPr id="27" name="Text 25"/>
          <p:cNvSpPr/>
          <p:nvPr/>
        </p:nvSpPr>
        <p:spPr>
          <a:xfrm>
            <a:off x="967740" y="5123814"/>
            <a:ext cx="2264321" cy="209391"/>
          </a:xfrm>
          <a:prstGeom prst="rect">
            <a:avLst/>
          </a:prstGeom>
          <a:noFill/>
          <a:ln/>
        </p:spPr>
        <p:txBody>
          <a:bodyPr wrap="square" lIns="0" tIns="0" rIns="0" bIns="0" rtlCol="0" anchor="t">
            <a:normAutofit/>
          </a:bodyPr>
          <a:lstStyle/>
          <a:p>
            <a:pPr algn="l" indent="0" marL="0">
              <a:lnSpc>
                <a:spcPts val="1470"/>
              </a:lnSpc>
              <a:buNone/>
            </a:pPr>
            <a:r>
              <a:rPr lang="en-US" sz="1050" b="1" dirty="0">
                <a:solidFill>
                  <a:srgbClr val="A01D26"/>
                </a:solidFill>
                <a:latin typeface="Barlow" pitchFamily="34" charset="0"/>
                <a:ea typeface="Barlow" pitchFamily="34" charset="-122"/>
                <a:cs typeface="Barlow" pitchFamily="34" charset="-120"/>
              </a:rPr>
              <a:t>#D64550</a:t>
            </a:r>
            <a:endParaRPr lang="en-US" sz="1050" dirty="0"/>
          </a:p>
        </p:txBody>
      </p:sp>
      <p:sp>
        <p:nvSpPr>
          <p:cNvPr id="28" name="Text 26"/>
          <p:cNvSpPr/>
          <p:nvPr/>
        </p:nvSpPr>
        <p:spPr>
          <a:xfrm>
            <a:off x="967740" y="5358606"/>
            <a:ext cx="2334260" cy="353854"/>
          </a:xfrm>
          <a:prstGeom prst="rect">
            <a:avLst/>
          </a:prstGeom>
          <a:noFill/>
          <a:ln/>
        </p:spPr>
        <p:txBody>
          <a:bodyPr wrap="square" lIns="0" tIns="0" rIns="0" bIns="0" rtlCol="0" anchor="t">
            <a:normAutofit/>
          </a:bodyPr>
          <a:lstStyle/>
          <a:p>
            <a:pPr algn="l" indent="0" marL="0">
              <a:lnSpc>
                <a:spcPts val="1322"/>
              </a:lnSpc>
              <a:buNone/>
            </a:pPr>
            <a:r>
              <a:rPr lang="en-US" sz="1058" dirty="0">
                <a:solidFill>
                  <a:srgbClr val="2B1A1C"/>
                </a:solidFill>
                <a:latin typeface="Barlow" pitchFamily="34" charset="0"/>
                <a:ea typeface="Barlow" pitchFamily="34" charset="-122"/>
                <a:cs typeface="Barlow" pitchFamily="34" charset="-120"/>
              </a:rPr>
              <a:t>Second series, such as course or pass</a:t>
            </a:r>
            <a:endParaRPr lang="en-US" sz="1058" dirty="0"/>
          </a:p>
        </p:txBody>
      </p:sp>
      <p:sp>
        <p:nvSpPr>
          <p:cNvPr id="29" name="Shape 27"/>
          <p:cNvSpPr/>
          <p:nvPr/>
        </p:nvSpPr>
        <p:spPr>
          <a:xfrm>
            <a:off x="3508375" y="3981211"/>
            <a:ext cx="2489200" cy="1851263"/>
          </a:xfrm>
          <a:prstGeom prst="roundRect">
            <a:avLst>
              <a:gd name="adj" fmla="val 6346"/>
            </a:avLst>
          </a:prstGeom>
          <a:solidFill>
            <a:srgbClr val="F4F4EF"/>
          </a:solidFill>
          <a:ln w="19050">
            <a:solidFill>
              <a:srgbClr val="A01D26"/>
            </a:solidFill>
            <a:prstDash val="solid"/>
          </a:ln>
        </p:spPr>
      </p:sp>
      <p:sp>
        <p:nvSpPr>
          <p:cNvPr id="30" name="Shape 28"/>
          <p:cNvSpPr/>
          <p:nvPr/>
        </p:nvSpPr>
        <p:spPr>
          <a:xfrm>
            <a:off x="3660140" y="4132979"/>
            <a:ext cx="2185670" cy="622300"/>
          </a:xfrm>
          <a:prstGeom prst="roundRect">
            <a:avLst>
              <a:gd name="adj" fmla="val 11224"/>
            </a:avLst>
          </a:prstGeom>
          <a:solidFill>
            <a:srgbClr val="B96E73"/>
          </a:solidFill>
          <a:ln w="12700">
            <a:solidFill>
              <a:srgbClr val="C9C9C0"/>
            </a:solidFill>
            <a:prstDash val="solid"/>
          </a:ln>
        </p:spPr>
      </p:sp>
      <p:sp>
        <p:nvSpPr>
          <p:cNvPr id="31" name="Text 29"/>
          <p:cNvSpPr/>
          <p:nvPr/>
        </p:nvSpPr>
        <p:spPr>
          <a:xfrm>
            <a:off x="3653790" y="4812429"/>
            <a:ext cx="2264321" cy="32766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2B1A1C"/>
                </a:solidFill>
                <a:latin typeface="Barlow Condensed" pitchFamily="34" charset="0"/>
                <a:ea typeface="Barlow Condensed" pitchFamily="34" charset="-122"/>
                <a:cs typeface="Barlow Condensed" pitchFamily="34" charset="-120"/>
              </a:rPr>
              <a:t>Dusty rose</a:t>
            </a:r>
            <a:endParaRPr lang="en-US" sz="1700" dirty="0"/>
          </a:p>
        </p:txBody>
      </p:sp>
      <p:sp>
        <p:nvSpPr>
          <p:cNvPr id="32" name="Text 30"/>
          <p:cNvSpPr/>
          <p:nvPr/>
        </p:nvSpPr>
        <p:spPr>
          <a:xfrm>
            <a:off x="3653790" y="5165486"/>
            <a:ext cx="2264321"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01D26"/>
                </a:solidFill>
                <a:latin typeface="Barlow" pitchFamily="34" charset="0"/>
                <a:ea typeface="Barlow" pitchFamily="34" charset="-122"/>
                <a:cs typeface="Barlow" pitchFamily="34" charset="-120"/>
              </a:rPr>
              <a:t>#B96E73</a:t>
            </a:r>
            <a:endParaRPr lang="en-US" sz="1200" dirty="0"/>
          </a:p>
        </p:txBody>
      </p:sp>
      <p:sp>
        <p:nvSpPr>
          <p:cNvPr id="33" name="Text 31"/>
          <p:cNvSpPr/>
          <p:nvPr/>
        </p:nvSpPr>
        <p:spPr>
          <a:xfrm>
            <a:off x="3653790" y="5429647"/>
            <a:ext cx="2264321"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2B1A1C"/>
                </a:solidFill>
                <a:latin typeface="Barlow" pitchFamily="34" charset="0"/>
                <a:ea typeface="Barlow" pitchFamily="34" charset="-122"/>
                <a:cs typeface="Barlow" pitchFamily="34" charset="-120"/>
              </a:rPr>
              <a:t>Third series</a:t>
            </a:r>
            <a:endParaRPr lang="en-US" sz="1200" dirty="0"/>
          </a:p>
        </p:txBody>
      </p:sp>
      <p:sp>
        <p:nvSpPr>
          <p:cNvPr id="34" name="Shape 32"/>
          <p:cNvSpPr/>
          <p:nvPr/>
        </p:nvSpPr>
        <p:spPr>
          <a:xfrm>
            <a:off x="6194425" y="3981211"/>
            <a:ext cx="2489200" cy="1851263"/>
          </a:xfrm>
          <a:prstGeom prst="roundRect">
            <a:avLst>
              <a:gd name="adj" fmla="val 6346"/>
            </a:avLst>
          </a:prstGeom>
          <a:solidFill>
            <a:srgbClr val="F4F4EF"/>
          </a:solidFill>
          <a:ln w="19050">
            <a:solidFill>
              <a:srgbClr val="A01D26"/>
            </a:solidFill>
            <a:prstDash val="solid"/>
          </a:ln>
        </p:spPr>
      </p:sp>
      <p:sp>
        <p:nvSpPr>
          <p:cNvPr id="35" name="Shape 33"/>
          <p:cNvSpPr/>
          <p:nvPr/>
        </p:nvSpPr>
        <p:spPr>
          <a:xfrm>
            <a:off x="6346190" y="4132979"/>
            <a:ext cx="2185670" cy="622300"/>
          </a:xfrm>
          <a:prstGeom prst="roundRect">
            <a:avLst>
              <a:gd name="adj" fmla="val 11224"/>
            </a:avLst>
          </a:prstGeom>
          <a:solidFill>
            <a:srgbClr val="EFB5B9"/>
          </a:solidFill>
          <a:ln w="12700">
            <a:solidFill>
              <a:srgbClr val="C9C9C0"/>
            </a:solidFill>
            <a:prstDash val="solid"/>
          </a:ln>
        </p:spPr>
      </p:sp>
      <p:sp>
        <p:nvSpPr>
          <p:cNvPr id="36" name="Text 34"/>
          <p:cNvSpPr/>
          <p:nvPr/>
        </p:nvSpPr>
        <p:spPr>
          <a:xfrm>
            <a:off x="6339840" y="4812429"/>
            <a:ext cx="2264321" cy="32766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2B1A1C"/>
                </a:solidFill>
                <a:latin typeface="Barlow Condensed" pitchFamily="34" charset="0"/>
                <a:ea typeface="Barlow Condensed" pitchFamily="34" charset="-122"/>
                <a:cs typeface="Barlow Condensed" pitchFamily="34" charset="-120"/>
              </a:rPr>
              <a:t>Pink</a:t>
            </a:r>
            <a:endParaRPr lang="en-US" sz="1700" dirty="0"/>
          </a:p>
        </p:txBody>
      </p:sp>
      <p:sp>
        <p:nvSpPr>
          <p:cNvPr id="37" name="Text 35"/>
          <p:cNvSpPr/>
          <p:nvPr/>
        </p:nvSpPr>
        <p:spPr>
          <a:xfrm>
            <a:off x="6339840" y="5165486"/>
            <a:ext cx="2264321"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01D26"/>
                </a:solidFill>
                <a:latin typeface="Barlow" pitchFamily="34" charset="0"/>
                <a:ea typeface="Barlow" pitchFamily="34" charset="-122"/>
                <a:cs typeface="Barlow" pitchFamily="34" charset="-120"/>
              </a:rPr>
              <a:t>#EFB5B9</a:t>
            </a:r>
            <a:endParaRPr lang="en-US" sz="1200" dirty="0"/>
          </a:p>
        </p:txBody>
      </p:sp>
      <p:sp>
        <p:nvSpPr>
          <p:cNvPr id="38" name="Text 36"/>
          <p:cNvSpPr/>
          <p:nvPr/>
        </p:nvSpPr>
        <p:spPr>
          <a:xfrm>
            <a:off x="6339840" y="5429647"/>
            <a:ext cx="2264321"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2B1A1C"/>
                </a:solidFill>
                <a:latin typeface="Barlow" pitchFamily="34" charset="0"/>
                <a:ea typeface="Barlow" pitchFamily="34" charset="-122"/>
                <a:cs typeface="Barlow" pitchFamily="34" charset="-120"/>
              </a:rPr>
              <a:t>Smallest or other slices</a:t>
            </a:r>
            <a:endParaRPr lang="en-US" sz="1200" dirty="0"/>
          </a:p>
        </p:txBody>
      </p:sp>
      <p:sp>
        <p:nvSpPr>
          <p:cNvPr id="39" name="Shape 37"/>
          <p:cNvSpPr/>
          <p:nvPr/>
        </p:nvSpPr>
        <p:spPr>
          <a:xfrm>
            <a:off x="8880475" y="3981211"/>
            <a:ext cx="2489200" cy="1851263"/>
          </a:xfrm>
          <a:prstGeom prst="roundRect">
            <a:avLst>
              <a:gd name="adj" fmla="val 6346"/>
            </a:avLst>
          </a:prstGeom>
          <a:solidFill>
            <a:srgbClr val="F4F4EF"/>
          </a:solidFill>
          <a:ln w="19050">
            <a:solidFill>
              <a:srgbClr val="A01D26"/>
            </a:solidFill>
            <a:prstDash val="solid"/>
          </a:ln>
        </p:spPr>
      </p:sp>
      <p:sp>
        <p:nvSpPr>
          <p:cNvPr id="40" name="Shape 38"/>
          <p:cNvSpPr/>
          <p:nvPr/>
        </p:nvSpPr>
        <p:spPr>
          <a:xfrm>
            <a:off x="9032240" y="4132979"/>
            <a:ext cx="2185670" cy="622300"/>
          </a:xfrm>
          <a:prstGeom prst="roundRect">
            <a:avLst>
              <a:gd name="adj" fmla="val 11224"/>
            </a:avLst>
          </a:prstGeom>
          <a:solidFill>
            <a:srgbClr val="E66C37"/>
          </a:solidFill>
          <a:ln w="12700">
            <a:solidFill>
              <a:srgbClr val="C9C9C0"/>
            </a:solidFill>
            <a:prstDash val="solid"/>
          </a:ln>
        </p:spPr>
      </p:sp>
      <p:sp>
        <p:nvSpPr>
          <p:cNvPr id="41" name="Text 39"/>
          <p:cNvSpPr/>
          <p:nvPr/>
        </p:nvSpPr>
        <p:spPr>
          <a:xfrm>
            <a:off x="9025890" y="4812429"/>
            <a:ext cx="2264321" cy="285988"/>
          </a:xfrm>
          <a:prstGeom prst="rect">
            <a:avLst/>
          </a:prstGeom>
          <a:noFill/>
          <a:ln/>
        </p:spPr>
        <p:txBody>
          <a:bodyPr wrap="square" lIns="0" tIns="0" rIns="0" bIns="0" rtlCol="0" anchor="t">
            <a:normAutofit/>
          </a:bodyPr>
          <a:lstStyle/>
          <a:p>
            <a:pPr algn="l" indent="0" marL="0">
              <a:lnSpc>
                <a:spcPts val="2068"/>
              </a:lnSpc>
              <a:buNone/>
            </a:pPr>
            <a:r>
              <a:rPr lang="en-US" sz="1477" b="1" dirty="0">
                <a:solidFill>
                  <a:srgbClr val="2B1A1C"/>
                </a:solidFill>
                <a:latin typeface="Barlow Condensed" pitchFamily="34" charset="0"/>
                <a:ea typeface="Barlow Condensed" pitchFamily="34" charset="-122"/>
                <a:cs typeface="Barlow Condensed" pitchFamily="34" charset="-120"/>
              </a:rPr>
              <a:t>Orange</a:t>
            </a:r>
            <a:endParaRPr lang="en-US" sz="1477" dirty="0"/>
          </a:p>
        </p:txBody>
      </p:sp>
      <p:sp>
        <p:nvSpPr>
          <p:cNvPr id="42" name="Text 40"/>
          <p:cNvSpPr/>
          <p:nvPr/>
        </p:nvSpPr>
        <p:spPr>
          <a:xfrm>
            <a:off x="9025890" y="5123814"/>
            <a:ext cx="2264321" cy="209391"/>
          </a:xfrm>
          <a:prstGeom prst="rect">
            <a:avLst/>
          </a:prstGeom>
          <a:noFill/>
          <a:ln/>
        </p:spPr>
        <p:txBody>
          <a:bodyPr wrap="square" lIns="0" tIns="0" rIns="0" bIns="0" rtlCol="0" anchor="t">
            <a:normAutofit/>
          </a:bodyPr>
          <a:lstStyle/>
          <a:p>
            <a:pPr algn="l" indent="0" marL="0">
              <a:lnSpc>
                <a:spcPts val="1470"/>
              </a:lnSpc>
              <a:buNone/>
            </a:pPr>
            <a:r>
              <a:rPr lang="en-US" sz="1050" b="1" dirty="0">
                <a:solidFill>
                  <a:srgbClr val="A01D26"/>
                </a:solidFill>
                <a:latin typeface="Barlow" pitchFamily="34" charset="0"/>
                <a:ea typeface="Barlow" pitchFamily="34" charset="-122"/>
                <a:cs typeface="Barlow" pitchFamily="34" charset="-120"/>
              </a:rPr>
              <a:t>#E66C37</a:t>
            </a:r>
            <a:endParaRPr lang="en-US" sz="1050" dirty="0"/>
          </a:p>
        </p:txBody>
      </p:sp>
      <p:sp>
        <p:nvSpPr>
          <p:cNvPr id="43" name="Text 41"/>
          <p:cNvSpPr/>
          <p:nvPr/>
        </p:nvSpPr>
        <p:spPr>
          <a:xfrm>
            <a:off x="9025890" y="5358606"/>
            <a:ext cx="2264321" cy="353854"/>
          </a:xfrm>
          <a:prstGeom prst="rect">
            <a:avLst/>
          </a:prstGeom>
          <a:noFill/>
          <a:ln/>
        </p:spPr>
        <p:txBody>
          <a:bodyPr wrap="square" lIns="0" tIns="0" rIns="0" bIns="0" rtlCol="0" anchor="t">
            <a:normAutofit/>
          </a:bodyPr>
          <a:lstStyle/>
          <a:p>
            <a:pPr algn="l" indent="0" marL="0">
              <a:lnSpc>
                <a:spcPts val="1308"/>
              </a:lnSpc>
              <a:buNone/>
            </a:pPr>
            <a:r>
              <a:rPr lang="en-US" sz="1046" dirty="0">
                <a:solidFill>
                  <a:srgbClr val="2B1A1C"/>
                </a:solidFill>
                <a:latin typeface="Barlow" pitchFamily="34" charset="0"/>
                <a:ea typeface="Barlow" pitchFamily="34" charset="-122"/>
                <a:cs typeface="Barlow" pitchFamily="34" charset="-120"/>
              </a:rPr>
              <a:t>Highlights such as reputation and Sub1</a:t>
            </a:r>
            <a:endParaRPr lang="en-US" sz="1046" dirty="0"/>
          </a:p>
        </p:txBody>
      </p:sp>
      <p:sp>
        <p:nvSpPr>
          <p:cNvPr id="44" name="Text 42"/>
          <p:cNvSpPr/>
          <p:nvPr/>
        </p:nvSpPr>
        <p:spPr>
          <a:xfrm>
            <a:off x="812800" y="6238239"/>
            <a:ext cx="91567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0AB"/>
                </a:solidFill>
                <a:latin typeface="Barlow" pitchFamily="34" charset="0"/>
                <a:ea typeface="Barlow" pitchFamily="34" charset="-122"/>
                <a:cs typeface="Barlow" pitchFamily="34" charset="-120"/>
              </a:rPr>
              <a:t>Students Performance Dashboard · Project brief · 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20232A"/>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E66C37"/>
                </a:solidFill>
                <a:latin typeface="Barlow" pitchFamily="34" charset="0"/>
                <a:ea typeface="Barlow" pitchFamily="34" charset="-122"/>
                <a:cs typeface="Barlow" pitchFamily="34" charset="-120"/>
              </a:rPr>
              <a:t>PAGE LAYOUT</a:t>
            </a:r>
            <a:endParaRPr lang="en-US" sz="1400" dirty="0"/>
          </a:p>
        </p:txBody>
      </p:sp>
      <p:sp>
        <p:nvSpPr>
          <p:cNvPr id="3" name="Text 1"/>
          <p:cNvSpPr/>
          <p:nvPr>
            <p:ph type="title"/>
          </p:nvPr>
        </p:nvSpPr>
        <p:spPr>
          <a:xfrm>
            <a:off x="812800" y="1264921"/>
            <a:ext cx="10883392" cy="500380"/>
          </a:xfrm>
          <a:prstGeom prst="rect">
            <a:avLst/>
          </a:prstGeom>
          <a:noFill/>
          <a:ln/>
        </p:spPr>
        <p:txBody>
          <a:bodyPr wrap="square" lIns="0" tIns="0" rIns="0" bIns="0" rtlCol="0" anchor="t">
            <a:normAutofit/>
          </a:bodyPr>
          <a:lstStyle/>
          <a:p>
            <a:pPr algn="l" indent="0" marL="0">
              <a:lnSpc>
                <a:spcPts val="3740"/>
              </a:lnSpc>
              <a:buNone/>
            </a:pPr>
            <a:r>
              <a:rPr lang="en-US" sz="3400" b="1" i="0" dirty="0">
                <a:solidFill>
                  <a:srgbClr val="FFFFFF"/>
                </a:solidFill>
                <a:latin typeface="Barlow Condensed" pitchFamily="34" charset="0"/>
                <a:ea typeface="Barlow Condensed" pitchFamily="34" charset="-122"/>
                <a:cs typeface="Barlow Condensed" pitchFamily="34" charset="-120"/>
              </a:rPr>
              <a:t>Every page reads the same way</a:t>
            </a:r>
            <a:endParaRPr lang="en-US" sz="3400" dirty="0"/>
          </a:p>
        </p:txBody>
      </p:sp>
      <p:sp>
        <p:nvSpPr>
          <p:cNvPr id="4" name="Shape 2"/>
          <p:cNvSpPr/>
          <p:nvPr/>
        </p:nvSpPr>
        <p:spPr>
          <a:xfrm>
            <a:off x="822325" y="1952625"/>
            <a:ext cx="2489200" cy="1356360"/>
          </a:xfrm>
          <a:prstGeom prst="roundRect">
            <a:avLst>
              <a:gd name="adj" fmla="val 8661"/>
            </a:avLst>
          </a:prstGeom>
          <a:solidFill>
            <a:srgbClr val="F4F4EF"/>
          </a:solidFill>
          <a:ln w="19050">
            <a:solidFill>
              <a:srgbClr val="A01D26"/>
            </a:solidFill>
            <a:prstDash val="solid"/>
          </a:ln>
        </p:spPr>
      </p:sp>
      <p:sp>
        <p:nvSpPr>
          <p:cNvPr id="5" name="Text 3"/>
          <p:cNvSpPr/>
          <p:nvPr/>
        </p:nvSpPr>
        <p:spPr>
          <a:xfrm>
            <a:off x="828040" y="1958339"/>
            <a:ext cx="2477770" cy="421640"/>
          </a:xfrm>
          <a:custGeom>
            <a:avLst/>
            <a:gdLst/>
            <a:ahLst/>
            <a:cxnLst/>
            <a:rect l="l" t="t" r="r" b="b"/>
            <a:pathLst>
              <a:path w="2477770" h="421640">
                <a:moveTo>
                  <a:pt x="88900" y="0"/>
                </a:moveTo>
                <a:lnTo>
                  <a:pt x="2388870" y="0"/>
                </a:lnTo>
                <a:arcTo hR="88900" wR="88900" stAng="16200000" swAng="5400000"/>
                <a:lnTo>
                  <a:pt x="2477770" y="421640"/>
                </a:lnTo>
                <a:lnTo>
                  <a:pt x="0" y="421640"/>
                </a:lnTo>
                <a:lnTo>
                  <a:pt x="0" y="88900"/>
                </a:lnTo>
                <a:arcTo hR="88900" wR="88900" stAng="10800000" swAng="5400000"/>
                <a:close/>
              </a:path>
            </a:pathLst>
          </a:custGeom>
          <a:solidFill>
            <a:srgbClr val="A01D26"/>
          </a:solidFill>
          <a:ln/>
        </p:spPr>
        <p:txBody>
          <a:bodyPr wrap="square" lIns="152400" tIns="88900" rIns="87211" bIns="63500" rtlCol="0" anchor="t">
            <a:normAutofit/>
          </a:bodyPr>
          <a:lstStyle/>
          <a:p>
            <a:pPr algn="l" indent="0" marL="0">
              <a:lnSpc>
                <a:spcPts val="1920"/>
              </a:lnSpc>
              <a:buNone/>
            </a:pPr>
            <a:r>
              <a:rPr lang="en-US" sz="1600" b="1" dirty="0">
                <a:solidFill>
                  <a:srgbClr val="FFFFFF"/>
                </a:solidFill>
                <a:latin typeface="Barlow Condensed" pitchFamily="34" charset="0"/>
                <a:ea typeface="Barlow Condensed" pitchFamily="34" charset="-122"/>
                <a:cs typeface="Barlow Condensed" pitchFamily="34" charset="-120"/>
              </a:rPr>
              <a:t>Title tile</a:t>
            </a:r>
            <a:endParaRPr lang="en-US" sz="1600" dirty="0"/>
          </a:p>
        </p:txBody>
      </p:sp>
      <p:sp>
        <p:nvSpPr>
          <p:cNvPr id="6" name="Text 4"/>
          <p:cNvSpPr/>
          <p:nvPr/>
        </p:nvSpPr>
        <p:spPr>
          <a:xfrm>
            <a:off x="980440" y="2519682"/>
            <a:ext cx="2238159" cy="66929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2B1A1C"/>
                </a:solidFill>
                <a:latin typeface="Barlow" pitchFamily="34" charset="0"/>
                <a:ea typeface="Barlow" pitchFamily="34" charset="-122"/>
                <a:cs typeface="Barlow" pitchFamily="34" charset="-120"/>
              </a:rPr>
              <a:t>The same rounded Students Performance tile at the top left of every page.</a:t>
            </a:r>
            <a:endParaRPr lang="en-US" sz="1300" dirty="0"/>
          </a:p>
        </p:txBody>
      </p:sp>
      <p:sp>
        <p:nvSpPr>
          <p:cNvPr id="7" name="Shape 5"/>
          <p:cNvSpPr/>
          <p:nvPr/>
        </p:nvSpPr>
        <p:spPr>
          <a:xfrm>
            <a:off x="3508375" y="1952625"/>
            <a:ext cx="2489200" cy="1356360"/>
          </a:xfrm>
          <a:prstGeom prst="roundRect">
            <a:avLst>
              <a:gd name="adj" fmla="val 8661"/>
            </a:avLst>
          </a:prstGeom>
          <a:solidFill>
            <a:srgbClr val="F4F4EF"/>
          </a:solidFill>
          <a:ln w="19050">
            <a:solidFill>
              <a:srgbClr val="A01D26"/>
            </a:solidFill>
            <a:prstDash val="solid"/>
          </a:ln>
        </p:spPr>
      </p:sp>
      <p:sp>
        <p:nvSpPr>
          <p:cNvPr id="8" name="Text 6"/>
          <p:cNvSpPr/>
          <p:nvPr/>
        </p:nvSpPr>
        <p:spPr>
          <a:xfrm>
            <a:off x="3514090" y="1958339"/>
            <a:ext cx="2477770" cy="421640"/>
          </a:xfrm>
          <a:custGeom>
            <a:avLst/>
            <a:gdLst/>
            <a:ahLst/>
            <a:cxnLst/>
            <a:rect l="l" t="t" r="r" b="b"/>
            <a:pathLst>
              <a:path w="2477770" h="421640">
                <a:moveTo>
                  <a:pt x="88900" y="0"/>
                </a:moveTo>
                <a:lnTo>
                  <a:pt x="2388870" y="0"/>
                </a:lnTo>
                <a:arcTo hR="88900" wR="88900" stAng="16200000" swAng="5400000"/>
                <a:lnTo>
                  <a:pt x="2477770" y="421640"/>
                </a:lnTo>
                <a:lnTo>
                  <a:pt x="0" y="421640"/>
                </a:lnTo>
                <a:lnTo>
                  <a:pt x="0" y="88900"/>
                </a:lnTo>
                <a:arcTo hR="88900" wR="88900" stAng="10800000" swAng="5400000"/>
                <a:close/>
              </a:path>
            </a:pathLst>
          </a:custGeom>
          <a:solidFill>
            <a:srgbClr val="A01D26"/>
          </a:solidFill>
          <a:ln/>
        </p:spPr>
        <p:txBody>
          <a:bodyPr wrap="square" lIns="152400" tIns="88900" rIns="87211" bIns="63500" rtlCol="0" anchor="t">
            <a:normAutofit/>
          </a:bodyPr>
          <a:lstStyle/>
          <a:p>
            <a:pPr algn="l" indent="0" marL="0">
              <a:lnSpc>
                <a:spcPts val="1920"/>
              </a:lnSpc>
              <a:buNone/>
            </a:pPr>
            <a:r>
              <a:rPr lang="en-US" sz="1600" b="1" dirty="0">
                <a:solidFill>
                  <a:srgbClr val="FFFFFF"/>
                </a:solidFill>
                <a:latin typeface="Barlow Condensed" pitchFamily="34" charset="0"/>
                <a:ea typeface="Barlow Condensed" pitchFamily="34" charset="-122"/>
                <a:cs typeface="Barlow Condensed" pitchFamily="34" charset="-120"/>
              </a:rPr>
              <a:t>Slicers</a:t>
            </a:r>
            <a:endParaRPr lang="en-US" sz="1600" dirty="0"/>
          </a:p>
        </p:txBody>
      </p:sp>
      <p:sp>
        <p:nvSpPr>
          <p:cNvPr id="9" name="Text 7"/>
          <p:cNvSpPr/>
          <p:nvPr/>
        </p:nvSpPr>
        <p:spPr>
          <a:xfrm>
            <a:off x="3666490" y="2519682"/>
            <a:ext cx="2238159" cy="66929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2B1A1C"/>
                </a:solidFill>
                <a:latin typeface="Barlow" pitchFamily="34" charset="0"/>
                <a:ea typeface="Barlow" pitchFamily="34" charset="-122"/>
                <a:cs typeface="Barlow" pitchFamily="34" charset="-120"/>
              </a:rPr>
              <a:t>Dropdowns for address, school, age and gender, in the same row on every page.</a:t>
            </a:r>
            <a:endParaRPr lang="en-US" sz="1300" dirty="0"/>
          </a:p>
        </p:txBody>
      </p:sp>
      <p:sp>
        <p:nvSpPr>
          <p:cNvPr id="10" name="Shape 8"/>
          <p:cNvSpPr/>
          <p:nvPr/>
        </p:nvSpPr>
        <p:spPr>
          <a:xfrm>
            <a:off x="6194425" y="1952625"/>
            <a:ext cx="2489200" cy="1356360"/>
          </a:xfrm>
          <a:prstGeom prst="roundRect">
            <a:avLst>
              <a:gd name="adj" fmla="val 8661"/>
            </a:avLst>
          </a:prstGeom>
          <a:solidFill>
            <a:srgbClr val="F4F4EF"/>
          </a:solidFill>
          <a:ln w="19050">
            <a:solidFill>
              <a:srgbClr val="A01D26"/>
            </a:solidFill>
            <a:prstDash val="solid"/>
          </a:ln>
        </p:spPr>
      </p:sp>
      <p:sp>
        <p:nvSpPr>
          <p:cNvPr id="11" name="Text 9"/>
          <p:cNvSpPr/>
          <p:nvPr/>
        </p:nvSpPr>
        <p:spPr>
          <a:xfrm>
            <a:off x="6200140" y="1958339"/>
            <a:ext cx="2477770" cy="421640"/>
          </a:xfrm>
          <a:custGeom>
            <a:avLst/>
            <a:gdLst/>
            <a:ahLst/>
            <a:cxnLst/>
            <a:rect l="l" t="t" r="r" b="b"/>
            <a:pathLst>
              <a:path w="2477770" h="421640">
                <a:moveTo>
                  <a:pt x="88900" y="0"/>
                </a:moveTo>
                <a:lnTo>
                  <a:pt x="2388870" y="0"/>
                </a:lnTo>
                <a:arcTo hR="88900" wR="88900" stAng="16200000" swAng="5400000"/>
                <a:lnTo>
                  <a:pt x="2477770" y="421640"/>
                </a:lnTo>
                <a:lnTo>
                  <a:pt x="0" y="421640"/>
                </a:lnTo>
                <a:lnTo>
                  <a:pt x="0" y="88900"/>
                </a:lnTo>
                <a:arcTo hR="88900" wR="88900" stAng="10800000" swAng="5400000"/>
                <a:close/>
              </a:path>
            </a:pathLst>
          </a:custGeom>
          <a:solidFill>
            <a:srgbClr val="A01D26"/>
          </a:solidFill>
          <a:ln/>
        </p:spPr>
        <p:txBody>
          <a:bodyPr wrap="square" lIns="152400" tIns="88900" rIns="87211" bIns="63500" rtlCol="0" anchor="t">
            <a:normAutofit/>
          </a:bodyPr>
          <a:lstStyle/>
          <a:p>
            <a:pPr algn="l" indent="0" marL="0">
              <a:lnSpc>
                <a:spcPts val="1920"/>
              </a:lnSpc>
              <a:buNone/>
            </a:pPr>
            <a:r>
              <a:rPr lang="en-US" sz="1600" b="1" dirty="0">
                <a:solidFill>
                  <a:srgbClr val="FFFFFF"/>
                </a:solidFill>
                <a:latin typeface="Barlow Condensed" pitchFamily="34" charset="0"/>
                <a:ea typeface="Barlow Condensed" pitchFamily="34" charset="-122"/>
                <a:cs typeface="Barlow Condensed" pitchFamily="34" charset="-120"/>
              </a:rPr>
              <a:t>KPI cards</a:t>
            </a:r>
            <a:endParaRPr lang="en-US" sz="1600" dirty="0"/>
          </a:p>
        </p:txBody>
      </p:sp>
      <p:sp>
        <p:nvSpPr>
          <p:cNvPr id="12" name="Text 10"/>
          <p:cNvSpPr/>
          <p:nvPr/>
        </p:nvSpPr>
        <p:spPr>
          <a:xfrm>
            <a:off x="6352540" y="2519682"/>
            <a:ext cx="2238159" cy="66929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2B1A1C"/>
                </a:solidFill>
                <a:latin typeface="Barlow" pitchFamily="34" charset="0"/>
                <a:ea typeface="Barlow" pitchFamily="34" charset="-122"/>
                <a:cs typeface="Barlow" pitchFamily="34" charset="-120"/>
              </a:rPr>
              <a:t>Four or five cards at the top right: one number each, with a clear label.</a:t>
            </a:r>
            <a:endParaRPr lang="en-US" sz="1300" dirty="0"/>
          </a:p>
        </p:txBody>
      </p:sp>
      <p:sp>
        <p:nvSpPr>
          <p:cNvPr id="13" name="Shape 11"/>
          <p:cNvSpPr/>
          <p:nvPr/>
        </p:nvSpPr>
        <p:spPr>
          <a:xfrm>
            <a:off x="8880475" y="1952625"/>
            <a:ext cx="2489200" cy="1356360"/>
          </a:xfrm>
          <a:prstGeom prst="roundRect">
            <a:avLst>
              <a:gd name="adj" fmla="val 8661"/>
            </a:avLst>
          </a:prstGeom>
          <a:solidFill>
            <a:srgbClr val="F4F4EF"/>
          </a:solidFill>
          <a:ln w="19050">
            <a:solidFill>
              <a:srgbClr val="A01D26"/>
            </a:solidFill>
            <a:prstDash val="solid"/>
          </a:ln>
        </p:spPr>
      </p:sp>
      <p:sp>
        <p:nvSpPr>
          <p:cNvPr id="14" name="Text 12"/>
          <p:cNvSpPr/>
          <p:nvPr/>
        </p:nvSpPr>
        <p:spPr>
          <a:xfrm>
            <a:off x="8886190" y="1958339"/>
            <a:ext cx="2477770" cy="421640"/>
          </a:xfrm>
          <a:custGeom>
            <a:avLst/>
            <a:gdLst/>
            <a:ahLst/>
            <a:cxnLst/>
            <a:rect l="l" t="t" r="r" b="b"/>
            <a:pathLst>
              <a:path w="2477770" h="421640">
                <a:moveTo>
                  <a:pt x="88900" y="0"/>
                </a:moveTo>
                <a:lnTo>
                  <a:pt x="2388870" y="0"/>
                </a:lnTo>
                <a:arcTo hR="88900" wR="88900" stAng="16200000" swAng="5400000"/>
                <a:lnTo>
                  <a:pt x="2477770" y="421640"/>
                </a:lnTo>
                <a:lnTo>
                  <a:pt x="0" y="421640"/>
                </a:lnTo>
                <a:lnTo>
                  <a:pt x="0" y="88900"/>
                </a:lnTo>
                <a:arcTo hR="88900" wR="88900" stAng="10800000" swAng="5400000"/>
                <a:close/>
              </a:path>
            </a:pathLst>
          </a:custGeom>
          <a:solidFill>
            <a:srgbClr val="A01D26"/>
          </a:solidFill>
          <a:ln/>
        </p:spPr>
        <p:txBody>
          <a:bodyPr wrap="square" lIns="152400" tIns="88900" rIns="87211" bIns="63500" rtlCol="0" anchor="t">
            <a:normAutofit/>
          </a:bodyPr>
          <a:lstStyle/>
          <a:p>
            <a:pPr algn="l" indent="0" marL="0">
              <a:lnSpc>
                <a:spcPts val="1920"/>
              </a:lnSpc>
              <a:buNone/>
            </a:pPr>
            <a:r>
              <a:rPr lang="en-US" sz="1600" b="1" dirty="0">
                <a:solidFill>
                  <a:srgbClr val="FFFFFF"/>
                </a:solidFill>
                <a:latin typeface="Barlow Condensed" pitchFamily="34" charset="0"/>
                <a:ea typeface="Barlow Condensed" pitchFamily="34" charset="-122"/>
                <a:cs typeface="Barlow Condensed" pitchFamily="34" charset="-120"/>
              </a:rPr>
              <a:t>Charts</a:t>
            </a:r>
            <a:endParaRPr lang="en-US" sz="1600" dirty="0"/>
          </a:p>
        </p:txBody>
      </p:sp>
      <p:sp>
        <p:nvSpPr>
          <p:cNvPr id="15" name="Text 13"/>
          <p:cNvSpPr/>
          <p:nvPr/>
        </p:nvSpPr>
        <p:spPr>
          <a:xfrm>
            <a:off x="9038590" y="2519682"/>
            <a:ext cx="2238159" cy="66929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2B1A1C"/>
                </a:solidFill>
                <a:latin typeface="Barlow" pitchFamily="34" charset="0"/>
                <a:ea typeface="Barlow" pitchFamily="34" charset="-122"/>
                <a:cs typeface="Barlow" pitchFamily="34" charset="-120"/>
              </a:rPr>
              <a:t>Five or six cards below, each with a crimson title that says what is counted.</a:t>
            </a:r>
            <a:endParaRPr lang="en-US" sz="1300" dirty="0"/>
          </a:p>
        </p:txBody>
      </p:sp>
      <p:sp>
        <p:nvSpPr>
          <p:cNvPr id="16" name="Shape 14"/>
          <p:cNvSpPr/>
          <p:nvPr/>
        </p:nvSpPr>
        <p:spPr>
          <a:xfrm>
            <a:off x="812800" y="3521711"/>
            <a:ext cx="3403600" cy="1112520"/>
          </a:xfrm>
          <a:prstGeom prst="roundRect">
            <a:avLst>
              <a:gd name="adj" fmla="val 11416"/>
            </a:avLst>
          </a:prstGeom>
          <a:solidFill>
            <a:srgbClr val="6B2328"/>
          </a:solidFill>
          <a:ln/>
        </p:spPr>
      </p:sp>
      <p:sp>
        <p:nvSpPr>
          <p:cNvPr id="17" name="Text 15"/>
          <p:cNvSpPr/>
          <p:nvPr/>
        </p:nvSpPr>
        <p:spPr>
          <a:xfrm>
            <a:off x="977900" y="3686811"/>
            <a:ext cx="3165602" cy="32766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FFFFFF"/>
                </a:solidFill>
                <a:latin typeface="Barlow Condensed" pitchFamily="34" charset="0"/>
                <a:ea typeface="Barlow Condensed" pitchFamily="34" charset="-122"/>
                <a:cs typeface="Barlow Condensed" pitchFamily="34" charset="-120"/>
              </a:rPr>
              <a:t>Same frame on every page</a:t>
            </a:r>
            <a:endParaRPr lang="en-US" sz="1700" dirty="0"/>
          </a:p>
        </p:txBody>
      </p:sp>
      <p:sp>
        <p:nvSpPr>
          <p:cNvPr id="18" name="Text 16"/>
          <p:cNvSpPr/>
          <p:nvPr/>
        </p:nvSpPr>
        <p:spPr>
          <a:xfrm>
            <a:off x="977900" y="4039871"/>
            <a:ext cx="3165602" cy="24003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EFB5B9"/>
                </a:solidFill>
                <a:latin typeface="Barlow" pitchFamily="34" charset="0"/>
                <a:ea typeface="Barlow" pitchFamily="34" charset="-122"/>
                <a:cs typeface="Barlow" pitchFamily="34" charset="-120"/>
              </a:rPr>
              <a:t>Readers learn the layout once.</a:t>
            </a:r>
            <a:endParaRPr lang="en-US" sz="1300" dirty="0"/>
          </a:p>
        </p:txBody>
      </p:sp>
      <p:sp>
        <p:nvSpPr>
          <p:cNvPr id="19" name="Shape 17"/>
          <p:cNvSpPr/>
          <p:nvPr/>
        </p:nvSpPr>
        <p:spPr>
          <a:xfrm>
            <a:off x="4394200" y="3521711"/>
            <a:ext cx="3403600" cy="1112520"/>
          </a:xfrm>
          <a:prstGeom prst="roundRect">
            <a:avLst>
              <a:gd name="adj" fmla="val 11416"/>
            </a:avLst>
          </a:prstGeom>
          <a:solidFill>
            <a:srgbClr val="6B2328"/>
          </a:solidFill>
          <a:ln/>
        </p:spPr>
      </p:sp>
      <p:sp>
        <p:nvSpPr>
          <p:cNvPr id="20" name="Text 18"/>
          <p:cNvSpPr/>
          <p:nvPr/>
        </p:nvSpPr>
        <p:spPr>
          <a:xfrm>
            <a:off x="4559300" y="3686811"/>
            <a:ext cx="3165602" cy="32766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FFFFFF"/>
                </a:solidFill>
                <a:latin typeface="Barlow Condensed" pitchFamily="34" charset="0"/>
                <a:ea typeface="Barlow Condensed" pitchFamily="34" charset="-122"/>
                <a:cs typeface="Barlow Condensed" pitchFamily="34" charset="-120"/>
              </a:rPr>
              <a:t>Titles say what is counted</a:t>
            </a:r>
            <a:endParaRPr lang="en-US" sz="1700" dirty="0"/>
          </a:p>
        </p:txBody>
      </p:sp>
      <p:sp>
        <p:nvSpPr>
          <p:cNvPr id="21" name="Text 19"/>
          <p:cNvSpPr/>
          <p:nvPr/>
        </p:nvSpPr>
        <p:spPr>
          <a:xfrm>
            <a:off x="4559300" y="4039871"/>
            <a:ext cx="3165602" cy="45466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EFB5B9"/>
                </a:solidFill>
                <a:latin typeface="Barlow" pitchFamily="34" charset="0"/>
                <a:ea typeface="Barlow" pitchFamily="34" charset="-122"/>
                <a:cs typeface="Barlow" pitchFamily="34" charset="-120"/>
              </a:rPr>
              <a:t>"Count of Students by traveltime" leaves no doubt.</a:t>
            </a:r>
            <a:endParaRPr lang="en-US" sz="1300" dirty="0"/>
          </a:p>
        </p:txBody>
      </p:sp>
      <p:sp>
        <p:nvSpPr>
          <p:cNvPr id="22" name="Shape 20"/>
          <p:cNvSpPr/>
          <p:nvPr/>
        </p:nvSpPr>
        <p:spPr>
          <a:xfrm>
            <a:off x="7975600" y="3521711"/>
            <a:ext cx="3403600" cy="1112520"/>
          </a:xfrm>
          <a:prstGeom prst="roundRect">
            <a:avLst>
              <a:gd name="adj" fmla="val 11416"/>
            </a:avLst>
          </a:prstGeom>
          <a:solidFill>
            <a:srgbClr val="6B2328"/>
          </a:solidFill>
          <a:ln/>
        </p:spPr>
      </p:sp>
      <p:sp>
        <p:nvSpPr>
          <p:cNvPr id="23" name="Text 21"/>
          <p:cNvSpPr/>
          <p:nvPr/>
        </p:nvSpPr>
        <p:spPr>
          <a:xfrm>
            <a:off x="8140700" y="3686811"/>
            <a:ext cx="3165602" cy="32766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FFFFFF"/>
                </a:solidFill>
                <a:latin typeface="Barlow Condensed" pitchFamily="34" charset="0"/>
                <a:ea typeface="Barlow Condensed" pitchFamily="34" charset="-122"/>
                <a:cs typeface="Barlow Condensed" pitchFamily="34" charset="-120"/>
              </a:rPr>
              <a:t>Darker means larger</a:t>
            </a:r>
            <a:endParaRPr lang="en-US" sz="1700" dirty="0"/>
          </a:p>
        </p:txBody>
      </p:sp>
      <p:sp>
        <p:nvSpPr>
          <p:cNvPr id="24" name="Text 22"/>
          <p:cNvSpPr/>
          <p:nvPr/>
        </p:nvSpPr>
        <p:spPr>
          <a:xfrm>
            <a:off x="8140700" y="4039871"/>
            <a:ext cx="3165602" cy="45466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EFB5B9"/>
                </a:solidFill>
                <a:latin typeface="Barlow" pitchFamily="34" charset="0"/>
                <a:ea typeface="Barlow" pitchFamily="34" charset="-122"/>
                <a:cs typeface="Barlow" pitchFamily="34" charset="-120"/>
              </a:rPr>
              <a:t>The darkest shade is the biggest group in most charts.</a:t>
            </a:r>
            <a:endParaRPr lang="en-US" sz="1300" dirty="0"/>
          </a:p>
        </p:txBody>
      </p:sp>
      <p:sp>
        <p:nvSpPr>
          <p:cNvPr id="25" name="Text 23"/>
          <p:cNvSpPr/>
          <p:nvPr/>
        </p:nvSpPr>
        <p:spPr>
          <a:xfrm>
            <a:off x="812800" y="6238239"/>
            <a:ext cx="91567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0AB"/>
                </a:solidFill>
                <a:latin typeface="Barlow" pitchFamily="34" charset="0"/>
                <a:ea typeface="Barlow" pitchFamily="34" charset="-122"/>
                <a:cs typeface="Barlow" pitchFamily="34" charset="-120"/>
              </a:rPr>
              <a:t>Students Performance Dashboard · Project brief · 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20232A"/>
        </a:solidFill>
      </p:bgPr>
    </p:bg>
    <p:spTree>
      <p:nvGrpSpPr>
        <p:cNvPr id="1" name=""/>
        <p:cNvGrpSpPr/>
        <p:nvPr/>
      </p:nvGrpSpPr>
      <p:grpSpPr>
        <a:xfrm>
          <a:off x="0" y="0"/>
          <a:ext cx="0" cy="0"/>
          <a:chOff x="0" y="0"/>
          <a:chExt cx="0" cy="0"/>
        </a:xfrm>
      </p:grpSpPr>
      <p:pic>
        <p:nvPicPr>
          <p:cNvPr id="2" name="Image 0" descr="Dashboard page 1: students performance">    </p:cNvPr>
          <p:cNvPicPr>
            <a:picLocks noChangeAspect="1"/>
          </p:cNvPicPr>
          <p:nvPr/>
        </p:nvPicPr>
        <p:blipFill>
          <a:blip r:embed="rId1"/>
          <a:srcRect l="0" r="0" t="-50" b="-50"/>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20232A"/>
        </a:solidFill>
      </p:bgPr>
    </p:bg>
    <p:spTree>
      <p:nvGrpSpPr>
        <p:cNvPr id="1" name=""/>
        <p:cNvGrpSpPr/>
        <p:nvPr/>
      </p:nvGrpSpPr>
      <p:grpSpPr>
        <a:xfrm>
          <a:off x="0" y="0"/>
          <a:ext cx="0" cy="0"/>
          <a:chOff x="0" y="0"/>
          <a:chExt cx="0" cy="0"/>
        </a:xfrm>
      </p:grpSpPr>
      <p:sp>
        <p:nvSpPr>
          <p:cNvPr id="2" name="Text 0"/>
          <p:cNvSpPr/>
          <p:nvPr/>
        </p:nvSpPr>
        <p:spPr>
          <a:xfrm>
            <a:off x="609600" y="457200"/>
            <a:ext cx="11301984"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E66C37"/>
                </a:solidFill>
                <a:latin typeface="Barlow" pitchFamily="34" charset="0"/>
                <a:ea typeface="Barlow" pitchFamily="34" charset="-122"/>
                <a:cs typeface="Barlow" pitchFamily="34" charset="-120"/>
              </a:rPr>
              <a:t>PAGE 1 · STUDENT PROFILE</a:t>
            </a:r>
            <a:endParaRPr lang="en-US" sz="1400" dirty="0"/>
          </a:p>
        </p:txBody>
      </p:sp>
      <p:sp>
        <p:nvSpPr>
          <p:cNvPr id="3" name="Text 1"/>
          <p:cNvSpPr/>
          <p:nvPr>
            <p:ph type="title"/>
          </p:nvPr>
        </p:nvSpPr>
        <p:spPr>
          <a:xfrm>
            <a:off x="609600" y="909321"/>
            <a:ext cx="11301984" cy="41656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FFFFFF"/>
                </a:solidFill>
                <a:latin typeface="Barlow Condensed" pitchFamily="34" charset="0"/>
                <a:ea typeface="Barlow Condensed" pitchFamily="34" charset="-122"/>
                <a:cs typeface="Barlow Condensed" pitchFamily="34" charset="-120"/>
              </a:rPr>
              <a:t>Each visual and its job</a:t>
            </a:r>
            <a:endParaRPr lang="en-US" sz="2800" dirty="0"/>
          </a:p>
        </p:txBody>
      </p:sp>
      <p:sp>
        <p:nvSpPr>
          <p:cNvPr id="4" name="Shape 2"/>
          <p:cNvSpPr/>
          <p:nvPr/>
        </p:nvSpPr>
        <p:spPr>
          <a:xfrm>
            <a:off x="619125" y="1513207"/>
            <a:ext cx="10953750" cy="3135630"/>
          </a:xfrm>
          <a:prstGeom prst="roundRect">
            <a:avLst>
              <a:gd name="adj" fmla="val 3746"/>
            </a:avLst>
          </a:prstGeom>
          <a:solidFill>
            <a:srgbClr val="F4F4EF"/>
          </a:solidFill>
          <a:ln w="19050">
            <a:solidFill>
              <a:srgbClr val="A01D26"/>
            </a:solidFill>
            <a:prstDash val="solid"/>
          </a:ln>
        </p:spPr>
      </p:sp>
      <p:sp>
        <p:nvSpPr>
          <p:cNvPr id="5" name="Shape 3"/>
          <p:cNvSpPr/>
          <p:nvPr/>
        </p:nvSpPr>
        <p:spPr>
          <a:xfrm>
            <a:off x="624840" y="1518921"/>
            <a:ext cx="10942320" cy="342900"/>
          </a:xfrm>
          <a:custGeom>
            <a:avLst/>
            <a:gdLst/>
            <a:ahLst/>
            <a:cxnLst/>
            <a:rect l="l" t="t" r="r" b="b"/>
            <a:pathLst>
              <a:path w="10942320" h="342900">
                <a:moveTo>
                  <a:pt x="101600" y="0"/>
                </a:moveTo>
                <a:lnTo>
                  <a:pt x="10840720" y="0"/>
                </a:lnTo>
                <a:arcTo hR="101600" wR="101600" stAng="16200000" swAng="5400000"/>
                <a:lnTo>
                  <a:pt x="10942320" y="342900"/>
                </a:lnTo>
                <a:lnTo>
                  <a:pt x="0" y="342900"/>
                </a:lnTo>
                <a:lnTo>
                  <a:pt x="0" y="101600"/>
                </a:lnTo>
                <a:arcTo hR="101600" wR="101600" stAng="10800000" swAng="5400000"/>
                <a:close/>
              </a:path>
            </a:pathLst>
          </a:custGeom>
          <a:solidFill>
            <a:srgbClr val="A01D26"/>
          </a:solidFill>
          <a:ln/>
        </p:spPr>
      </p:sp>
      <p:sp>
        <p:nvSpPr>
          <p:cNvPr id="6" name="Text 4"/>
          <p:cNvSpPr/>
          <p:nvPr/>
        </p:nvSpPr>
        <p:spPr>
          <a:xfrm>
            <a:off x="764540" y="1595121"/>
            <a:ext cx="2092960"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FFFFFF"/>
                </a:solidFill>
                <a:latin typeface="Barlow" pitchFamily="34" charset="0"/>
                <a:ea typeface="Barlow" pitchFamily="34" charset="-122"/>
                <a:cs typeface="Barlow" pitchFamily="34" charset="-120"/>
              </a:rPr>
              <a:t>Visual</a:t>
            </a:r>
            <a:endParaRPr lang="en-US" sz="1200" dirty="0"/>
          </a:p>
        </p:txBody>
      </p:sp>
      <p:sp>
        <p:nvSpPr>
          <p:cNvPr id="7" name="Text 5"/>
          <p:cNvSpPr/>
          <p:nvPr/>
        </p:nvSpPr>
        <p:spPr>
          <a:xfrm>
            <a:off x="2898140" y="1595121"/>
            <a:ext cx="1511300"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FFFFFF"/>
                </a:solidFill>
                <a:latin typeface="Barlow" pitchFamily="34" charset="0"/>
                <a:ea typeface="Barlow" pitchFamily="34" charset="-122"/>
                <a:cs typeface="Barlow" pitchFamily="34" charset="-120"/>
              </a:rPr>
              <a:t>Chart type</a:t>
            </a:r>
            <a:endParaRPr lang="en-US" sz="1200" dirty="0"/>
          </a:p>
        </p:txBody>
      </p:sp>
      <p:sp>
        <p:nvSpPr>
          <p:cNvPr id="8" name="Text 6"/>
          <p:cNvSpPr/>
          <p:nvPr/>
        </p:nvSpPr>
        <p:spPr>
          <a:xfrm>
            <a:off x="4460240" y="1595121"/>
            <a:ext cx="4251325"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FFFFFF"/>
                </a:solidFill>
                <a:latin typeface="Barlow" pitchFamily="34" charset="0"/>
                <a:ea typeface="Barlow" pitchFamily="34" charset="-122"/>
                <a:cs typeface="Barlow" pitchFamily="34" charset="-120"/>
              </a:rPr>
              <a:t>Question it answers</a:t>
            </a:r>
            <a:endParaRPr lang="en-US" sz="1200" dirty="0"/>
          </a:p>
        </p:txBody>
      </p:sp>
      <p:sp>
        <p:nvSpPr>
          <p:cNvPr id="9" name="Text 7"/>
          <p:cNvSpPr/>
          <p:nvPr/>
        </p:nvSpPr>
        <p:spPr>
          <a:xfrm>
            <a:off x="8689340" y="1595121"/>
            <a:ext cx="3074035"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FFFFFF"/>
                </a:solidFill>
                <a:latin typeface="Barlow" pitchFamily="34" charset="0"/>
                <a:ea typeface="Barlow" pitchFamily="34" charset="-122"/>
                <a:cs typeface="Barlow" pitchFamily="34" charset="-120"/>
              </a:rPr>
              <a:t>Measures</a:t>
            </a:r>
            <a:endParaRPr lang="en-US" sz="1200" dirty="0"/>
          </a:p>
        </p:txBody>
      </p:sp>
      <p:sp>
        <p:nvSpPr>
          <p:cNvPr id="10" name="Shape 8"/>
          <p:cNvSpPr/>
          <p:nvPr/>
        </p:nvSpPr>
        <p:spPr>
          <a:xfrm>
            <a:off x="624840" y="1861821"/>
            <a:ext cx="10942320" cy="342900"/>
          </a:xfrm>
          <a:prstGeom prst="rect">
            <a:avLst/>
          </a:prstGeom>
          <a:solidFill>
            <a:srgbClr val="F4F4EF"/>
          </a:solidFill>
          <a:ln/>
        </p:spPr>
      </p:sp>
      <p:sp>
        <p:nvSpPr>
          <p:cNvPr id="11" name="Text 9"/>
          <p:cNvSpPr/>
          <p:nvPr/>
        </p:nvSpPr>
        <p:spPr>
          <a:xfrm>
            <a:off x="764540" y="1938021"/>
            <a:ext cx="209296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2B1A1C"/>
                </a:solidFill>
                <a:latin typeface="Barlow" pitchFamily="34" charset="0"/>
                <a:ea typeface="Barlow" pitchFamily="34" charset="-122"/>
                <a:cs typeface="Barlow" pitchFamily="34" charset="-120"/>
              </a:rPr>
              <a:t>Slicers</a:t>
            </a:r>
            <a:endParaRPr lang="en-US" sz="1200" dirty="0"/>
          </a:p>
        </p:txBody>
      </p:sp>
      <p:sp>
        <p:nvSpPr>
          <p:cNvPr id="12" name="Text 10"/>
          <p:cNvSpPr/>
          <p:nvPr/>
        </p:nvSpPr>
        <p:spPr>
          <a:xfrm>
            <a:off x="2898140" y="1938021"/>
            <a:ext cx="15113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2B1A1C"/>
                </a:solidFill>
                <a:latin typeface="Barlow" pitchFamily="34" charset="0"/>
                <a:ea typeface="Barlow" pitchFamily="34" charset="-122"/>
                <a:cs typeface="Barlow" pitchFamily="34" charset="-120"/>
              </a:rPr>
              <a:t>Dropdowns</a:t>
            </a:r>
            <a:endParaRPr lang="en-US" sz="1200" dirty="0"/>
          </a:p>
        </p:txBody>
      </p:sp>
      <p:sp>
        <p:nvSpPr>
          <p:cNvPr id="13" name="Text 11"/>
          <p:cNvSpPr/>
          <p:nvPr/>
        </p:nvSpPr>
        <p:spPr>
          <a:xfrm>
            <a:off x="4460240" y="1938021"/>
            <a:ext cx="4251325"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2B1A1C"/>
                </a:solidFill>
                <a:latin typeface="Barlow" pitchFamily="34" charset="0"/>
                <a:ea typeface="Barlow" pitchFamily="34" charset="-122"/>
                <a:cs typeface="Barlow" pitchFamily="34" charset="-120"/>
              </a:rPr>
              <a:t>Which group are we looking at?</a:t>
            </a:r>
            <a:endParaRPr lang="en-US" sz="1200" dirty="0"/>
          </a:p>
        </p:txBody>
      </p:sp>
      <p:sp>
        <p:nvSpPr>
          <p:cNvPr id="14" name="Text 12"/>
          <p:cNvSpPr/>
          <p:nvPr/>
        </p:nvSpPr>
        <p:spPr>
          <a:xfrm>
            <a:off x="8689340" y="1938021"/>
            <a:ext cx="3074035"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2B1A1C"/>
                </a:solidFill>
                <a:latin typeface="Barlow" pitchFamily="34" charset="0"/>
                <a:ea typeface="Barlow" pitchFamily="34" charset="-122"/>
                <a:cs typeface="Barlow" pitchFamily="34" charset="-120"/>
              </a:rPr>
              <a:t>Address, Age, Gender</a:t>
            </a:r>
            <a:endParaRPr lang="en-US" sz="1200" dirty="0"/>
          </a:p>
        </p:txBody>
      </p:sp>
      <p:sp>
        <p:nvSpPr>
          <p:cNvPr id="15" name="Shape 13"/>
          <p:cNvSpPr/>
          <p:nvPr/>
        </p:nvSpPr>
        <p:spPr>
          <a:xfrm>
            <a:off x="624840" y="2204721"/>
            <a:ext cx="10942320" cy="533400"/>
          </a:xfrm>
          <a:prstGeom prst="rect">
            <a:avLst/>
          </a:prstGeom>
          <a:solidFill>
            <a:srgbClr val="E6E6DE"/>
          </a:solidFill>
          <a:ln/>
        </p:spPr>
      </p:sp>
      <p:sp>
        <p:nvSpPr>
          <p:cNvPr id="16" name="Text 14"/>
          <p:cNvSpPr/>
          <p:nvPr/>
        </p:nvSpPr>
        <p:spPr>
          <a:xfrm>
            <a:off x="764540" y="2280921"/>
            <a:ext cx="2092960"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2B1A1C"/>
                </a:solidFill>
                <a:latin typeface="Barlow" pitchFamily="34" charset="0"/>
                <a:ea typeface="Barlow" pitchFamily="34" charset="-122"/>
                <a:cs typeface="Barlow" pitchFamily="34" charset="-120"/>
              </a:rPr>
              <a:t>KPI cards</a:t>
            </a:r>
            <a:endParaRPr lang="en-US" sz="1200" dirty="0"/>
          </a:p>
        </p:txBody>
      </p:sp>
      <p:sp>
        <p:nvSpPr>
          <p:cNvPr id="17" name="Text 15"/>
          <p:cNvSpPr/>
          <p:nvPr/>
        </p:nvSpPr>
        <p:spPr>
          <a:xfrm>
            <a:off x="2898140" y="2280921"/>
            <a:ext cx="1511300"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2B1A1C"/>
                </a:solidFill>
                <a:latin typeface="Barlow" pitchFamily="34" charset="0"/>
                <a:ea typeface="Barlow" pitchFamily="34" charset="-122"/>
                <a:cs typeface="Barlow" pitchFamily="34" charset="-120"/>
              </a:rPr>
              <a:t>Cards</a:t>
            </a:r>
            <a:endParaRPr lang="en-US" sz="1200" dirty="0"/>
          </a:p>
        </p:txBody>
      </p:sp>
      <p:sp>
        <p:nvSpPr>
          <p:cNvPr id="18" name="Text 16"/>
          <p:cNvSpPr/>
          <p:nvPr/>
        </p:nvSpPr>
        <p:spPr>
          <a:xfrm>
            <a:off x="4460240" y="2280921"/>
            <a:ext cx="4251325"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2B1A1C"/>
                </a:solidFill>
                <a:latin typeface="Barlow" pitchFamily="34" charset="0"/>
                <a:ea typeface="Barlow" pitchFamily="34" charset="-122"/>
                <a:cs typeface="Barlow" pitchFamily="34" charset="-120"/>
              </a:rPr>
              <a:t>How big and how engaged is the group?</a:t>
            </a:r>
            <a:endParaRPr lang="en-US" sz="1200" dirty="0"/>
          </a:p>
        </p:txBody>
      </p:sp>
      <p:sp>
        <p:nvSpPr>
          <p:cNvPr id="19" name="Text 17"/>
          <p:cNvSpPr/>
          <p:nvPr/>
        </p:nvSpPr>
        <p:spPr>
          <a:xfrm>
            <a:off x="8689340" y="2280921"/>
            <a:ext cx="3074035"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2B1A1C"/>
                </a:solidFill>
                <a:latin typeface="Barlow" pitchFamily="34" charset="0"/>
                <a:ea typeface="Barlow" pitchFamily="34" charset="-122"/>
                <a:cs typeface="Barlow" pitchFamily="34" charset="-120"/>
              </a:rPr>
              <a:t>Average age, student count, students in a relationship, average absences</a:t>
            </a:r>
            <a:endParaRPr lang="en-US" sz="1200" dirty="0"/>
          </a:p>
        </p:txBody>
      </p:sp>
      <p:sp>
        <p:nvSpPr>
          <p:cNvPr id="20" name="Shape 18"/>
          <p:cNvSpPr/>
          <p:nvPr/>
        </p:nvSpPr>
        <p:spPr>
          <a:xfrm>
            <a:off x="624840" y="2738121"/>
            <a:ext cx="10942320" cy="342900"/>
          </a:xfrm>
          <a:prstGeom prst="rect">
            <a:avLst/>
          </a:prstGeom>
          <a:solidFill>
            <a:srgbClr val="F4F4EF"/>
          </a:solidFill>
          <a:ln/>
        </p:spPr>
      </p:sp>
      <p:sp>
        <p:nvSpPr>
          <p:cNvPr id="21" name="Text 19"/>
          <p:cNvSpPr/>
          <p:nvPr/>
        </p:nvSpPr>
        <p:spPr>
          <a:xfrm>
            <a:off x="764540" y="2814321"/>
            <a:ext cx="209296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2B1A1C"/>
                </a:solidFill>
                <a:latin typeface="Barlow" pitchFamily="34" charset="0"/>
                <a:ea typeface="Barlow" pitchFamily="34" charset="-122"/>
                <a:cs typeface="Barlow" pitchFamily="34" charset="-120"/>
              </a:rPr>
              <a:t>Students by school</a:t>
            </a:r>
            <a:endParaRPr lang="en-US" sz="1200" dirty="0"/>
          </a:p>
        </p:txBody>
      </p:sp>
      <p:sp>
        <p:nvSpPr>
          <p:cNvPr id="22" name="Text 20"/>
          <p:cNvSpPr/>
          <p:nvPr/>
        </p:nvSpPr>
        <p:spPr>
          <a:xfrm>
            <a:off x="2898140" y="2814321"/>
            <a:ext cx="15113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2B1A1C"/>
                </a:solidFill>
                <a:latin typeface="Barlow" pitchFamily="34" charset="0"/>
                <a:ea typeface="Barlow" pitchFamily="34" charset="-122"/>
                <a:cs typeface="Barlow" pitchFamily="34" charset="-120"/>
              </a:rPr>
              <a:t>Donut</a:t>
            </a:r>
            <a:endParaRPr lang="en-US" sz="1200" dirty="0"/>
          </a:p>
        </p:txBody>
      </p:sp>
      <p:sp>
        <p:nvSpPr>
          <p:cNvPr id="23" name="Text 21"/>
          <p:cNvSpPr/>
          <p:nvPr/>
        </p:nvSpPr>
        <p:spPr>
          <a:xfrm>
            <a:off x="4460240" y="2814321"/>
            <a:ext cx="4251325"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2B1A1C"/>
                </a:solidFill>
                <a:latin typeface="Barlow" pitchFamily="34" charset="0"/>
                <a:ea typeface="Barlow" pitchFamily="34" charset="-122"/>
                <a:cs typeface="Barlow" pitchFamily="34" charset="-120"/>
              </a:rPr>
              <a:t>How are students split between the schools?</a:t>
            </a:r>
            <a:endParaRPr lang="en-US" sz="1200" dirty="0"/>
          </a:p>
        </p:txBody>
      </p:sp>
      <p:sp>
        <p:nvSpPr>
          <p:cNvPr id="24" name="Text 22"/>
          <p:cNvSpPr/>
          <p:nvPr/>
        </p:nvSpPr>
        <p:spPr>
          <a:xfrm>
            <a:off x="8689340" y="2814321"/>
            <a:ext cx="3074035"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2B1A1C"/>
                </a:solidFill>
                <a:latin typeface="Barlow" pitchFamily="34" charset="0"/>
                <a:ea typeface="Barlow" pitchFamily="34" charset="-122"/>
                <a:cs typeface="Barlow" pitchFamily="34" charset="-120"/>
              </a:rPr>
              <a:t>Count of students by school</a:t>
            </a:r>
            <a:endParaRPr lang="en-US" sz="1200" dirty="0"/>
          </a:p>
        </p:txBody>
      </p:sp>
      <p:sp>
        <p:nvSpPr>
          <p:cNvPr id="25" name="Shape 23"/>
          <p:cNvSpPr/>
          <p:nvPr/>
        </p:nvSpPr>
        <p:spPr>
          <a:xfrm>
            <a:off x="624840" y="3081021"/>
            <a:ext cx="10942320" cy="533400"/>
          </a:xfrm>
          <a:prstGeom prst="rect">
            <a:avLst/>
          </a:prstGeom>
          <a:solidFill>
            <a:srgbClr val="E6E6DE"/>
          </a:solidFill>
          <a:ln/>
        </p:spPr>
      </p:sp>
      <p:sp>
        <p:nvSpPr>
          <p:cNvPr id="26" name="Text 24"/>
          <p:cNvSpPr/>
          <p:nvPr/>
        </p:nvSpPr>
        <p:spPr>
          <a:xfrm>
            <a:off x="764540" y="3157221"/>
            <a:ext cx="2092960"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2B1A1C"/>
                </a:solidFill>
                <a:latin typeface="Barlow" pitchFamily="34" charset="0"/>
                <a:ea typeface="Barlow" pitchFamily="34" charset="-122"/>
                <a:cs typeface="Barlow" pitchFamily="34" charset="-120"/>
              </a:rPr>
              <a:t>Reason and school</a:t>
            </a:r>
            <a:endParaRPr lang="en-US" sz="1200" dirty="0"/>
          </a:p>
        </p:txBody>
      </p:sp>
      <p:sp>
        <p:nvSpPr>
          <p:cNvPr id="27" name="Text 25"/>
          <p:cNvSpPr/>
          <p:nvPr/>
        </p:nvSpPr>
        <p:spPr>
          <a:xfrm>
            <a:off x="2898140" y="3157221"/>
            <a:ext cx="1511300"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2B1A1C"/>
                </a:solidFill>
                <a:latin typeface="Barlow" pitchFamily="34" charset="0"/>
                <a:ea typeface="Barlow" pitchFamily="34" charset="-122"/>
                <a:cs typeface="Barlow" pitchFamily="34" charset="-120"/>
              </a:rPr>
              <a:t>Treemap</a:t>
            </a:r>
            <a:endParaRPr lang="en-US" sz="1200" dirty="0"/>
          </a:p>
        </p:txBody>
      </p:sp>
      <p:sp>
        <p:nvSpPr>
          <p:cNvPr id="28" name="Text 26"/>
          <p:cNvSpPr/>
          <p:nvPr/>
        </p:nvSpPr>
        <p:spPr>
          <a:xfrm>
            <a:off x="4460240" y="3157221"/>
            <a:ext cx="4251325"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2B1A1C"/>
                </a:solidFill>
                <a:latin typeface="Barlow" pitchFamily="34" charset="0"/>
                <a:ea typeface="Barlow" pitchFamily="34" charset="-122"/>
                <a:cs typeface="Barlow" pitchFamily="34" charset="-120"/>
              </a:rPr>
              <a:t>Why did students pick their school?</a:t>
            </a:r>
            <a:endParaRPr lang="en-US" sz="1200" dirty="0"/>
          </a:p>
        </p:txBody>
      </p:sp>
      <p:sp>
        <p:nvSpPr>
          <p:cNvPr id="29" name="Text 27"/>
          <p:cNvSpPr/>
          <p:nvPr/>
        </p:nvSpPr>
        <p:spPr>
          <a:xfrm>
            <a:off x="8689340" y="3157221"/>
            <a:ext cx="3074035"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2B1A1C"/>
                </a:solidFill>
                <a:latin typeface="Barlow" pitchFamily="34" charset="0"/>
                <a:ea typeface="Barlow" pitchFamily="34" charset="-122"/>
                <a:cs typeface="Barlow" pitchFamily="34" charset="-120"/>
              </a:rPr>
              <a:t>Count by reason (course, home, reputation, other) and school</a:t>
            </a:r>
            <a:endParaRPr lang="en-US" sz="1200" dirty="0"/>
          </a:p>
        </p:txBody>
      </p:sp>
      <p:sp>
        <p:nvSpPr>
          <p:cNvPr id="30" name="Shape 28"/>
          <p:cNvSpPr/>
          <p:nvPr/>
        </p:nvSpPr>
        <p:spPr>
          <a:xfrm>
            <a:off x="624840" y="3614421"/>
            <a:ext cx="10942320" cy="342900"/>
          </a:xfrm>
          <a:prstGeom prst="rect">
            <a:avLst/>
          </a:prstGeom>
          <a:solidFill>
            <a:srgbClr val="F4F4EF"/>
          </a:solidFill>
          <a:ln/>
        </p:spPr>
      </p:sp>
      <p:sp>
        <p:nvSpPr>
          <p:cNvPr id="31" name="Text 29"/>
          <p:cNvSpPr/>
          <p:nvPr/>
        </p:nvSpPr>
        <p:spPr>
          <a:xfrm>
            <a:off x="764540" y="3690621"/>
            <a:ext cx="209296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2B1A1C"/>
                </a:solidFill>
                <a:latin typeface="Barlow" pitchFamily="34" charset="0"/>
                <a:ea typeface="Barlow" pitchFamily="34" charset="-122"/>
                <a:cs typeface="Barlow" pitchFamily="34" charset="-120"/>
              </a:rPr>
              <a:t>Absences by school</a:t>
            </a:r>
            <a:endParaRPr lang="en-US" sz="1200" dirty="0"/>
          </a:p>
        </p:txBody>
      </p:sp>
      <p:sp>
        <p:nvSpPr>
          <p:cNvPr id="32" name="Text 30"/>
          <p:cNvSpPr/>
          <p:nvPr/>
        </p:nvSpPr>
        <p:spPr>
          <a:xfrm>
            <a:off x="2898140" y="3690621"/>
            <a:ext cx="15113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2B1A1C"/>
                </a:solidFill>
                <a:latin typeface="Barlow" pitchFamily="34" charset="0"/>
                <a:ea typeface="Barlow" pitchFamily="34" charset="-122"/>
                <a:cs typeface="Barlow" pitchFamily="34" charset="-120"/>
              </a:rPr>
              <a:t>Column</a:t>
            </a:r>
            <a:endParaRPr lang="en-US" sz="1200" dirty="0"/>
          </a:p>
        </p:txBody>
      </p:sp>
      <p:sp>
        <p:nvSpPr>
          <p:cNvPr id="33" name="Text 31"/>
          <p:cNvSpPr/>
          <p:nvPr/>
        </p:nvSpPr>
        <p:spPr>
          <a:xfrm>
            <a:off x="4460240" y="3690621"/>
            <a:ext cx="4251325"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2B1A1C"/>
                </a:solidFill>
                <a:latin typeface="Barlow" pitchFamily="34" charset="0"/>
                <a:ea typeface="Barlow" pitchFamily="34" charset="-122"/>
                <a:cs typeface="Barlow" pitchFamily="34" charset="-120"/>
              </a:rPr>
              <a:t>Which school has more absences?</a:t>
            </a:r>
            <a:endParaRPr lang="en-US" sz="1200" dirty="0"/>
          </a:p>
        </p:txBody>
      </p:sp>
      <p:sp>
        <p:nvSpPr>
          <p:cNvPr id="34" name="Text 32"/>
          <p:cNvSpPr/>
          <p:nvPr/>
        </p:nvSpPr>
        <p:spPr>
          <a:xfrm>
            <a:off x="8689340" y="3690621"/>
            <a:ext cx="3074035"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2B1A1C"/>
                </a:solidFill>
                <a:latin typeface="Barlow" pitchFamily="34" charset="0"/>
                <a:ea typeface="Barlow" pitchFamily="34" charset="-122"/>
                <a:cs typeface="Barlow" pitchFamily="34" charset="-120"/>
              </a:rPr>
              <a:t>Average absences per school</a:t>
            </a:r>
            <a:endParaRPr lang="en-US" sz="1200" dirty="0"/>
          </a:p>
        </p:txBody>
      </p:sp>
      <p:sp>
        <p:nvSpPr>
          <p:cNvPr id="35" name="Shape 33"/>
          <p:cNvSpPr/>
          <p:nvPr/>
        </p:nvSpPr>
        <p:spPr>
          <a:xfrm>
            <a:off x="624840" y="3957321"/>
            <a:ext cx="10942320" cy="342900"/>
          </a:xfrm>
          <a:prstGeom prst="rect">
            <a:avLst/>
          </a:prstGeom>
          <a:solidFill>
            <a:srgbClr val="E6E6DE"/>
          </a:solidFill>
          <a:ln/>
        </p:spPr>
      </p:sp>
      <p:sp>
        <p:nvSpPr>
          <p:cNvPr id="36" name="Text 34"/>
          <p:cNvSpPr/>
          <p:nvPr/>
        </p:nvSpPr>
        <p:spPr>
          <a:xfrm>
            <a:off x="764540" y="4033521"/>
            <a:ext cx="209296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2B1A1C"/>
                </a:solidFill>
                <a:latin typeface="Barlow" pitchFamily="34" charset="0"/>
                <a:ea typeface="Barlow" pitchFamily="34" charset="-122"/>
                <a:cs typeface="Barlow" pitchFamily="34" charset="-120"/>
              </a:rPr>
              <a:t>Travel time</a:t>
            </a:r>
            <a:endParaRPr lang="en-US" sz="1200" dirty="0"/>
          </a:p>
        </p:txBody>
      </p:sp>
      <p:sp>
        <p:nvSpPr>
          <p:cNvPr id="37" name="Text 35"/>
          <p:cNvSpPr/>
          <p:nvPr/>
        </p:nvSpPr>
        <p:spPr>
          <a:xfrm>
            <a:off x="2898140" y="4033521"/>
            <a:ext cx="15113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2B1A1C"/>
                </a:solidFill>
                <a:latin typeface="Barlow" pitchFamily="34" charset="0"/>
                <a:ea typeface="Barlow" pitchFamily="34" charset="-122"/>
                <a:cs typeface="Barlow" pitchFamily="34" charset="-120"/>
              </a:rPr>
              <a:t>Pie</a:t>
            </a:r>
            <a:endParaRPr lang="en-US" sz="1200" dirty="0"/>
          </a:p>
        </p:txBody>
      </p:sp>
      <p:sp>
        <p:nvSpPr>
          <p:cNvPr id="38" name="Text 36"/>
          <p:cNvSpPr/>
          <p:nvPr/>
        </p:nvSpPr>
        <p:spPr>
          <a:xfrm>
            <a:off x="4460240" y="4033521"/>
            <a:ext cx="4251325"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2B1A1C"/>
                </a:solidFill>
                <a:latin typeface="Barlow" pitchFamily="34" charset="0"/>
                <a:ea typeface="Barlow" pitchFamily="34" charset="-122"/>
                <a:cs typeface="Barlow" pitchFamily="34" charset="-120"/>
              </a:rPr>
              <a:t>How long is the trip to school?</a:t>
            </a:r>
            <a:endParaRPr lang="en-US" sz="1200" dirty="0"/>
          </a:p>
        </p:txBody>
      </p:sp>
      <p:sp>
        <p:nvSpPr>
          <p:cNvPr id="39" name="Text 37"/>
          <p:cNvSpPr/>
          <p:nvPr/>
        </p:nvSpPr>
        <p:spPr>
          <a:xfrm>
            <a:off x="8689340" y="4033521"/>
            <a:ext cx="3074035"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2B1A1C"/>
                </a:solidFill>
                <a:latin typeface="Barlow" pitchFamily="34" charset="0"/>
                <a:ea typeface="Barlow" pitchFamily="34" charset="-122"/>
                <a:cs typeface="Barlow" pitchFamily="34" charset="-120"/>
              </a:rPr>
              <a:t>Count of students by travel time</a:t>
            </a:r>
            <a:endParaRPr lang="en-US" sz="1200" dirty="0"/>
          </a:p>
        </p:txBody>
      </p:sp>
      <p:sp>
        <p:nvSpPr>
          <p:cNvPr id="40" name="Shape 38"/>
          <p:cNvSpPr/>
          <p:nvPr/>
        </p:nvSpPr>
        <p:spPr>
          <a:xfrm>
            <a:off x="624840" y="4300221"/>
            <a:ext cx="10942320" cy="342900"/>
          </a:xfrm>
          <a:prstGeom prst="rect">
            <a:avLst/>
          </a:prstGeom>
          <a:solidFill>
            <a:srgbClr val="F4F4EF"/>
          </a:solidFill>
          <a:ln/>
        </p:spPr>
      </p:sp>
      <p:sp>
        <p:nvSpPr>
          <p:cNvPr id="41" name="Text 39"/>
          <p:cNvSpPr/>
          <p:nvPr/>
        </p:nvSpPr>
        <p:spPr>
          <a:xfrm>
            <a:off x="764540" y="4376421"/>
            <a:ext cx="209296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2B1A1C"/>
                </a:solidFill>
                <a:latin typeface="Barlow" pitchFamily="34" charset="0"/>
                <a:ea typeface="Barlow" pitchFamily="34" charset="-122"/>
                <a:cs typeface="Barlow" pitchFamily="34" charset="-120"/>
              </a:rPr>
              <a:t>Grades by school</a:t>
            </a:r>
            <a:endParaRPr lang="en-US" sz="1200" dirty="0"/>
          </a:p>
        </p:txBody>
      </p:sp>
      <p:sp>
        <p:nvSpPr>
          <p:cNvPr id="42" name="Text 40"/>
          <p:cNvSpPr/>
          <p:nvPr/>
        </p:nvSpPr>
        <p:spPr>
          <a:xfrm>
            <a:off x="2898140" y="4376421"/>
            <a:ext cx="15113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2B1A1C"/>
                </a:solidFill>
                <a:latin typeface="Barlow" pitchFamily="34" charset="0"/>
                <a:ea typeface="Barlow" pitchFamily="34" charset="-122"/>
                <a:cs typeface="Barlow" pitchFamily="34" charset="-120"/>
              </a:rPr>
              <a:t>Clustered bar</a:t>
            </a:r>
            <a:endParaRPr lang="en-US" sz="1200" dirty="0"/>
          </a:p>
        </p:txBody>
      </p:sp>
      <p:sp>
        <p:nvSpPr>
          <p:cNvPr id="43" name="Text 41"/>
          <p:cNvSpPr/>
          <p:nvPr/>
        </p:nvSpPr>
        <p:spPr>
          <a:xfrm>
            <a:off x="4460240" y="4376421"/>
            <a:ext cx="4251325"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2B1A1C"/>
                </a:solidFill>
                <a:latin typeface="Barlow" pitchFamily="34" charset="0"/>
                <a:ea typeface="Barlow" pitchFamily="34" charset="-122"/>
                <a:cs typeface="Barlow" pitchFamily="34" charset="-120"/>
              </a:rPr>
              <a:t>How do the schools compare in each subject?</a:t>
            </a:r>
            <a:endParaRPr lang="en-US" sz="1200" dirty="0"/>
          </a:p>
        </p:txBody>
      </p:sp>
      <p:sp>
        <p:nvSpPr>
          <p:cNvPr id="44" name="Text 42"/>
          <p:cNvSpPr/>
          <p:nvPr/>
        </p:nvSpPr>
        <p:spPr>
          <a:xfrm>
            <a:off x="8689340" y="4376421"/>
            <a:ext cx="3074035"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2B1A1C"/>
                </a:solidFill>
                <a:latin typeface="Barlow" pitchFamily="34" charset="0"/>
                <a:ea typeface="Barlow" pitchFamily="34" charset="-122"/>
                <a:cs typeface="Barlow" pitchFamily="34" charset="-120"/>
              </a:rPr>
              <a:t>Average of Sub1, Sub2, Sub3 per school</a:t>
            </a:r>
            <a:endParaRPr lang="en-US" sz="1200" dirty="0"/>
          </a:p>
        </p:txBody>
      </p:sp>
      <p:sp>
        <p:nvSpPr>
          <p:cNvPr id="45" name="Text 43"/>
          <p:cNvSpPr/>
          <p:nvPr/>
        </p:nvSpPr>
        <p:spPr>
          <a:xfrm>
            <a:off x="812800" y="6238242"/>
            <a:ext cx="91567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0AB"/>
                </a:solidFill>
                <a:latin typeface="Barlow" pitchFamily="34" charset="0"/>
                <a:ea typeface="Barlow" pitchFamily="34" charset="-122"/>
                <a:cs typeface="Barlow" pitchFamily="34" charset="-120"/>
              </a:rPr>
              <a:t>Students Performance Dashboard · Project brief · 7</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20232A"/>
        </a:solidFill>
      </p:bgPr>
    </p:bg>
    <p:spTree>
      <p:nvGrpSpPr>
        <p:cNvPr id="1" name=""/>
        <p:cNvGrpSpPr/>
        <p:nvPr/>
      </p:nvGrpSpPr>
      <p:grpSpPr>
        <a:xfrm>
          <a:off x="0" y="0"/>
          <a:ext cx="0" cy="0"/>
          <a:chOff x="0" y="0"/>
          <a:chExt cx="0" cy="0"/>
        </a:xfrm>
      </p:grpSpPr>
      <p:sp>
        <p:nvSpPr>
          <p:cNvPr id="2" name="Text 0"/>
          <p:cNvSpPr/>
          <p:nvPr/>
        </p:nvSpPr>
        <p:spPr>
          <a:xfrm>
            <a:off x="812800" y="6096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E66C37"/>
                </a:solidFill>
                <a:latin typeface="Barlow" pitchFamily="34" charset="0"/>
                <a:ea typeface="Barlow" pitchFamily="34" charset="-122"/>
                <a:cs typeface="Barlow" pitchFamily="34" charset="-120"/>
              </a:rPr>
              <a:t>PAGE 1 · STUDENT PROFILE</a:t>
            </a:r>
            <a:endParaRPr lang="en-US" sz="1400" dirty="0"/>
          </a:p>
        </p:txBody>
      </p:sp>
      <p:sp>
        <p:nvSpPr>
          <p:cNvPr id="3" name="Text 1"/>
          <p:cNvSpPr/>
          <p:nvPr>
            <p:ph type="title"/>
          </p:nvPr>
        </p:nvSpPr>
        <p:spPr>
          <a:xfrm>
            <a:off x="812800" y="1061721"/>
            <a:ext cx="10883392" cy="500380"/>
          </a:xfrm>
          <a:prstGeom prst="rect">
            <a:avLst/>
          </a:prstGeom>
          <a:noFill/>
          <a:ln/>
        </p:spPr>
        <p:txBody>
          <a:bodyPr wrap="square" lIns="0" tIns="0" rIns="0" bIns="0" rtlCol="0" anchor="t">
            <a:normAutofit/>
          </a:bodyPr>
          <a:lstStyle/>
          <a:p>
            <a:pPr algn="l" indent="0" marL="0">
              <a:lnSpc>
                <a:spcPts val="3740"/>
              </a:lnSpc>
              <a:buNone/>
            </a:pPr>
            <a:r>
              <a:rPr lang="en-US" sz="3400" b="1" i="0" dirty="0">
                <a:solidFill>
                  <a:srgbClr val="FFFFFF"/>
                </a:solidFill>
                <a:latin typeface="Barlow Condensed" pitchFamily="34" charset="0"/>
                <a:ea typeface="Barlow Condensed" pitchFamily="34" charset="-122"/>
                <a:cs typeface="Barlow Condensed" pitchFamily="34" charset="-120"/>
              </a:rPr>
              <a:t>What we learned</a:t>
            </a:r>
            <a:endParaRPr lang="en-US" sz="3400" dirty="0"/>
          </a:p>
        </p:txBody>
      </p:sp>
      <p:sp>
        <p:nvSpPr>
          <p:cNvPr id="4" name="Shape 2"/>
          <p:cNvSpPr/>
          <p:nvPr/>
        </p:nvSpPr>
        <p:spPr>
          <a:xfrm>
            <a:off x="822325" y="1749425"/>
            <a:ext cx="3384550" cy="1328420"/>
          </a:xfrm>
          <a:prstGeom prst="roundRect">
            <a:avLst>
              <a:gd name="adj" fmla="val 8843"/>
            </a:avLst>
          </a:prstGeom>
          <a:solidFill>
            <a:srgbClr val="F4F4EF"/>
          </a:solidFill>
          <a:ln w="19050">
            <a:solidFill>
              <a:srgbClr val="A01D26"/>
            </a:solidFill>
            <a:prstDash val="solid"/>
          </a:ln>
        </p:spPr>
      </p:sp>
      <p:sp>
        <p:nvSpPr>
          <p:cNvPr id="5" name="Text 3"/>
          <p:cNvSpPr/>
          <p:nvPr/>
        </p:nvSpPr>
        <p:spPr>
          <a:xfrm>
            <a:off x="1005840" y="1920242"/>
            <a:ext cx="3108046" cy="532130"/>
          </a:xfrm>
          <a:prstGeom prst="rect">
            <a:avLst/>
          </a:prstGeom>
          <a:noFill/>
          <a:ln/>
        </p:spPr>
        <p:txBody>
          <a:bodyPr wrap="square" lIns="0" tIns="0" rIns="0" bIns="0" rtlCol="0" anchor="t">
            <a:normAutofit/>
          </a:bodyPr>
          <a:lstStyle/>
          <a:p>
            <a:pPr algn="l" indent="0" marL="0">
              <a:lnSpc>
                <a:spcPts val="3990"/>
              </a:lnSpc>
              <a:buNone/>
            </a:pPr>
            <a:r>
              <a:rPr lang="en-US" sz="3800" b="1" dirty="0">
                <a:solidFill>
                  <a:srgbClr val="A01D26"/>
                </a:solidFill>
                <a:latin typeface="Barlow Condensed" pitchFamily="34" charset="0"/>
                <a:ea typeface="Barlow Condensed" pitchFamily="34" charset="-122"/>
                <a:cs typeface="Barlow Condensed" pitchFamily="34" charset="-120"/>
              </a:rPr>
              <a:t>88%</a:t>
            </a:r>
            <a:endParaRPr lang="en-US" sz="3800" dirty="0"/>
          </a:p>
        </p:txBody>
      </p:sp>
      <p:sp>
        <p:nvSpPr>
          <p:cNvPr id="6" name="Text 4"/>
          <p:cNvSpPr/>
          <p:nvPr/>
        </p:nvSpPr>
        <p:spPr>
          <a:xfrm>
            <a:off x="1005840" y="2477771"/>
            <a:ext cx="3108046" cy="45466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2B1A1C"/>
                </a:solidFill>
                <a:latin typeface="Barlow" pitchFamily="34" charset="0"/>
                <a:ea typeface="Barlow" pitchFamily="34" charset="-122"/>
                <a:cs typeface="Barlow" pitchFamily="34" charset="-120"/>
              </a:rPr>
              <a:t>of the 397 students attend GP (350 students). MS has 47.</a:t>
            </a:r>
            <a:endParaRPr lang="en-US" sz="1300" dirty="0"/>
          </a:p>
        </p:txBody>
      </p:sp>
      <p:sp>
        <p:nvSpPr>
          <p:cNvPr id="7" name="Shape 5"/>
          <p:cNvSpPr/>
          <p:nvPr/>
        </p:nvSpPr>
        <p:spPr>
          <a:xfrm>
            <a:off x="4403725" y="1749425"/>
            <a:ext cx="3384550" cy="1328420"/>
          </a:xfrm>
          <a:prstGeom prst="roundRect">
            <a:avLst>
              <a:gd name="adj" fmla="val 8843"/>
            </a:avLst>
          </a:prstGeom>
          <a:solidFill>
            <a:srgbClr val="F4F4EF"/>
          </a:solidFill>
          <a:ln w="19050">
            <a:solidFill>
              <a:srgbClr val="A01D26"/>
            </a:solidFill>
            <a:prstDash val="solid"/>
          </a:ln>
        </p:spPr>
      </p:sp>
      <p:sp>
        <p:nvSpPr>
          <p:cNvPr id="8" name="Text 6"/>
          <p:cNvSpPr/>
          <p:nvPr/>
        </p:nvSpPr>
        <p:spPr>
          <a:xfrm>
            <a:off x="4587240" y="1920242"/>
            <a:ext cx="3108046" cy="532130"/>
          </a:xfrm>
          <a:prstGeom prst="rect">
            <a:avLst/>
          </a:prstGeom>
          <a:noFill/>
          <a:ln/>
        </p:spPr>
        <p:txBody>
          <a:bodyPr wrap="square" lIns="0" tIns="0" rIns="0" bIns="0" rtlCol="0" anchor="t">
            <a:normAutofit/>
          </a:bodyPr>
          <a:lstStyle/>
          <a:p>
            <a:pPr algn="l" indent="0" marL="0">
              <a:lnSpc>
                <a:spcPts val="3990"/>
              </a:lnSpc>
              <a:buNone/>
            </a:pPr>
            <a:r>
              <a:rPr lang="en-US" sz="3800" b="1" dirty="0">
                <a:solidFill>
                  <a:srgbClr val="A01D26"/>
                </a:solidFill>
                <a:latin typeface="Barlow Condensed" pitchFamily="34" charset="0"/>
                <a:ea typeface="Barlow Condensed" pitchFamily="34" charset="-122"/>
                <a:cs typeface="Barlow Condensed" pitchFamily="34" charset="-120"/>
              </a:rPr>
              <a:t>5.97 vs 3.68</a:t>
            </a:r>
            <a:endParaRPr lang="en-US" sz="3800" dirty="0"/>
          </a:p>
        </p:txBody>
      </p:sp>
      <p:sp>
        <p:nvSpPr>
          <p:cNvPr id="9" name="Text 7"/>
          <p:cNvSpPr/>
          <p:nvPr/>
        </p:nvSpPr>
        <p:spPr>
          <a:xfrm>
            <a:off x="4587240" y="2477771"/>
            <a:ext cx="3108046" cy="45466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2B1A1C"/>
                </a:solidFill>
                <a:latin typeface="Barlow" pitchFamily="34" charset="0"/>
                <a:ea typeface="Barlow" pitchFamily="34" charset="-122"/>
                <a:cs typeface="Barlow" pitchFamily="34" charset="-120"/>
              </a:rPr>
              <a:t>average absences per student in GP versus MS.</a:t>
            </a:r>
            <a:endParaRPr lang="en-US" sz="1300" dirty="0"/>
          </a:p>
        </p:txBody>
      </p:sp>
      <p:sp>
        <p:nvSpPr>
          <p:cNvPr id="10" name="Shape 8"/>
          <p:cNvSpPr/>
          <p:nvPr/>
        </p:nvSpPr>
        <p:spPr>
          <a:xfrm>
            <a:off x="7985125" y="1749425"/>
            <a:ext cx="3384550" cy="1328420"/>
          </a:xfrm>
          <a:prstGeom prst="roundRect">
            <a:avLst>
              <a:gd name="adj" fmla="val 8843"/>
            </a:avLst>
          </a:prstGeom>
          <a:solidFill>
            <a:srgbClr val="F4F4EF"/>
          </a:solidFill>
          <a:ln w="19050">
            <a:solidFill>
              <a:srgbClr val="A01D26"/>
            </a:solidFill>
            <a:prstDash val="solid"/>
          </a:ln>
        </p:spPr>
      </p:sp>
      <p:sp>
        <p:nvSpPr>
          <p:cNvPr id="11" name="Text 9"/>
          <p:cNvSpPr/>
          <p:nvPr/>
        </p:nvSpPr>
        <p:spPr>
          <a:xfrm>
            <a:off x="8168640" y="1920242"/>
            <a:ext cx="3108046" cy="532130"/>
          </a:xfrm>
          <a:prstGeom prst="rect">
            <a:avLst/>
          </a:prstGeom>
          <a:noFill/>
          <a:ln/>
        </p:spPr>
        <p:txBody>
          <a:bodyPr wrap="square" lIns="0" tIns="0" rIns="0" bIns="0" rtlCol="0" anchor="t">
            <a:normAutofit/>
          </a:bodyPr>
          <a:lstStyle/>
          <a:p>
            <a:pPr algn="l" indent="0" marL="0">
              <a:lnSpc>
                <a:spcPts val="3990"/>
              </a:lnSpc>
              <a:buNone/>
            </a:pPr>
            <a:r>
              <a:rPr lang="en-US" sz="3800" b="1" dirty="0">
                <a:solidFill>
                  <a:srgbClr val="A01D26"/>
                </a:solidFill>
                <a:latin typeface="Barlow Condensed" pitchFamily="34" charset="0"/>
                <a:ea typeface="Barlow Condensed" pitchFamily="34" charset="-122"/>
                <a:cs typeface="Barlow Condensed" pitchFamily="34" charset="-120"/>
              </a:rPr>
              <a:t>3 of 3</a:t>
            </a:r>
            <a:endParaRPr lang="en-US" sz="3800" dirty="0"/>
          </a:p>
        </p:txBody>
      </p:sp>
      <p:sp>
        <p:nvSpPr>
          <p:cNvPr id="12" name="Text 10"/>
          <p:cNvSpPr/>
          <p:nvPr/>
        </p:nvSpPr>
        <p:spPr>
          <a:xfrm>
            <a:off x="8168640" y="2477771"/>
            <a:ext cx="3108046" cy="45466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2B1A1C"/>
                </a:solidFill>
                <a:latin typeface="Barlow" pitchFamily="34" charset="0"/>
                <a:ea typeface="Barlow" pitchFamily="34" charset="-122"/>
                <a:cs typeface="Barlow" pitchFamily="34" charset="-120"/>
              </a:rPr>
              <a:t>subjects where GP leads MS. The gap grows from Sub1 (0.35) to Sub3 (0.84).</a:t>
            </a:r>
            <a:endParaRPr lang="en-US" sz="1300" dirty="0"/>
          </a:p>
        </p:txBody>
      </p:sp>
      <p:sp>
        <p:nvSpPr>
          <p:cNvPr id="13" name="Shape 11"/>
          <p:cNvSpPr/>
          <p:nvPr/>
        </p:nvSpPr>
        <p:spPr>
          <a:xfrm>
            <a:off x="822325" y="3300096"/>
            <a:ext cx="3384550" cy="1543050"/>
          </a:xfrm>
          <a:prstGeom prst="roundRect">
            <a:avLst>
              <a:gd name="adj" fmla="val 7613"/>
            </a:avLst>
          </a:prstGeom>
          <a:solidFill>
            <a:srgbClr val="F4F4EF"/>
          </a:solidFill>
          <a:ln w="19050">
            <a:solidFill>
              <a:srgbClr val="A01D26"/>
            </a:solidFill>
            <a:prstDash val="solid"/>
          </a:ln>
        </p:spPr>
      </p:sp>
      <p:sp>
        <p:nvSpPr>
          <p:cNvPr id="14" name="Text 12"/>
          <p:cNvSpPr/>
          <p:nvPr/>
        </p:nvSpPr>
        <p:spPr>
          <a:xfrm>
            <a:off x="1005840" y="3470914"/>
            <a:ext cx="3108046" cy="532130"/>
          </a:xfrm>
          <a:prstGeom prst="rect">
            <a:avLst/>
          </a:prstGeom>
          <a:noFill/>
          <a:ln/>
        </p:spPr>
        <p:txBody>
          <a:bodyPr wrap="square" lIns="0" tIns="0" rIns="0" bIns="0" rtlCol="0" anchor="t">
            <a:normAutofit/>
          </a:bodyPr>
          <a:lstStyle/>
          <a:p>
            <a:pPr algn="l" indent="0" marL="0">
              <a:lnSpc>
                <a:spcPts val="3990"/>
              </a:lnSpc>
              <a:buNone/>
            </a:pPr>
            <a:r>
              <a:rPr lang="en-US" sz="3800" b="1" dirty="0">
                <a:solidFill>
                  <a:srgbClr val="A01D26"/>
                </a:solidFill>
                <a:latin typeface="Barlow Condensed" pitchFamily="34" charset="0"/>
                <a:ea typeface="Barlow Condensed" pitchFamily="34" charset="-122"/>
                <a:cs typeface="Barlow Condensed" pitchFamily="34" charset="-120"/>
              </a:rPr>
              <a:t>146</a:t>
            </a:r>
            <a:endParaRPr lang="en-US" sz="3800" dirty="0"/>
          </a:p>
        </p:txBody>
      </p:sp>
      <p:sp>
        <p:nvSpPr>
          <p:cNvPr id="15" name="Text 13"/>
          <p:cNvSpPr/>
          <p:nvPr/>
        </p:nvSpPr>
        <p:spPr>
          <a:xfrm>
            <a:off x="1005840" y="4028442"/>
            <a:ext cx="3108046" cy="66929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2B1A1C"/>
                </a:solidFill>
                <a:latin typeface="Barlow" pitchFamily="34" charset="0"/>
                <a:ea typeface="Barlow" pitchFamily="34" charset="-122"/>
                <a:cs typeface="Barlow" pitchFamily="34" charset="-120"/>
              </a:rPr>
              <a:t>students chose their school for the course. Home follows with 109, reputation 105, other 37.</a:t>
            </a:r>
            <a:endParaRPr lang="en-US" sz="1300" dirty="0"/>
          </a:p>
        </p:txBody>
      </p:sp>
      <p:sp>
        <p:nvSpPr>
          <p:cNvPr id="16" name="Shape 14"/>
          <p:cNvSpPr/>
          <p:nvPr/>
        </p:nvSpPr>
        <p:spPr>
          <a:xfrm>
            <a:off x="4403725" y="3300096"/>
            <a:ext cx="3384550" cy="1543050"/>
          </a:xfrm>
          <a:prstGeom prst="roundRect">
            <a:avLst>
              <a:gd name="adj" fmla="val 7613"/>
            </a:avLst>
          </a:prstGeom>
          <a:solidFill>
            <a:srgbClr val="F4F4EF"/>
          </a:solidFill>
          <a:ln w="19050">
            <a:solidFill>
              <a:srgbClr val="A01D26"/>
            </a:solidFill>
            <a:prstDash val="solid"/>
          </a:ln>
        </p:spPr>
      </p:sp>
      <p:sp>
        <p:nvSpPr>
          <p:cNvPr id="17" name="Text 15"/>
          <p:cNvSpPr/>
          <p:nvPr/>
        </p:nvSpPr>
        <p:spPr>
          <a:xfrm>
            <a:off x="4587240" y="3470914"/>
            <a:ext cx="3108046" cy="532130"/>
          </a:xfrm>
          <a:prstGeom prst="rect">
            <a:avLst/>
          </a:prstGeom>
          <a:noFill/>
          <a:ln/>
        </p:spPr>
        <p:txBody>
          <a:bodyPr wrap="square" lIns="0" tIns="0" rIns="0" bIns="0" rtlCol="0" anchor="t">
            <a:normAutofit/>
          </a:bodyPr>
          <a:lstStyle/>
          <a:p>
            <a:pPr algn="l" indent="0" marL="0">
              <a:lnSpc>
                <a:spcPts val="3990"/>
              </a:lnSpc>
              <a:buNone/>
            </a:pPr>
            <a:r>
              <a:rPr lang="en-US" sz="3800" b="1" dirty="0">
                <a:solidFill>
                  <a:srgbClr val="A01D26"/>
                </a:solidFill>
                <a:latin typeface="Barlow Condensed" pitchFamily="34" charset="0"/>
                <a:ea typeface="Barlow Condensed" pitchFamily="34" charset="-122"/>
                <a:cs typeface="Barlow Condensed" pitchFamily="34" charset="-120"/>
              </a:rPr>
              <a:t>65%</a:t>
            </a:r>
            <a:endParaRPr lang="en-US" sz="3800" dirty="0"/>
          </a:p>
        </p:txBody>
      </p:sp>
      <p:sp>
        <p:nvSpPr>
          <p:cNvPr id="18" name="Text 16"/>
          <p:cNvSpPr/>
          <p:nvPr/>
        </p:nvSpPr>
        <p:spPr>
          <a:xfrm>
            <a:off x="4587240" y="4028442"/>
            <a:ext cx="3108046" cy="45466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2B1A1C"/>
                </a:solidFill>
                <a:latin typeface="Barlow" pitchFamily="34" charset="0"/>
                <a:ea typeface="Barlow" pitchFamily="34" charset="-122"/>
                <a:cs typeface="Barlow" pitchFamily="34" charset="-120"/>
              </a:rPr>
              <a:t>of students (257) are in the shortest travel-time band. Only 8 are in the longest.</a:t>
            </a:r>
            <a:endParaRPr lang="en-US" sz="1300" dirty="0"/>
          </a:p>
        </p:txBody>
      </p:sp>
      <p:sp>
        <p:nvSpPr>
          <p:cNvPr id="19" name="Shape 17"/>
          <p:cNvSpPr/>
          <p:nvPr/>
        </p:nvSpPr>
        <p:spPr>
          <a:xfrm>
            <a:off x="7985125" y="3300096"/>
            <a:ext cx="3384550" cy="1543050"/>
          </a:xfrm>
          <a:prstGeom prst="roundRect">
            <a:avLst>
              <a:gd name="adj" fmla="val 7613"/>
            </a:avLst>
          </a:prstGeom>
          <a:solidFill>
            <a:srgbClr val="F4F4EF"/>
          </a:solidFill>
          <a:ln w="19050">
            <a:solidFill>
              <a:srgbClr val="A01D26"/>
            </a:solidFill>
            <a:prstDash val="solid"/>
          </a:ln>
        </p:spPr>
      </p:sp>
      <p:sp>
        <p:nvSpPr>
          <p:cNvPr id="20" name="Text 18"/>
          <p:cNvSpPr/>
          <p:nvPr/>
        </p:nvSpPr>
        <p:spPr>
          <a:xfrm>
            <a:off x="8168640" y="3470914"/>
            <a:ext cx="3108046" cy="532130"/>
          </a:xfrm>
          <a:prstGeom prst="rect">
            <a:avLst/>
          </a:prstGeom>
          <a:noFill/>
          <a:ln/>
        </p:spPr>
        <p:txBody>
          <a:bodyPr wrap="square" lIns="0" tIns="0" rIns="0" bIns="0" rtlCol="0" anchor="t">
            <a:normAutofit/>
          </a:bodyPr>
          <a:lstStyle/>
          <a:p>
            <a:pPr algn="l" indent="0" marL="0">
              <a:lnSpc>
                <a:spcPts val="3990"/>
              </a:lnSpc>
              <a:buNone/>
            </a:pPr>
            <a:r>
              <a:rPr lang="en-US" sz="3800" b="1" dirty="0">
                <a:solidFill>
                  <a:srgbClr val="A01D26"/>
                </a:solidFill>
                <a:latin typeface="Barlow Condensed" pitchFamily="34" charset="0"/>
                <a:ea typeface="Barlow Condensed" pitchFamily="34" charset="-122"/>
                <a:cs typeface="Barlow Condensed" pitchFamily="34" charset="-120"/>
              </a:rPr>
              <a:t>132</a:t>
            </a:r>
            <a:endParaRPr lang="en-US" sz="3800" dirty="0"/>
          </a:p>
        </p:txBody>
      </p:sp>
      <p:sp>
        <p:nvSpPr>
          <p:cNvPr id="21" name="Text 19"/>
          <p:cNvSpPr/>
          <p:nvPr/>
        </p:nvSpPr>
        <p:spPr>
          <a:xfrm>
            <a:off x="8168640" y="4028442"/>
            <a:ext cx="3108046" cy="24003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2B1A1C"/>
                </a:solidFill>
                <a:latin typeface="Barlow" pitchFamily="34" charset="0"/>
                <a:ea typeface="Barlow" pitchFamily="34" charset="-122"/>
                <a:cs typeface="Barlow" pitchFamily="34" charset="-120"/>
              </a:rPr>
              <a:t>students (33%) are in a relationship.</a:t>
            </a:r>
            <a:endParaRPr lang="en-US" sz="1300" dirty="0"/>
          </a:p>
        </p:txBody>
      </p:sp>
      <p:sp>
        <p:nvSpPr>
          <p:cNvPr id="22" name="Text 20"/>
          <p:cNvSpPr/>
          <p:nvPr/>
        </p:nvSpPr>
        <p:spPr>
          <a:xfrm>
            <a:off x="812800" y="6238242"/>
            <a:ext cx="91567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0AB"/>
                </a:solidFill>
                <a:latin typeface="Barlow" pitchFamily="34" charset="0"/>
                <a:ea typeface="Barlow" pitchFamily="34" charset="-122"/>
                <a:cs typeface="Barlow" pitchFamily="34" charset="-120"/>
              </a:rPr>
              <a:t>Students Performance Dashboard · Project brief · 8</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20232A"/>
        </a:solidFill>
      </p:bgPr>
    </p:bg>
    <p:spTree>
      <p:nvGrpSpPr>
        <p:cNvPr id="1" name=""/>
        <p:cNvGrpSpPr/>
        <p:nvPr/>
      </p:nvGrpSpPr>
      <p:grpSpPr>
        <a:xfrm>
          <a:off x="0" y="0"/>
          <a:ext cx="0" cy="0"/>
          <a:chOff x="0" y="0"/>
          <a:chExt cx="0" cy="0"/>
        </a:xfrm>
      </p:grpSpPr>
      <p:pic>
        <p:nvPicPr>
          <p:cNvPr id="2" name="Image 0" descr="Dashboard page 2: students performance">    </p:cNvPr>
          <p:cNvPicPr>
            <a:picLocks noChangeAspect="1"/>
          </p:cNvPicPr>
          <p:nvPr/>
        </p:nvPicPr>
        <p:blipFill>
          <a:blip r:embed="rId1"/>
          <a:srcRect l="-83" r="-83" t="0" b="0"/>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20232A"/>
        </a:solidFill>
      </p:bgPr>
    </p:bg>
    <p:spTree>
      <p:nvGrpSpPr>
        <p:cNvPr id="1" name=""/>
        <p:cNvGrpSpPr/>
        <p:nvPr/>
      </p:nvGrpSpPr>
      <p:grpSpPr>
        <a:xfrm>
          <a:off x="0" y="0"/>
          <a:ext cx="0" cy="0"/>
          <a:chOff x="0" y="0"/>
          <a:chExt cx="0" cy="0"/>
        </a:xfrm>
      </p:grpSpPr>
      <p:sp>
        <p:nvSpPr>
          <p:cNvPr id="2" name="Text 0"/>
          <p:cNvSpPr/>
          <p:nvPr/>
        </p:nvSpPr>
        <p:spPr>
          <a:xfrm>
            <a:off x="609600" y="457200"/>
            <a:ext cx="11301984"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E66C37"/>
                </a:solidFill>
                <a:latin typeface="Barlow" pitchFamily="34" charset="0"/>
                <a:ea typeface="Barlow" pitchFamily="34" charset="-122"/>
                <a:cs typeface="Barlow" pitchFamily="34" charset="-120"/>
              </a:rPr>
              <a:t>PAGE 2 · FAMILY AND STUDY</a:t>
            </a:r>
            <a:endParaRPr lang="en-US" sz="1400" dirty="0"/>
          </a:p>
        </p:txBody>
      </p:sp>
      <p:sp>
        <p:nvSpPr>
          <p:cNvPr id="3" name="Text 1"/>
          <p:cNvSpPr/>
          <p:nvPr>
            <p:ph type="title"/>
          </p:nvPr>
        </p:nvSpPr>
        <p:spPr>
          <a:xfrm>
            <a:off x="609600" y="909321"/>
            <a:ext cx="11301984" cy="41656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FFFFFF"/>
                </a:solidFill>
                <a:latin typeface="Barlow Condensed" pitchFamily="34" charset="0"/>
                <a:ea typeface="Barlow Condensed" pitchFamily="34" charset="-122"/>
                <a:cs typeface="Barlow Condensed" pitchFamily="34" charset="-120"/>
              </a:rPr>
              <a:t>Each visual and its job</a:t>
            </a:r>
            <a:endParaRPr lang="en-US" sz="2800" dirty="0"/>
          </a:p>
        </p:txBody>
      </p:sp>
      <p:sp>
        <p:nvSpPr>
          <p:cNvPr id="4" name="Shape 2"/>
          <p:cNvSpPr/>
          <p:nvPr/>
        </p:nvSpPr>
        <p:spPr>
          <a:xfrm>
            <a:off x="619125" y="1513204"/>
            <a:ext cx="10953750" cy="3326130"/>
          </a:xfrm>
          <a:prstGeom prst="roundRect">
            <a:avLst>
              <a:gd name="adj" fmla="val 3532"/>
            </a:avLst>
          </a:prstGeom>
          <a:solidFill>
            <a:srgbClr val="F4F4EF"/>
          </a:solidFill>
          <a:ln w="19050">
            <a:solidFill>
              <a:srgbClr val="A01D26"/>
            </a:solidFill>
            <a:prstDash val="solid"/>
          </a:ln>
        </p:spPr>
      </p:sp>
      <p:sp>
        <p:nvSpPr>
          <p:cNvPr id="5" name="Shape 3"/>
          <p:cNvSpPr/>
          <p:nvPr/>
        </p:nvSpPr>
        <p:spPr>
          <a:xfrm>
            <a:off x="624840" y="1518921"/>
            <a:ext cx="10942320" cy="342900"/>
          </a:xfrm>
          <a:custGeom>
            <a:avLst/>
            <a:gdLst/>
            <a:ahLst/>
            <a:cxnLst/>
            <a:rect l="l" t="t" r="r" b="b"/>
            <a:pathLst>
              <a:path w="10942320" h="342900">
                <a:moveTo>
                  <a:pt x="101600" y="0"/>
                </a:moveTo>
                <a:lnTo>
                  <a:pt x="10840720" y="0"/>
                </a:lnTo>
                <a:arcTo hR="101600" wR="101600" stAng="16200000" swAng="5400000"/>
                <a:lnTo>
                  <a:pt x="10942320" y="342900"/>
                </a:lnTo>
                <a:lnTo>
                  <a:pt x="0" y="342900"/>
                </a:lnTo>
                <a:lnTo>
                  <a:pt x="0" y="101600"/>
                </a:lnTo>
                <a:arcTo hR="101600" wR="101600" stAng="10800000" swAng="5400000"/>
                <a:close/>
              </a:path>
            </a:pathLst>
          </a:custGeom>
          <a:solidFill>
            <a:srgbClr val="A01D26"/>
          </a:solidFill>
          <a:ln/>
        </p:spPr>
      </p:sp>
      <p:sp>
        <p:nvSpPr>
          <p:cNvPr id="6" name="Text 4"/>
          <p:cNvSpPr/>
          <p:nvPr/>
        </p:nvSpPr>
        <p:spPr>
          <a:xfrm>
            <a:off x="764540" y="1595121"/>
            <a:ext cx="2092960"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FFFFFF"/>
                </a:solidFill>
                <a:latin typeface="Barlow" pitchFamily="34" charset="0"/>
                <a:ea typeface="Barlow" pitchFamily="34" charset="-122"/>
                <a:cs typeface="Barlow" pitchFamily="34" charset="-120"/>
              </a:rPr>
              <a:t>Visual</a:t>
            </a:r>
            <a:endParaRPr lang="en-US" sz="1200" dirty="0"/>
          </a:p>
        </p:txBody>
      </p:sp>
      <p:sp>
        <p:nvSpPr>
          <p:cNvPr id="7" name="Text 5"/>
          <p:cNvSpPr/>
          <p:nvPr/>
        </p:nvSpPr>
        <p:spPr>
          <a:xfrm>
            <a:off x="2898140" y="1595121"/>
            <a:ext cx="1511300"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FFFFFF"/>
                </a:solidFill>
                <a:latin typeface="Barlow" pitchFamily="34" charset="0"/>
                <a:ea typeface="Barlow" pitchFamily="34" charset="-122"/>
                <a:cs typeface="Barlow" pitchFamily="34" charset="-120"/>
              </a:rPr>
              <a:t>Chart type</a:t>
            </a:r>
            <a:endParaRPr lang="en-US" sz="1200" dirty="0"/>
          </a:p>
        </p:txBody>
      </p:sp>
      <p:sp>
        <p:nvSpPr>
          <p:cNvPr id="8" name="Text 6"/>
          <p:cNvSpPr/>
          <p:nvPr/>
        </p:nvSpPr>
        <p:spPr>
          <a:xfrm>
            <a:off x="4460240" y="1595121"/>
            <a:ext cx="4251325"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FFFFFF"/>
                </a:solidFill>
                <a:latin typeface="Barlow" pitchFamily="34" charset="0"/>
                <a:ea typeface="Barlow" pitchFamily="34" charset="-122"/>
                <a:cs typeface="Barlow" pitchFamily="34" charset="-120"/>
              </a:rPr>
              <a:t>Question it answers</a:t>
            </a:r>
            <a:endParaRPr lang="en-US" sz="1200" dirty="0"/>
          </a:p>
        </p:txBody>
      </p:sp>
      <p:sp>
        <p:nvSpPr>
          <p:cNvPr id="9" name="Text 7"/>
          <p:cNvSpPr/>
          <p:nvPr/>
        </p:nvSpPr>
        <p:spPr>
          <a:xfrm>
            <a:off x="8689340" y="1595121"/>
            <a:ext cx="3074035"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FFFFFF"/>
                </a:solidFill>
                <a:latin typeface="Barlow" pitchFamily="34" charset="0"/>
                <a:ea typeface="Barlow" pitchFamily="34" charset="-122"/>
                <a:cs typeface="Barlow" pitchFamily="34" charset="-120"/>
              </a:rPr>
              <a:t>Measures</a:t>
            </a:r>
            <a:endParaRPr lang="en-US" sz="1200" dirty="0"/>
          </a:p>
        </p:txBody>
      </p:sp>
      <p:sp>
        <p:nvSpPr>
          <p:cNvPr id="10" name="Shape 8"/>
          <p:cNvSpPr/>
          <p:nvPr/>
        </p:nvSpPr>
        <p:spPr>
          <a:xfrm>
            <a:off x="624840" y="1861821"/>
            <a:ext cx="10942320" cy="342900"/>
          </a:xfrm>
          <a:prstGeom prst="rect">
            <a:avLst/>
          </a:prstGeom>
          <a:solidFill>
            <a:srgbClr val="F4F4EF"/>
          </a:solidFill>
          <a:ln/>
        </p:spPr>
      </p:sp>
      <p:sp>
        <p:nvSpPr>
          <p:cNvPr id="11" name="Text 9"/>
          <p:cNvSpPr/>
          <p:nvPr/>
        </p:nvSpPr>
        <p:spPr>
          <a:xfrm>
            <a:off x="764540" y="1938021"/>
            <a:ext cx="209296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2B1A1C"/>
                </a:solidFill>
                <a:latin typeface="Barlow" pitchFamily="34" charset="0"/>
                <a:ea typeface="Barlow" pitchFamily="34" charset="-122"/>
                <a:cs typeface="Barlow" pitchFamily="34" charset="-120"/>
              </a:rPr>
              <a:t>Slicers</a:t>
            </a:r>
            <a:endParaRPr lang="en-US" sz="1200" dirty="0"/>
          </a:p>
        </p:txBody>
      </p:sp>
      <p:sp>
        <p:nvSpPr>
          <p:cNvPr id="12" name="Text 10"/>
          <p:cNvSpPr/>
          <p:nvPr/>
        </p:nvSpPr>
        <p:spPr>
          <a:xfrm>
            <a:off x="2898140" y="1938021"/>
            <a:ext cx="15113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2B1A1C"/>
                </a:solidFill>
                <a:latin typeface="Barlow" pitchFamily="34" charset="0"/>
                <a:ea typeface="Barlow" pitchFamily="34" charset="-122"/>
                <a:cs typeface="Barlow" pitchFamily="34" charset="-120"/>
              </a:rPr>
              <a:t>Dropdowns</a:t>
            </a:r>
            <a:endParaRPr lang="en-US" sz="1200" dirty="0"/>
          </a:p>
        </p:txBody>
      </p:sp>
      <p:sp>
        <p:nvSpPr>
          <p:cNvPr id="13" name="Text 11"/>
          <p:cNvSpPr/>
          <p:nvPr/>
        </p:nvSpPr>
        <p:spPr>
          <a:xfrm>
            <a:off x="4460240" y="1938021"/>
            <a:ext cx="4251325"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2B1A1C"/>
                </a:solidFill>
                <a:latin typeface="Barlow" pitchFamily="34" charset="0"/>
                <a:ea typeface="Barlow" pitchFamily="34" charset="-122"/>
                <a:cs typeface="Barlow" pitchFamily="34" charset="-120"/>
              </a:rPr>
              <a:t>Which group are we looking at?</a:t>
            </a:r>
            <a:endParaRPr lang="en-US" sz="1200" dirty="0"/>
          </a:p>
        </p:txBody>
      </p:sp>
      <p:sp>
        <p:nvSpPr>
          <p:cNvPr id="14" name="Text 12"/>
          <p:cNvSpPr/>
          <p:nvPr/>
        </p:nvSpPr>
        <p:spPr>
          <a:xfrm>
            <a:off x="8689340" y="1938021"/>
            <a:ext cx="3074035"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2B1A1C"/>
                </a:solidFill>
                <a:latin typeface="Barlow" pitchFamily="34" charset="0"/>
                <a:ea typeface="Barlow" pitchFamily="34" charset="-122"/>
                <a:cs typeface="Barlow" pitchFamily="34" charset="-120"/>
              </a:rPr>
              <a:t>Address, School, Gender</a:t>
            </a:r>
            <a:endParaRPr lang="en-US" sz="1200" dirty="0"/>
          </a:p>
        </p:txBody>
      </p:sp>
      <p:sp>
        <p:nvSpPr>
          <p:cNvPr id="15" name="Shape 13"/>
          <p:cNvSpPr/>
          <p:nvPr/>
        </p:nvSpPr>
        <p:spPr>
          <a:xfrm>
            <a:off x="624840" y="2204721"/>
            <a:ext cx="10942320" cy="533400"/>
          </a:xfrm>
          <a:prstGeom prst="rect">
            <a:avLst/>
          </a:prstGeom>
          <a:solidFill>
            <a:srgbClr val="E6E6DE"/>
          </a:solidFill>
          <a:ln/>
        </p:spPr>
      </p:sp>
      <p:sp>
        <p:nvSpPr>
          <p:cNvPr id="16" name="Text 14"/>
          <p:cNvSpPr/>
          <p:nvPr/>
        </p:nvSpPr>
        <p:spPr>
          <a:xfrm>
            <a:off x="764540" y="2280921"/>
            <a:ext cx="2092960"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2B1A1C"/>
                </a:solidFill>
                <a:latin typeface="Barlow" pitchFamily="34" charset="0"/>
                <a:ea typeface="Barlow" pitchFamily="34" charset="-122"/>
                <a:cs typeface="Barlow" pitchFamily="34" charset="-120"/>
              </a:rPr>
              <a:t>KPI cards</a:t>
            </a:r>
            <a:endParaRPr lang="en-US" sz="1200" dirty="0"/>
          </a:p>
        </p:txBody>
      </p:sp>
      <p:sp>
        <p:nvSpPr>
          <p:cNvPr id="17" name="Text 15"/>
          <p:cNvSpPr/>
          <p:nvPr/>
        </p:nvSpPr>
        <p:spPr>
          <a:xfrm>
            <a:off x="2898140" y="2280921"/>
            <a:ext cx="1511300"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2B1A1C"/>
                </a:solidFill>
                <a:latin typeface="Barlow" pitchFamily="34" charset="0"/>
                <a:ea typeface="Barlow" pitchFamily="34" charset="-122"/>
                <a:cs typeface="Barlow" pitchFamily="34" charset="-120"/>
              </a:rPr>
              <a:t>Cards</a:t>
            </a:r>
            <a:endParaRPr lang="en-US" sz="1200" dirty="0"/>
          </a:p>
        </p:txBody>
      </p:sp>
      <p:sp>
        <p:nvSpPr>
          <p:cNvPr id="18" name="Text 16"/>
          <p:cNvSpPr/>
          <p:nvPr/>
        </p:nvSpPr>
        <p:spPr>
          <a:xfrm>
            <a:off x="4460240" y="2280921"/>
            <a:ext cx="4251325"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2B1A1C"/>
                </a:solidFill>
                <a:latin typeface="Barlow" pitchFamily="34" charset="0"/>
                <a:ea typeface="Barlow" pitchFamily="34" charset="-122"/>
                <a:cs typeface="Barlow" pitchFamily="34" charset="-120"/>
              </a:rPr>
              <a:t>How much family support and stability is there?</a:t>
            </a:r>
            <a:endParaRPr lang="en-US" sz="1200" dirty="0"/>
          </a:p>
        </p:txBody>
      </p:sp>
      <p:sp>
        <p:nvSpPr>
          <p:cNvPr id="19" name="Text 17"/>
          <p:cNvSpPr/>
          <p:nvPr/>
        </p:nvSpPr>
        <p:spPr>
          <a:xfrm>
            <a:off x="8689340" y="2280921"/>
            <a:ext cx="3074035"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2B1A1C"/>
                </a:solidFill>
                <a:latin typeface="Barlow" pitchFamily="34" charset="0"/>
                <a:ea typeface="Barlow" pitchFamily="34" charset="-122"/>
                <a:cs typeface="Barlow" pitchFamily="34" charset="-120"/>
              </a:rPr>
              <a:t>Family support, living with both parents, family size</a:t>
            </a:r>
            <a:endParaRPr lang="en-US" sz="1200" dirty="0"/>
          </a:p>
        </p:txBody>
      </p:sp>
      <p:sp>
        <p:nvSpPr>
          <p:cNvPr id="20" name="Shape 18"/>
          <p:cNvSpPr/>
          <p:nvPr/>
        </p:nvSpPr>
        <p:spPr>
          <a:xfrm>
            <a:off x="624840" y="2738121"/>
            <a:ext cx="10942320" cy="342900"/>
          </a:xfrm>
          <a:prstGeom prst="rect">
            <a:avLst/>
          </a:prstGeom>
          <a:solidFill>
            <a:srgbClr val="F4F4EF"/>
          </a:solidFill>
          <a:ln/>
        </p:spPr>
      </p:sp>
      <p:sp>
        <p:nvSpPr>
          <p:cNvPr id="21" name="Text 19"/>
          <p:cNvSpPr/>
          <p:nvPr/>
        </p:nvSpPr>
        <p:spPr>
          <a:xfrm>
            <a:off x="764540" y="2814321"/>
            <a:ext cx="209296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2B1A1C"/>
                </a:solidFill>
                <a:latin typeface="Barlow" pitchFamily="34" charset="0"/>
                <a:ea typeface="Barlow" pitchFamily="34" charset="-122"/>
                <a:cs typeface="Barlow" pitchFamily="34" charset="-120"/>
              </a:rPr>
              <a:t>Pass by guardian</a:t>
            </a:r>
            <a:endParaRPr lang="en-US" sz="1200" dirty="0"/>
          </a:p>
        </p:txBody>
      </p:sp>
      <p:sp>
        <p:nvSpPr>
          <p:cNvPr id="22" name="Text 20"/>
          <p:cNvSpPr/>
          <p:nvPr/>
        </p:nvSpPr>
        <p:spPr>
          <a:xfrm>
            <a:off x="2898140" y="2814321"/>
            <a:ext cx="15113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2B1A1C"/>
                </a:solidFill>
                <a:latin typeface="Barlow" pitchFamily="34" charset="0"/>
                <a:ea typeface="Barlow" pitchFamily="34" charset="-122"/>
                <a:cs typeface="Barlow" pitchFamily="34" charset="-120"/>
              </a:rPr>
              <a:t>Donut</a:t>
            </a:r>
            <a:endParaRPr lang="en-US" sz="1200" dirty="0"/>
          </a:p>
        </p:txBody>
      </p:sp>
      <p:sp>
        <p:nvSpPr>
          <p:cNvPr id="23" name="Text 21"/>
          <p:cNvSpPr/>
          <p:nvPr/>
        </p:nvSpPr>
        <p:spPr>
          <a:xfrm>
            <a:off x="4460240" y="2814321"/>
            <a:ext cx="4251325"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2B1A1C"/>
                </a:solidFill>
                <a:latin typeface="Barlow" pitchFamily="34" charset="0"/>
                <a:ea typeface="Barlow" pitchFamily="34" charset="-122"/>
                <a:cs typeface="Barlow" pitchFamily="34" charset="-120"/>
              </a:rPr>
              <a:t>Who looks after students who pass?</a:t>
            </a:r>
            <a:endParaRPr lang="en-US" sz="1200" dirty="0"/>
          </a:p>
        </p:txBody>
      </p:sp>
      <p:sp>
        <p:nvSpPr>
          <p:cNvPr id="24" name="Text 22"/>
          <p:cNvSpPr/>
          <p:nvPr/>
        </p:nvSpPr>
        <p:spPr>
          <a:xfrm>
            <a:off x="8689340" y="2814321"/>
            <a:ext cx="3074035"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2B1A1C"/>
                </a:solidFill>
                <a:latin typeface="Barlow" pitchFamily="34" charset="0"/>
                <a:ea typeface="Barlow" pitchFamily="34" charset="-122"/>
                <a:cs typeface="Barlow" pitchFamily="34" charset="-120"/>
              </a:rPr>
              <a:t>Passing students by guardian</a:t>
            </a:r>
            <a:endParaRPr lang="en-US" sz="1200" dirty="0"/>
          </a:p>
        </p:txBody>
      </p:sp>
      <p:sp>
        <p:nvSpPr>
          <p:cNvPr id="25" name="Shape 23"/>
          <p:cNvSpPr/>
          <p:nvPr/>
        </p:nvSpPr>
        <p:spPr>
          <a:xfrm>
            <a:off x="624840" y="3081021"/>
            <a:ext cx="10942320" cy="533400"/>
          </a:xfrm>
          <a:prstGeom prst="rect">
            <a:avLst/>
          </a:prstGeom>
          <a:solidFill>
            <a:srgbClr val="E6E6DE"/>
          </a:solidFill>
          <a:ln/>
        </p:spPr>
      </p:sp>
      <p:sp>
        <p:nvSpPr>
          <p:cNvPr id="26" name="Text 24"/>
          <p:cNvSpPr/>
          <p:nvPr/>
        </p:nvSpPr>
        <p:spPr>
          <a:xfrm>
            <a:off x="764540" y="3157221"/>
            <a:ext cx="2092960"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2B1A1C"/>
                </a:solidFill>
                <a:latin typeface="Barlow" pitchFamily="34" charset="0"/>
                <a:ea typeface="Barlow" pitchFamily="34" charset="-122"/>
                <a:cs typeface="Barlow" pitchFamily="34" charset="-120"/>
              </a:rPr>
              <a:t>Pass by family relations</a:t>
            </a:r>
            <a:endParaRPr lang="en-US" sz="1200" dirty="0"/>
          </a:p>
        </p:txBody>
      </p:sp>
      <p:sp>
        <p:nvSpPr>
          <p:cNvPr id="27" name="Text 25"/>
          <p:cNvSpPr/>
          <p:nvPr/>
        </p:nvSpPr>
        <p:spPr>
          <a:xfrm>
            <a:off x="2898140" y="3157221"/>
            <a:ext cx="1511300"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2B1A1C"/>
                </a:solidFill>
                <a:latin typeface="Barlow" pitchFamily="34" charset="0"/>
                <a:ea typeface="Barlow" pitchFamily="34" charset="-122"/>
                <a:cs typeface="Barlow" pitchFamily="34" charset="-120"/>
              </a:rPr>
              <a:t>Pie</a:t>
            </a:r>
            <a:endParaRPr lang="en-US" sz="1200" dirty="0"/>
          </a:p>
        </p:txBody>
      </p:sp>
      <p:sp>
        <p:nvSpPr>
          <p:cNvPr id="28" name="Text 26"/>
          <p:cNvSpPr/>
          <p:nvPr/>
        </p:nvSpPr>
        <p:spPr>
          <a:xfrm>
            <a:off x="4460240" y="3157221"/>
            <a:ext cx="4251325"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2B1A1C"/>
                </a:solidFill>
                <a:latin typeface="Barlow" pitchFamily="34" charset="0"/>
                <a:ea typeface="Barlow" pitchFamily="34" charset="-122"/>
                <a:cs typeface="Barlow" pitchFamily="34" charset="-120"/>
              </a:rPr>
              <a:t>Do good family relations go with passing?</a:t>
            </a:r>
            <a:endParaRPr lang="en-US" sz="1200" dirty="0"/>
          </a:p>
        </p:txBody>
      </p:sp>
      <p:sp>
        <p:nvSpPr>
          <p:cNvPr id="29" name="Text 27"/>
          <p:cNvSpPr/>
          <p:nvPr/>
        </p:nvSpPr>
        <p:spPr>
          <a:xfrm>
            <a:off x="8689340" y="3157221"/>
            <a:ext cx="3074035"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2B1A1C"/>
                </a:solidFill>
                <a:latin typeface="Barlow" pitchFamily="34" charset="0"/>
                <a:ea typeface="Barlow" pitchFamily="34" charset="-122"/>
                <a:cs typeface="Barlow" pitchFamily="34" charset="-120"/>
              </a:rPr>
              <a:t>Passing students by family relationship (1 to 5)</a:t>
            </a:r>
            <a:endParaRPr lang="en-US" sz="1200" dirty="0"/>
          </a:p>
        </p:txBody>
      </p:sp>
      <p:sp>
        <p:nvSpPr>
          <p:cNvPr id="30" name="Shape 28"/>
          <p:cNvSpPr/>
          <p:nvPr/>
        </p:nvSpPr>
        <p:spPr>
          <a:xfrm>
            <a:off x="624840" y="3614421"/>
            <a:ext cx="10942320" cy="342900"/>
          </a:xfrm>
          <a:prstGeom prst="rect">
            <a:avLst/>
          </a:prstGeom>
          <a:solidFill>
            <a:srgbClr val="F4F4EF"/>
          </a:solidFill>
          <a:ln/>
        </p:spPr>
      </p:sp>
      <p:sp>
        <p:nvSpPr>
          <p:cNvPr id="31" name="Text 29"/>
          <p:cNvSpPr/>
          <p:nvPr/>
        </p:nvSpPr>
        <p:spPr>
          <a:xfrm>
            <a:off x="764540" y="3690621"/>
            <a:ext cx="209296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2B1A1C"/>
                </a:solidFill>
                <a:latin typeface="Barlow" pitchFamily="34" charset="0"/>
                <a:ea typeface="Barlow" pitchFamily="34" charset="-122"/>
                <a:cs typeface="Barlow" pitchFamily="34" charset="-120"/>
              </a:rPr>
              <a:t>Grades by paid and internet</a:t>
            </a:r>
            <a:endParaRPr lang="en-US" sz="1200" dirty="0"/>
          </a:p>
        </p:txBody>
      </p:sp>
      <p:sp>
        <p:nvSpPr>
          <p:cNvPr id="32" name="Text 30"/>
          <p:cNvSpPr/>
          <p:nvPr/>
        </p:nvSpPr>
        <p:spPr>
          <a:xfrm>
            <a:off x="2898140" y="3690621"/>
            <a:ext cx="15113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2B1A1C"/>
                </a:solidFill>
                <a:latin typeface="Barlow" pitchFamily="34" charset="0"/>
                <a:ea typeface="Barlow" pitchFamily="34" charset="-122"/>
                <a:cs typeface="Barlow" pitchFamily="34" charset="-120"/>
              </a:rPr>
              <a:t>Bar</a:t>
            </a:r>
            <a:endParaRPr lang="en-US" sz="1200" dirty="0"/>
          </a:p>
        </p:txBody>
      </p:sp>
      <p:sp>
        <p:nvSpPr>
          <p:cNvPr id="33" name="Text 31"/>
          <p:cNvSpPr/>
          <p:nvPr/>
        </p:nvSpPr>
        <p:spPr>
          <a:xfrm>
            <a:off x="4460240" y="3690621"/>
            <a:ext cx="4251325"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2B1A1C"/>
                </a:solidFill>
                <a:latin typeface="Barlow" pitchFamily="34" charset="0"/>
                <a:ea typeface="Barlow" pitchFamily="34" charset="-122"/>
                <a:cs typeface="Barlow" pitchFamily="34" charset="-120"/>
              </a:rPr>
              <a:t>Do paid classes and internet go with higher grades?</a:t>
            </a:r>
            <a:endParaRPr lang="en-US" sz="1200" dirty="0"/>
          </a:p>
        </p:txBody>
      </p:sp>
      <p:sp>
        <p:nvSpPr>
          <p:cNvPr id="34" name="Text 32"/>
          <p:cNvSpPr/>
          <p:nvPr/>
        </p:nvSpPr>
        <p:spPr>
          <a:xfrm>
            <a:off x="8689340" y="3690621"/>
            <a:ext cx="3074035"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2B1A1C"/>
                </a:solidFill>
                <a:latin typeface="Barlow" pitchFamily="34" charset="0"/>
                <a:ea typeface="Barlow" pitchFamily="34" charset="-122"/>
                <a:cs typeface="Barlow" pitchFamily="34" charset="-120"/>
              </a:rPr>
              <a:t>Average grades by paid classes and internet</a:t>
            </a:r>
            <a:endParaRPr lang="en-US" sz="1200" dirty="0"/>
          </a:p>
        </p:txBody>
      </p:sp>
      <p:sp>
        <p:nvSpPr>
          <p:cNvPr id="35" name="Shape 33"/>
          <p:cNvSpPr/>
          <p:nvPr/>
        </p:nvSpPr>
        <p:spPr>
          <a:xfrm>
            <a:off x="624840" y="3957321"/>
            <a:ext cx="10942320" cy="533400"/>
          </a:xfrm>
          <a:prstGeom prst="rect">
            <a:avLst/>
          </a:prstGeom>
          <a:solidFill>
            <a:srgbClr val="E6E6DE"/>
          </a:solidFill>
          <a:ln/>
        </p:spPr>
      </p:sp>
      <p:sp>
        <p:nvSpPr>
          <p:cNvPr id="36" name="Text 34"/>
          <p:cNvSpPr/>
          <p:nvPr/>
        </p:nvSpPr>
        <p:spPr>
          <a:xfrm>
            <a:off x="764540" y="4033521"/>
            <a:ext cx="2092960"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2B1A1C"/>
                </a:solidFill>
                <a:latin typeface="Barlow" pitchFamily="34" charset="0"/>
                <a:ea typeface="Barlow" pitchFamily="34" charset="-122"/>
                <a:cs typeface="Barlow" pitchFamily="34" charset="-120"/>
              </a:rPr>
              <a:t>Grades and study time</a:t>
            </a:r>
            <a:endParaRPr lang="en-US" sz="1200" dirty="0"/>
          </a:p>
        </p:txBody>
      </p:sp>
      <p:sp>
        <p:nvSpPr>
          <p:cNvPr id="37" name="Text 35"/>
          <p:cNvSpPr/>
          <p:nvPr/>
        </p:nvSpPr>
        <p:spPr>
          <a:xfrm>
            <a:off x="2898140" y="4033521"/>
            <a:ext cx="1511300"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2B1A1C"/>
                </a:solidFill>
                <a:latin typeface="Barlow" pitchFamily="34" charset="0"/>
                <a:ea typeface="Barlow" pitchFamily="34" charset="-122"/>
                <a:cs typeface="Barlow" pitchFamily="34" charset="-120"/>
              </a:rPr>
              <a:t>Bubble</a:t>
            </a:r>
            <a:endParaRPr lang="en-US" sz="1200" dirty="0"/>
          </a:p>
        </p:txBody>
      </p:sp>
      <p:sp>
        <p:nvSpPr>
          <p:cNvPr id="38" name="Text 36"/>
          <p:cNvSpPr/>
          <p:nvPr/>
        </p:nvSpPr>
        <p:spPr>
          <a:xfrm>
            <a:off x="4460240" y="4033521"/>
            <a:ext cx="4251325"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2B1A1C"/>
                </a:solidFill>
                <a:latin typeface="Barlow" pitchFamily="34" charset="0"/>
                <a:ea typeface="Barlow" pitchFamily="34" charset="-122"/>
                <a:cs typeface="Barlow" pitchFamily="34" charset="-120"/>
              </a:rPr>
              <a:t>Does study time or family support move grades?</a:t>
            </a:r>
            <a:endParaRPr lang="en-US" sz="1200" dirty="0"/>
          </a:p>
        </p:txBody>
      </p:sp>
      <p:sp>
        <p:nvSpPr>
          <p:cNvPr id="39" name="Text 37"/>
          <p:cNvSpPr/>
          <p:nvPr/>
        </p:nvSpPr>
        <p:spPr>
          <a:xfrm>
            <a:off x="8689340" y="4033521"/>
            <a:ext cx="3074035"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2B1A1C"/>
                </a:solidFill>
                <a:latin typeface="Barlow" pitchFamily="34" charset="0"/>
                <a:ea typeface="Barlow" pitchFamily="34" charset="-122"/>
                <a:cs typeface="Barlow" pitchFamily="34" charset="-120"/>
              </a:rPr>
              <a:t>Average grades by study time and family support, bubble size = absences</a:t>
            </a:r>
            <a:endParaRPr lang="en-US" sz="1200" dirty="0"/>
          </a:p>
        </p:txBody>
      </p:sp>
      <p:sp>
        <p:nvSpPr>
          <p:cNvPr id="40" name="Shape 38"/>
          <p:cNvSpPr/>
          <p:nvPr/>
        </p:nvSpPr>
        <p:spPr>
          <a:xfrm>
            <a:off x="624840" y="4490721"/>
            <a:ext cx="10942320" cy="342900"/>
          </a:xfrm>
          <a:prstGeom prst="rect">
            <a:avLst/>
          </a:prstGeom>
          <a:solidFill>
            <a:srgbClr val="F4F4EF"/>
          </a:solidFill>
          <a:ln/>
        </p:spPr>
      </p:sp>
      <p:sp>
        <p:nvSpPr>
          <p:cNvPr id="41" name="Text 39"/>
          <p:cNvSpPr/>
          <p:nvPr/>
        </p:nvSpPr>
        <p:spPr>
          <a:xfrm>
            <a:off x="764540" y="4566921"/>
            <a:ext cx="209296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2B1A1C"/>
                </a:solidFill>
                <a:latin typeface="Barlow" pitchFamily="34" charset="0"/>
                <a:ea typeface="Barlow" pitchFamily="34" charset="-122"/>
                <a:cs typeface="Barlow" pitchFamily="34" charset="-120"/>
              </a:rPr>
              <a:t>Activities and parent status</a:t>
            </a:r>
            <a:endParaRPr lang="en-US" sz="1200" dirty="0"/>
          </a:p>
        </p:txBody>
      </p:sp>
      <p:sp>
        <p:nvSpPr>
          <p:cNvPr id="42" name="Text 40"/>
          <p:cNvSpPr/>
          <p:nvPr/>
        </p:nvSpPr>
        <p:spPr>
          <a:xfrm>
            <a:off x="2898140" y="4566921"/>
            <a:ext cx="15113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2B1A1C"/>
                </a:solidFill>
                <a:latin typeface="Barlow" pitchFamily="34" charset="0"/>
                <a:ea typeface="Barlow" pitchFamily="34" charset="-122"/>
                <a:cs typeface="Barlow" pitchFamily="34" charset="-120"/>
              </a:rPr>
              <a:t>Clustered column</a:t>
            </a:r>
            <a:endParaRPr lang="en-US" sz="1200" dirty="0"/>
          </a:p>
        </p:txBody>
      </p:sp>
      <p:sp>
        <p:nvSpPr>
          <p:cNvPr id="43" name="Text 41"/>
          <p:cNvSpPr/>
          <p:nvPr/>
        </p:nvSpPr>
        <p:spPr>
          <a:xfrm>
            <a:off x="4460240" y="4566921"/>
            <a:ext cx="4251325"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2B1A1C"/>
                </a:solidFill>
                <a:latin typeface="Barlow" pitchFamily="34" charset="0"/>
                <a:ea typeface="Barlow" pitchFamily="34" charset="-122"/>
                <a:cs typeface="Barlow" pitchFamily="34" charset="-120"/>
              </a:rPr>
              <a:t>Do activities and parents living together go together?</a:t>
            </a:r>
            <a:endParaRPr lang="en-US" sz="1200" dirty="0"/>
          </a:p>
        </p:txBody>
      </p:sp>
      <p:sp>
        <p:nvSpPr>
          <p:cNvPr id="44" name="Text 42"/>
          <p:cNvSpPr/>
          <p:nvPr/>
        </p:nvSpPr>
        <p:spPr>
          <a:xfrm>
            <a:off x="8689340" y="4566921"/>
            <a:ext cx="350266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2B1A1C"/>
                </a:solidFill>
                <a:latin typeface="Barlow" pitchFamily="34" charset="0"/>
                <a:ea typeface="Barlow" pitchFamily="34" charset="-122"/>
                <a:cs typeface="Barlow" pitchFamily="34" charset="-120"/>
              </a:rPr>
              <a:t>Count by activities and parent status (A or T)</a:t>
            </a:r>
            <a:endParaRPr lang="en-US" sz="1200" dirty="0"/>
          </a:p>
        </p:txBody>
      </p:sp>
      <p:sp>
        <p:nvSpPr>
          <p:cNvPr id="45" name="Text 43"/>
          <p:cNvSpPr/>
          <p:nvPr/>
        </p:nvSpPr>
        <p:spPr>
          <a:xfrm>
            <a:off x="812800" y="6238242"/>
            <a:ext cx="91567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0AB"/>
                </a:solidFill>
                <a:latin typeface="Barlow" pitchFamily="34" charset="0"/>
                <a:ea typeface="Barlow" pitchFamily="34" charset="-122"/>
                <a:cs typeface="Barlow" pitchFamily="34" charset="-120"/>
              </a:rPr>
              <a:t>Students Performance Dashboard · Project brief · 9</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20232A"/>
        </a:solidFill>
      </p:bgPr>
    </p:bg>
    <p:spTree>
      <p:nvGrpSpPr>
        <p:cNvPr id="1" name=""/>
        <p:cNvGrpSpPr/>
        <p:nvPr/>
      </p:nvGrpSpPr>
      <p:grpSpPr>
        <a:xfrm>
          <a:off x="0" y="0"/>
          <a:ext cx="0" cy="0"/>
          <a:chOff x="0" y="0"/>
          <a:chExt cx="0" cy="0"/>
        </a:xfrm>
      </p:grpSpPr>
      <p:sp>
        <p:nvSpPr>
          <p:cNvPr id="2" name="Text 0"/>
          <p:cNvSpPr/>
          <p:nvPr/>
        </p:nvSpPr>
        <p:spPr>
          <a:xfrm>
            <a:off x="812800" y="6096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E66C37"/>
                </a:solidFill>
                <a:latin typeface="Barlow" pitchFamily="34" charset="0"/>
                <a:ea typeface="Barlow" pitchFamily="34" charset="-122"/>
                <a:cs typeface="Barlow" pitchFamily="34" charset="-120"/>
              </a:rPr>
              <a:t>PAGE 2 · FAMILY AND STUDY</a:t>
            </a:r>
            <a:endParaRPr lang="en-US" sz="1400" dirty="0"/>
          </a:p>
        </p:txBody>
      </p:sp>
      <p:sp>
        <p:nvSpPr>
          <p:cNvPr id="3" name="Text 1"/>
          <p:cNvSpPr/>
          <p:nvPr>
            <p:ph type="title"/>
          </p:nvPr>
        </p:nvSpPr>
        <p:spPr>
          <a:xfrm>
            <a:off x="812800" y="1061721"/>
            <a:ext cx="10883392" cy="500380"/>
          </a:xfrm>
          <a:prstGeom prst="rect">
            <a:avLst/>
          </a:prstGeom>
          <a:noFill/>
          <a:ln/>
        </p:spPr>
        <p:txBody>
          <a:bodyPr wrap="square" lIns="0" tIns="0" rIns="0" bIns="0" rtlCol="0" anchor="t">
            <a:normAutofit/>
          </a:bodyPr>
          <a:lstStyle/>
          <a:p>
            <a:pPr algn="l" indent="0" marL="0">
              <a:lnSpc>
                <a:spcPts val="3740"/>
              </a:lnSpc>
              <a:buNone/>
            </a:pPr>
            <a:r>
              <a:rPr lang="en-US" sz="3400" b="1" i="0" dirty="0">
                <a:solidFill>
                  <a:srgbClr val="FFFFFF"/>
                </a:solidFill>
                <a:latin typeface="Barlow Condensed" pitchFamily="34" charset="0"/>
                <a:ea typeface="Barlow Condensed" pitchFamily="34" charset="-122"/>
                <a:cs typeface="Barlow Condensed" pitchFamily="34" charset="-120"/>
              </a:rPr>
              <a:t>What we learned</a:t>
            </a:r>
            <a:endParaRPr lang="en-US" sz="3400" dirty="0"/>
          </a:p>
        </p:txBody>
      </p:sp>
      <p:sp>
        <p:nvSpPr>
          <p:cNvPr id="4" name="Shape 2"/>
          <p:cNvSpPr/>
          <p:nvPr/>
        </p:nvSpPr>
        <p:spPr>
          <a:xfrm>
            <a:off x="822325" y="1749425"/>
            <a:ext cx="3384550" cy="1328420"/>
          </a:xfrm>
          <a:prstGeom prst="roundRect">
            <a:avLst>
              <a:gd name="adj" fmla="val 8843"/>
            </a:avLst>
          </a:prstGeom>
          <a:solidFill>
            <a:srgbClr val="F4F4EF"/>
          </a:solidFill>
          <a:ln w="19050">
            <a:solidFill>
              <a:srgbClr val="A01D26"/>
            </a:solidFill>
            <a:prstDash val="solid"/>
          </a:ln>
        </p:spPr>
      </p:sp>
      <p:sp>
        <p:nvSpPr>
          <p:cNvPr id="5" name="Text 3"/>
          <p:cNvSpPr/>
          <p:nvPr/>
        </p:nvSpPr>
        <p:spPr>
          <a:xfrm>
            <a:off x="1005840" y="1920242"/>
            <a:ext cx="3108046" cy="532130"/>
          </a:xfrm>
          <a:prstGeom prst="rect">
            <a:avLst/>
          </a:prstGeom>
          <a:noFill/>
          <a:ln/>
        </p:spPr>
        <p:txBody>
          <a:bodyPr wrap="square" lIns="0" tIns="0" rIns="0" bIns="0" rtlCol="0" anchor="t">
            <a:normAutofit/>
          </a:bodyPr>
          <a:lstStyle/>
          <a:p>
            <a:pPr algn="l" indent="0" marL="0">
              <a:lnSpc>
                <a:spcPts val="3990"/>
              </a:lnSpc>
              <a:buNone/>
            </a:pPr>
            <a:r>
              <a:rPr lang="en-US" sz="3800" b="1" dirty="0">
                <a:solidFill>
                  <a:srgbClr val="A01D26"/>
                </a:solidFill>
                <a:latin typeface="Barlow Condensed" pitchFamily="34" charset="0"/>
                <a:ea typeface="Barlow Condensed" pitchFamily="34" charset="-122"/>
                <a:cs typeface="Barlow Condensed" pitchFamily="34" charset="-120"/>
              </a:rPr>
              <a:t>61%</a:t>
            </a:r>
            <a:endParaRPr lang="en-US" sz="3800" dirty="0"/>
          </a:p>
        </p:txBody>
      </p:sp>
      <p:sp>
        <p:nvSpPr>
          <p:cNvPr id="6" name="Text 4"/>
          <p:cNvSpPr/>
          <p:nvPr/>
        </p:nvSpPr>
        <p:spPr>
          <a:xfrm>
            <a:off x="1005840" y="2477771"/>
            <a:ext cx="3108046" cy="45466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2B1A1C"/>
                </a:solidFill>
                <a:latin typeface="Barlow" pitchFamily="34" charset="0"/>
                <a:ea typeface="Barlow" pitchFamily="34" charset="-122"/>
                <a:cs typeface="Barlow" pitchFamily="34" charset="-120"/>
              </a:rPr>
              <a:t>of students (242) have educational support from their family.</a:t>
            </a:r>
            <a:endParaRPr lang="en-US" sz="1300" dirty="0"/>
          </a:p>
        </p:txBody>
      </p:sp>
      <p:sp>
        <p:nvSpPr>
          <p:cNvPr id="7" name="Shape 5"/>
          <p:cNvSpPr/>
          <p:nvPr/>
        </p:nvSpPr>
        <p:spPr>
          <a:xfrm>
            <a:off x="4403725" y="1749425"/>
            <a:ext cx="3384550" cy="1328420"/>
          </a:xfrm>
          <a:prstGeom prst="roundRect">
            <a:avLst>
              <a:gd name="adj" fmla="val 8843"/>
            </a:avLst>
          </a:prstGeom>
          <a:solidFill>
            <a:srgbClr val="F4F4EF"/>
          </a:solidFill>
          <a:ln w="19050">
            <a:solidFill>
              <a:srgbClr val="A01D26"/>
            </a:solidFill>
            <a:prstDash val="solid"/>
          </a:ln>
        </p:spPr>
      </p:sp>
      <p:sp>
        <p:nvSpPr>
          <p:cNvPr id="8" name="Text 6"/>
          <p:cNvSpPr/>
          <p:nvPr/>
        </p:nvSpPr>
        <p:spPr>
          <a:xfrm>
            <a:off x="4587240" y="1920242"/>
            <a:ext cx="3108046" cy="532130"/>
          </a:xfrm>
          <a:prstGeom prst="rect">
            <a:avLst/>
          </a:prstGeom>
          <a:noFill/>
          <a:ln/>
        </p:spPr>
        <p:txBody>
          <a:bodyPr wrap="square" lIns="0" tIns="0" rIns="0" bIns="0" rtlCol="0" anchor="t">
            <a:normAutofit/>
          </a:bodyPr>
          <a:lstStyle/>
          <a:p>
            <a:pPr algn="l" indent="0" marL="0">
              <a:lnSpc>
                <a:spcPts val="3990"/>
              </a:lnSpc>
              <a:buNone/>
            </a:pPr>
            <a:r>
              <a:rPr lang="en-US" sz="3800" b="1" dirty="0">
                <a:solidFill>
                  <a:srgbClr val="A01D26"/>
                </a:solidFill>
                <a:latin typeface="Barlow Condensed" pitchFamily="34" charset="0"/>
                <a:ea typeface="Barlow Condensed" pitchFamily="34" charset="-122"/>
                <a:cs typeface="Barlow Condensed" pitchFamily="34" charset="-120"/>
              </a:rPr>
              <a:t>89%</a:t>
            </a:r>
            <a:endParaRPr lang="en-US" sz="3800" dirty="0"/>
          </a:p>
        </p:txBody>
      </p:sp>
      <p:sp>
        <p:nvSpPr>
          <p:cNvPr id="9" name="Text 7"/>
          <p:cNvSpPr/>
          <p:nvPr/>
        </p:nvSpPr>
        <p:spPr>
          <a:xfrm>
            <a:off x="4587240" y="2477771"/>
            <a:ext cx="3108046" cy="24003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2B1A1C"/>
                </a:solidFill>
                <a:latin typeface="Barlow" pitchFamily="34" charset="0"/>
                <a:ea typeface="Barlow" pitchFamily="34" charset="-122"/>
                <a:cs typeface="Barlow" pitchFamily="34" charset="-120"/>
              </a:rPr>
              <a:t>(355 students) live with both parents.</a:t>
            </a:r>
            <a:endParaRPr lang="en-US" sz="1300" dirty="0"/>
          </a:p>
        </p:txBody>
      </p:sp>
      <p:sp>
        <p:nvSpPr>
          <p:cNvPr id="10" name="Shape 8"/>
          <p:cNvSpPr/>
          <p:nvPr/>
        </p:nvSpPr>
        <p:spPr>
          <a:xfrm>
            <a:off x="7985125" y="1749425"/>
            <a:ext cx="3384550" cy="1328420"/>
          </a:xfrm>
          <a:prstGeom prst="roundRect">
            <a:avLst>
              <a:gd name="adj" fmla="val 8843"/>
            </a:avLst>
          </a:prstGeom>
          <a:solidFill>
            <a:srgbClr val="F4F4EF"/>
          </a:solidFill>
          <a:ln w="19050">
            <a:solidFill>
              <a:srgbClr val="A01D26"/>
            </a:solidFill>
            <a:prstDash val="solid"/>
          </a:ln>
        </p:spPr>
      </p:sp>
      <p:sp>
        <p:nvSpPr>
          <p:cNvPr id="11" name="Text 9"/>
          <p:cNvSpPr/>
          <p:nvPr/>
        </p:nvSpPr>
        <p:spPr>
          <a:xfrm>
            <a:off x="8168640" y="1920242"/>
            <a:ext cx="3108046" cy="532130"/>
          </a:xfrm>
          <a:prstGeom prst="rect">
            <a:avLst/>
          </a:prstGeom>
          <a:noFill/>
          <a:ln/>
        </p:spPr>
        <p:txBody>
          <a:bodyPr wrap="square" lIns="0" tIns="0" rIns="0" bIns="0" rtlCol="0" anchor="t">
            <a:normAutofit/>
          </a:bodyPr>
          <a:lstStyle/>
          <a:p>
            <a:pPr algn="l" indent="0" marL="0">
              <a:lnSpc>
                <a:spcPts val="3990"/>
              </a:lnSpc>
              <a:buNone/>
            </a:pPr>
            <a:r>
              <a:rPr lang="en-US" sz="3800" b="1" dirty="0">
                <a:solidFill>
                  <a:srgbClr val="A01D26"/>
                </a:solidFill>
                <a:latin typeface="Barlow Condensed" pitchFamily="34" charset="0"/>
                <a:ea typeface="Barlow Condensed" pitchFamily="34" charset="-122"/>
                <a:cs typeface="Barlow Condensed" pitchFamily="34" charset="-120"/>
              </a:rPr>
              <a:t>283 vs 114</a:t>
            </a:r>
            <a:endParaRPr lang="en-US" sz="3800" dirty="0"/>
          </a:p>
        </p:txBody>
      </p:sp>
      <p:sp>
        <p:nvSpPr>
          <p:cNvPr id="12" name="Text 10"/>
          <p:cNvSpPr/>
          <p:nvPr/>
        </p:nvSpPr>
        <p:spPr>
          <a:xfrm>
            <a:off x="8168640" y="2477771"/>
            <a:ext cx="3108046" cy="45466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2B1A1C"/>
                </a:solidFill>
                <a:latin typeface="Barlow" pitchFamily="34" charset="0"/>
                <a:ea typeface="Barlow" pitchFamily="34" charset="-122"/>
                <a:cs typeface="Barlow" pitchFamily="34" charset="-120"/>
              </a:rPr>
              <a:t>students come from larger families (more than 3 members) versus smaller ones.</a:t>
            </a:r>
            <a:endParaRPr lang="en-US" sz="1300" dirty="0"/>
          </a:p>
        </p:txBody>
      </p:sp>
      <p:sp>
        <p:nvSpPr>
          <p:cNvPr id="13" name="Shape 11"/>
          <p:cNvSpPr/>
          <p:nvPr/>
        </p:nvSpPr>
        <p:spPr>
          <a:xfrm>
            <a:off x="822325" y="3300096"/>
            <a:ext cx="3384550" cy="1543050"/>
          </a:xfrm>
          <a:prstGeom prst="roundRect">
            <a:avLst>
              <a:gd name="adj" fmla="val 7613"/>
            </a:avLst>
          </a:prstGeom>
          <a:solidFill>
            <a:srgbClr val="F4F4EF"/>
          </a:solidFill>
          <a:ln w="19050">
            <a:solidFill>
              <a:srgbClr val="A01D26"/>
            </a:solidFill>
            <a:prstDash val="solid"/>
          </a:ln>
        </p:spPr>
      </p:sp>
      <p:sp>
        <p:nvSpPr>
          <p:cNvPr id="14" name="Text 12"/>
          <p:cNvSpPr/>
          <p:nvPr/>
        </p:nvSpPr>
        <p:spPr>
          <a:xfrm>
            <a:off x="1005840" y="3470914"/>
            <a:ext cx="3108046" cy="532130"/>
          </a:xfrm>
          <a:prstGeom prst="rect">
            <a:avLst/>
          </a:prstGeom>
          <a:noFill/>
          <a:ln/>
        </p:spPr>
        <p:txBody>
          <a:bodyPr wrap="square" lIns="0" tIns="0" rIns="0" bIns="0" rtlCol="0" anchor="t">
            <a:normAutofit/>
          </a:bodyPr>
          <a:lstStyle/>
          <a:p>
            <a:pPr algn="l" indent="0" marL="0">
              <a:lnSpc>
                <a:spcPts val="3990"/>
              </a:lnSpc>
              <a:buNone/>
            </a:pPr>
            <a:r>
              <a:rPr lang="en-US" sz="3800" b="1" dirty="0">
                <a:solidFill>
                  <a:srgbClr val="A01D26"/>
                </a:solidFill>
                <a:latin typeface="Barlow Condensed" pitchFamily="34" charset="0"/>
                <a:ea typeface="Barlow Condensed" pitchFamily="34" charset="-122"/>
                <a:cs typeface="Barlow Condensed" pitchFamily="34" charset="-120"/>
              </a:rPr>
              <a:t>69%</a:t>
            </a:r>
            <a:endParaRPr lang="en-US" sz="3800" dirty="0"/>
          </a:p>
        </p:txBody>
      </p:sp>
      <p:sp>
        <p:nvSpPr>
          <p:cNvPr id="15" name="Text 13"/>
          <p:cNvSpPr/>
          <p:nvPr/>
        </p:nvSpPr>
        <p:spPr>
          <a:xfrm>
            <a:off x="1005840" y="4028442"/>
            <a:ext cx="3108046" cy="45466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2B1A1C"/>
                </a:solidFill>
                <a:latin typeface="Barlow" pitchFamily="34" charset="0"/>
                <a:ea typeface="Barlow" pitchFamily="34" charset="-122"/>
                <a:cs typeface="Barlow" pitchFamily="34" charset="-120"/>
              </a:rPr>
              <a:t>of passing students have their mother as guardian: 150 of 216.</a:t>
            </a:r>
            <a:endParaRPr lang="en-US" sz="1300" dirty="0"/>
          </a:p>
        </p:txBody>
      </p:sp>
      <p:sp>
        <p:nvSpPr>
          <p:cNvPr id="16" name="Shape 14"/>
          <p:cNvSpPr/>
          <p:nvPr/>
        </p:nvSpPr>
        <p:spPr>
          <a:xfrm>
            <a:off x="4403725" y="3300096"/>
            <a:ext cx="3384550" cy="1543050"/>
          </a:xfrm>
          <a:prstGeom prst="roundRect">
            <a:avLst>
              <a:gd name="adj" fmla="val 7613"/>
            </a:avLst>
          </a:prstGeom>
          <a:solidFill>
            <a:srgbClr val="F4F4EF"/>
          </a:solidFill>
          <a:ln w="19050">
            <a:solidFill>
              <a:srgbClr val="A01D26"/>
            </a:solidFill>
            <a:prstDash val="solid"/>
          </a:ln>
        </p:spPr>
      </p:sp>
      <p:sp>
        <p:nvSpPr>
          <p:cNvPr id="17" name="Text 15"/>
          <p:cNvSpPr/>
          <p:nvPr/>
        </p:nvSpPr>
        <p:spPr>
          <a:xfrm>
            <a:off x="4587240" y="3470914"/>
            <a:ext cx="3108046" cy="532130"/>
          </a:xfrm>
          <a:prstGeom prst="rect">
            <a:avLst/>
          </a:prstGeom>
          <a:noFill/>
          <a:ln/>
        </p:spPr>
        <p:txBody>
          <a:bodyPr wrap="square" lIns="0" tIns="0" rIns="0" bIns="0" rtlCol="0" anchor="t">
            <a:normAutofit/>
          </a:bodyPr>
          <a:lstStyle/>
          <a:p>
            <a:pPr algn="l" indent="0" marL="0">
              <a:lnSpc>
                <a:spcPts val="3990"/>
              </a:lnSpc>
              <a:buNone/>
            </a:pPr>
            <a:r>
              <a:rPr lang="en-US" sz="3800" b="1" dirty="0">
                <a:solidFill>
                  <a:srgbClr val="A01D26"/>
                </a:solidFill>
                <a:latin typeface="Barlow Condensed" pitchFamily="34" charset="0"/>
                <a:ea typeface="Barlow Condensed" pitchFamily="34" charset="-122"/>
                <a:cs typeface="Barlow Condensed" pitchFamily="34" charset="-120"/>
              </a:rPr>
              <a:t>50%</a:t>
            </a:r>
            <a:endParaRPr lang="en-US" sz="3800" dirty="0"/>
          </a:p>
        </p:txBody>
      </p:sp>
      <p:sp>
        <p:nvSpPr>
          <p:cNvPr id="18" name="Text 16"/>
          <p:cNvSpPr/>
          <p:nvPr/>
        </p:nvSpPr>
        <p:spPr>
          <a:xfrm>
            <a:off x="4587240" y="4028442"/>
            <a:ext cx="3108046" cy="45466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2B1A1C"/>
                </a:solidFill>
                <a:latin typeface="Barlow" pitchFamily="34" charset="0"/>
                <a:ea typeface="Barlow" pitchFamily="34" charset="-122"/>
                <a:cs typeface="Barlow" pitchFamily="34" charset="-120"/>
              </a:rPr>
              <a:t>of passing students (108) rate their family relations 4 out of 5.</a:t>
            </a:r>
            <a:endParaRPr lang="en-US" sz="1300" dirty="0"/>
          </a:p>
        </p:txBody>
      </p:sp>
      <p:sp>
        <p:nvSpPr>
          <p:cNvPr id="19" name="Shape 17"/>
          <p:cNvSpPr/>
          <p:nvPr/>
        </p:nvSpPr>
        <p:spPr>
          <a:xfrm>
            <a:off x="7985125" y="3300096"/>
            <a:ext cx="3384550" cy="1543050"/>
          </a:xfrm>
          <a:prstGeom prst="roundRect">
            <a:avLst>
              <a:gd name="adj" fmla="val 7613"/>
            </a:avLst>
          </a:prstGeom>
          <a:solidFill>
            <a:srgbClr val="F4F4EF"/>
          </a:solidFill>
          <a:ln w="19050">
            <a:solidFill>
              <a:srgbClr val="A01D26"/>
            </a:solidFill>
            <a:prstDash val="solid"/>
          </a:ln>
        </p:spPr>
      </p:sp>
      <p:sp>
        <p:nvSpPr>
          <p:cNvPr id="20" name="Text 18"/>
          <p:cNvSpPr/>
          <p:nvPr/>
        </p:nvSpPr>
        <p:spPr>
          <a:xfrm>
            <a:off x="8168640" y="3470914"/>
            <a:ext cx="3108046" cy="532130"/>
          </a:xfrm>
          <a:prstGeom prst="rect">
            <a:avLst/>
          </a:prstGeom>
          <a:noFill/>
          <a:ln/>
        </p:spPr>
        <p:txBody>
          <a:bodyPr wrap="square" lIns="0" tIns="0" rIns="0" bIns="0" rtlCol="0" anchor="t">
            <a:normAutofit/>
          </a:bodyPr>
          <a:lstStyle/>
          <a:p>
            <a:pPr algn="l" indent="0" marL="0">
              <a:lnSpc>
                <a:spcPts val="3990"/>
              </a:lnSpc>
              <a:buNone/>
            </a:pPr>
            <a:r>
              <a:rPr lang="en-US" sz="3800" b="1" dirty="0">
                <a:solidFill>
                  <a:srgbClr val="A01D26"/>
                </a:solidFill>
                <a:latin typeface="Barlow Condensed" pitchFamily="34" charset="0"/>
                <a:ea typeface="Barlow Condensed" pitchFamily="34" charset="-122"/>
                <a:cs typeface="Barlow Condensed" pitchFamily="34" charset="-120"/>
              </a:rPr>
              <a:t>+1.31</a:t>
            </a:r>
            <a:endParaRPr lang="en-US" sz="3800" dirty="0"/>
          </a:p>
        </p:txBody>
      </p:sp>
      <p:sp>
        <p:nvSpPr>
          <p:cNvPr id="21" name="Text 19"/>
          <p:cNvSpPr/>
          <p:nvPr/>
        </p:nvSpPr>
        <p:spPr>
          <a:xfrm>
            <a:off x="8168640" y="4028442"/>
            <a:ext cx="3108046" cy="66929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2B1A1C"/>
                </a:solidFill>
                <a:latin typeface="Barlow" pitchFamily="34" charset="0"/>
                <a:ea typeface="Barlow" pitchFamily="34" charset="-122"/>
                <a:cs typeface="Barlow" pitchFamily="34" charset="-120"/>
              </a:rPr>
              <a:t>points in average grades for students with internet and no paid classes: 10.62 versus 9.31.</a:t>
            </a:r>
            <a:endParaRPr lang="en-US" sz="1300" dirty="0"/>
          </a:p>
        </p:txBody>
      </p:sp>
      <p:sp>
        <p:nvSpPr>
          <p:cNvPr id="22" name="Text 20"/>
          <p:cNvSpPr/>
          <p:nvPr/>
        </p:nvSpPr>
        <p:spPr>
          <a:xfrm>
            <a:off x="812800" y="6238242"/>
            <a:ext cx="91567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0AB"/>
                </a:solidFill>
                <a:latin typeface="Barlow" pitchFamily="34" charset="0"/>
                <a:ea typeface="Barlow" pitchFamily="34" charset="-122"/>
                <a:cs typeface="Barlow" pitchFamily="34" charset="-120"/>
              </a:rPr>
              <a:t>Students Performance Dashboard · Project brief · 10</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20232A"/>
        </a:solidFill>
      </p:bgPr>
    </p:bg>
    <p:spTree>
      <p:nvGrpSpPr>
        <p:cNvPr id="1" name=""/>
        <p:cNvGrpSpPr/>
        <p:nvPr/>
      </p:nvGrpSpPr>
      <p:grpSpPr>
        <a:xfrm>
          <a:off x="0" y="0"/>
          <a:ext cx="0" cy="0"/>
          <a:chOff x="0" y="0"/>
          <a:chExt cx="0" cy="0"/>
        </a:xfrm>
      </p:grpSpPr>
      <p:pic>
        <p:nvPicPr>
          <p:cNvPr id="2" name="Image 0" descr="Dashboard page 3: students performance">    </p:cNvPr>
          <p:cNvPicPr>
            <a:picLocks noChangeAspect="1"/>
          </p:cNvPicPr>
          <p:nvPr/>
        </p:nvPicPr>
        <p:blipFill>
          <a:blip r:embed="rId1"/>
          <a:srcRect l="0" r="0" t="-12" b="-12"/>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20232A"/>
        </a:solidFill>
      </p:bgPr>
    </p:bg>
    <p:spTree>
      <p:nvGrpSpPr>
        <p:cNvPr id="1" name=""/>
        <p:cNvGrpSpPr/>
        <p:nvPr/>
      </p:nvGrpSpPr>
      <p:grpSpPr>
        <a:xfrm>
          <a:off x="0" y="0"/>
          <a:ext cx="0" cy="0"/>
          <a:chOff x="0" y="0"/>
          <a:chExt cx="0" cy="0"/>
        </a:xfrm>
      </p:grpSpPr>
      <p:sp>
        <p:nvSpPr>
          <p:cNvPr id="2" name="Text 0"/>
          <p:cNvSpPr/>
          <p:nvPr/>
        </p:nvSpPr>
        <p:spPr>
          <a:xfrm>
            <a:off x="609600" y="457200"/>
            <a:ext cx="11301984"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E66C37"/>
                </a:solidFill>
                <a:latin typeface="Barlow" pitchFamily="34" charset="0"/>
                <a:ea typeface="Barlow" pitchFamily="34" charset="-122"/>
                <a:cs typeface="Barlow" pitchFamily="34" charset="-120"/>
              </a:rPr>
              <a:t>PAGE 3 · HEALTH AND LIFESTYLE</a:t>
            </a:r>
            <a:endParaRPr lang="en-US" sz="1400" dirty="0"/>
          </a:p>
        </p:txBody>
      </p:sp>
      <p:sp>
        <p:nvSpPr>
          <p:cNvPr id="3" name="Text 1"/>
          <p:cNvSpPr/>
          <p:nvPr>
            <p:ph type="title"/>
          </p:nvPr>
        </p:nvSpPr>
        <p:spPr>
          <a:xfrm>
            <a:off x="609600" y="909321"/>
            <a:ext cx="11301984" cy="41656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FFFFFF"/>
                </a:solidFill>
                <a:latin typeface="Barlow Condensed" pitchFamily="34" charset="0"/>
                <a:ea typeface="Barlow Condensed" pitchFamily="34" charset="-122"/>
                <a:cs typeface="Barlow Condensed" pitchFamily="34" charset="-120"/>
              </a:rPr>
              <a:t>Each visual and its job</a:t>
            </a:r>
            <a:endParaRPr lang="en-US" sz="2800" dirty="0"/>
          </a:p>
        </p:txBody>
      </p:sp>
      <p:sp>
        <p:nvSpPr>
          <p:cNvPr id="4" name="Shape 2"/>
          <p:cNvSpPr/>
          <p:nvPr/>
        </p:nvSpPr>
        <p:spPr>
          <a:xfrm>
            <a:off x="619125" y="1513204"/>
            <a:ext cx="10953750" cy="2945130"/>
          </a:xfrm>
          <a:prstGeom prst="roundRect">
            <a:avLst>
              <a:gd name="adj" fmla="val 3989"/>
            </a:avLst>
          </a:prstGeom>
          <a:solidFill>
            <a:srgbClr val="F4F4EF"/>
          </a:solidFill>
          <a:ln w="19050">
            <a:solidFill>
              <a:srgbClr val="A01D26"/>
            </a:solidFill>
            <a:prstDash val="solid"/>
          </a:ln>
        </p:spPr>
      </p:sp>
      <p:sp>
        <p:nvSpPr>
          <p:cNvPr id="5" name="Shape 3"/>
          <p:cNvSpPr/>
          <p:nvPr/>
        </p:nvSpPr>
        <p:spPr>
          <a:xfrm>
            <a:off x="624840" y="1518921"/>
            <a:ext cx="10942320" cy="342900"/>
          </a:xfrm>
          <a:custGeom>
            <a:avLst/>
            <a:gdLst/>
            <a:ahLst/>
            <a:cxnLst/>
            <a:rect l="l" t="t" r="r" b="b"/>
            <a:pathLst>
              <a:path w="10942320" h="342900">
                <a:moveTo>
                  <a:pt x="101600" y="0"/>
                </a:moveTo>
                <a:lnTo>
                  <a:pt x="10840720" y="0"/>
                </a:lnTo>
                <a:arcTo hR="101600" wR="101600" stAng="16200000" swAng="5400000"/>
                <a:lnTo>
                  <a:pt x="10942320" y="342900"/>
                </a:lnTo>
                <a:lnTo>
                  <a:pt x="0" y="342900"/>
                </a:lnTo>
                <a:lnTo>
                  <a:pt x="0" y="101600"/>
                </a:lnTo>
                <a:arcTo hR="101600" wR="101600" stAng="10800000" swAng="5400000"/>
                <a:close/>
              </a:path>
            </a:pathLst>
          </a:custGeom>
          <a:solidFill>
            <a:srgbClr val="A01D26"/>
          </a:solidFill>
          <a:ln/>
        </p:spPr>
      </p:sp>
      <p:sp>
        <p:nvSpPr>
          <p:cNvPr id="6" name="Text 4"/>
          <p:cNvSpPr/>
          <p:nvPr/>
        </p:nvSpPr>
        <p:spPr>
          <a:xfrm>
            <a:off x="764540" y="1595121"/>
            <a:ext cx="2092960"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FFFFFF"/>
                </a:solidFill>
                <a:latin typeface="Barlow" pitchFamily="34" charset="0"/>
                <a:ea typeface="Barlow" pitchFamily="34" charset="-122"/>
                <a:cs typeface="Barlow" pitchFamily="34" charset="-120"/>
              </a:rPr>
              <a:t>Visual</a:t>
            </a:r>
            <a:endParaRPr lang="en-US" sz="1200" dirty="0"/>
          </a:p>
        </p:txBody>
      </p:sp>
      <p:sp>
        <p:nvSpPr>
          <p:cNvPr id="7" name="Text 5"/>
          <p:cNvSpPr/>
          <p:nvPr/>
        </p:nvSpPr>
        <p:spPr>
          <a:xfrm>
            <a:off x="2898140" y="1595121"/>
            <a:ext cx="1511300"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FFFFFF"/>
                </a:solidFill>
                <a:latin typeface="Barlow" pitchFamily="34" charset="0"/>
                <a:ea typeface="Barlow" pitchFamily="34" charset="-122"/>
                <a:cs typeface="Barlow" pitchFamily="34" charset="-120"/>
              </a:rPr>
              <a:t>Chart type</a:t>
            </a:r>
            <a:endParaRPr lang="en-US" sz="1200" dirty="0"/>
          </a:p>
        </p:txBody>
      </p:sp>
      <p:sp>
        <p:nvSpPr>
          <p:cNvPr id="8" name="Text 6"/>
          <p:cNvSpPr/>
          <p:nvPr/>
        </p:nvSpPr>
        <p:spPr>
          <a:xfrm>
            <a:off x="4460240" y="1595121"/>
            <a:ext cx="4251325"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FFFFFF"/>
                </a:solidFill>
                <a:latin typeface="Barlow" pitchFamily="34" charset="0"/>
                <a:ea typeface="Barlow" pitchFamily="34" charset="-122"/>
                <a:cs typeface="Barlow" pitchFamily="34" charset="-120"/>
              </a:rPr>
              <a:t>Question it answers</a:t>
            </a:r>
            <a:endParaRPr lang="en-US" sz="1200" dirty="0"/>
          </a:p>
        </p:txBody>
      </p:sp>
      <p:sp>
        <p:nvSpPr>
          <p:cNvPr id="9" name="Text 7"/>
          <p:cNvSpPr/>
          <p:nvPr/>
        </p:nvSpPr>
        <p:spPr>
          <a:xfrm>
            <a:off x="8689340" y="1595121"/>
            <a:ext cx="3074035"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FFFFFF"/>
                </a:solidFill>
                <a:latin typeface="Barlow" pitchFamily="34" charset="0"/>
                <a:ea typeface="Barlow" pitchFamily="34" charset="-122"/>
                <a:cs typeface="Barlow" pitchFamily="34" charset="-120"/>
              </a:rPr>
              <a:t>Measures</a:t>
            </a:r>
            <a:endParaRPr lang="en-US" sz="1200" dirty="0"/>
          </a:p>
        </p:txBody>
      </p:sp>
      <p:sp>
        <p:nvSpPr>
          <p:cNvPr id="10" name="Shape 8"/>
          <p:cNvSpPr/>
          <p:nvPr/>
        </p:nvSpPr>
        <p:spPr>
          <a:xfrm>
            <a:off x="624840" y="1861821"/>
            <a:ext cx="10942320" cy="342900"/>
          </a:xfrm>
          <a:prstGeom prst="rect">
            <a:avLst/>
          </a:prstGeom>
          <a:solidFill>
            <a:srgbClr val="F4F4EF"/>
          </a:solidFill>
          <a:ln/>
        </p:spPr>
      </p:sp>
      <p:sp>
        <p:nvSpPr>
          <p:cNvPr id="11" name="Text 9"/>
          <p:cNvSpPr/>
          <p:nvPr/>
        </p:nvSpPr>
        <p:spPr>
          <a:xfrm>
            <a:off x="764540" y="1938021"/>
            <a:ext cx="209296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2B1A1C"/>
                </a:solidFill>
                <a:latin typeface="Barlow" pitchFamily="34" charset="0"/>
                <a:ea typeface="Barlow" pitchFamily="34" charset="-122"/>
                <a:cs typeface="Barlow" pitchFamily="34" charset="-120"/>
              </a:rPr>
              <a:t>Slicers</a:t>
            </a:r>
            <a:endParaRPr lang="en-US" sz="1200" dirty="0"/>
          </a:p>
        </p:txBody>
      </p:sp>
      <p:sp>
        <p:nvSpPr>
          <p:cNvPr id="12" name="Text 10"/>
          <p:cNvSpPr/>
          <p:nvPr/>
        </p:nvSpPr>
        <p:spPr>
          <a:xfrm>
            <a:off x="2898140" y="1938021"/>
            <a:ext cx="15113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2B1A1C"/>
                </a:solidFill>
                <a:latin typeface="Barlow" pitchFamily="34" charset="0"/>
                <a:ea typeface="Barlow" pitchFamily="34" charset="-122"/>
                <a:cs typeface="Barlow" pitchFamily="34" charset="-120"/>
              </a:rPr>
              <a:t>Dropdowns</a:t>
            </a:r>
            <a:endParaRPr lang="en-US" sz="1200" dirty="0"/>
          </a:p>
        </p:txBody>
      </p:sp>
      <p:sp>
        <p:nvSpPr>
          <p:cNvPr id="13" name="Text 11"/>
          <p:cNvSpPr/>
          <p:nvPr/>
        </p:nvSpPr>
        <p:spPr>
          <a:xfrm>
            <a:off x="4460240" y="1938021"/>
            <a:ext cx="4251325"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2B1A1C"/>
                </a:solidFill>
                <a:latin typeface="Barlow" pitchFamily="34" charset="0"/>
                <a:ea typeface="Barlow" pitchFamily="34" charset="-122"/>
                <a:cs typeface="Barlow" pitchFamily="34" charset="-120"/>
              </a:rPr>
              <a:t>Which group are we looking at?</a:t>
            </a:r>
            <a:endParaRPr lang="en-US" sz="1200" dirty="0"/>
          </a:p>
        </p:txBody>
      </p:sp>
      <p:sp>
        <p:nvSpPr>
          <p:cNvPr id="14" name="Text 12"/>
          <p:cNvSpPr/>
          <p:nvPr/>
        </p:nvSpPr>
        <p:spPr>
          <a:xfrm>
            <a:off x="8689340" y="1938021"/>
            <a:ext cx="3074035"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2B1A1C"/>
                </a:solidFill>
                <a:latin typeface="Barlow" pitchFamily="34" charset="0"/>
                <a:ea typeface="Barlow" pitchFamily="34" charset="-122"/>
                <a:cs typeface="Barlow" pitchFamily="34" charset="-120"/>
              </a:rPr>
              <a:t>Address, School, Gender</a:t>
            </a:r>
            <a:endParaRPr lang="en-US" sz="1200" dirty="0"/>
          </a:p>
        </p:txBody>
      </p:sp>
      <p:sp>
        <p:nvSpPr>
          <p:cNvPr id="15" name="Shape 13"/>
          <p:cNvSpPr/>
          <p:nvPr/>
        </p:nvSpPr>
        <p:spPr>
          <a:xfrm>
            <a:off x="624840" y="2204721"/>
            <a:ext cx="10942320" cy="533400"/>
          </a:xfrm>
          <a:prstGeom prst="rect">
            <a:avLst/>
          </a:prstGeom>
          <a:solidFill>
            <a:srgbClr val="E6E6DE"/>
          </a:solidFill>
          <a:ln/>
        </p:spPr>
      </p:sp>
      <p:sp>
        <p:nvSpPr>
          <p:cNvPr id="16" name="Text 14"/>
          <p:cNvSpPr/>
          <p:nvPr/>
        </p:nvSpPr>
        <p:spPr>
          <a:xfrm>
            <a:off x="764540" y="2280921"/>
            <a:ext cx="2092960"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2B1A1C"/>
                </a:solidFill>
                <a:latin typeface="Barlow" pitchFamily="34" charset="0"/>
                <a:ea typeface="Barlow" pitchFamily="34" charset="-122"/>
                <a:cs typeface="Barlow" pitchFamily="34" charset="-120"/>
              </a:rPr>
              <a:t>KPI cards</a:t>
            </a:r>
            <a:endParaRPr lang="en-US" sz="1200" dirty="0"/>
          </a:p>
        </p:txBody>
      </p:sp>
      <p:sp>
        <p:nvSpPr>
          <p:cNvPr id="17" name="Text 15"/>
          <p:cNvSpPr/>
          <p:nvPr/>
        </p:nvSpPr>
        <p:spPr>
          <a:xfrm>
            <a:off x="2898140" y="2280921"/>
            <a:ext cx="1511300"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2B1A1C"/>
                </a:solidFill>
                <a:latin typeface="Barlow" pitchFamily="34" charset="0"/>
                <a:ea typeface="Barlow" pitchFamily="34" charset="-122"/>
                <a:cs typeface="Barlow" pitchFamily="34" charset="-120"/>
              </a:rPr>
              <a:t>Cards</a:t>
            </a:r>
            <a:endParaRPr lang="en-US" sz="1200" dirty="0"/>
          </a:p>
        </p:txBody>
      </p:sp>
      <p:sp>
        <p:nvSpPr>
          <p:cNvPr id="18" name="Text 16"/>
          <p:cNvSpPr/>
          <p:nvPr/>
        </p:nvSpPr>
        <p:spPr>
          <a:xfrm>
            <a:off x="4460240" y="2280921"/>
            <a:ext cx="4251325"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2B1A1C"/>
                </a:solidFill>
                <a:latin typeface="Barlow" pitchFamily="34" charset="0"/>
                <a:ea typeface="Barlow" pitchFamily="34" charset="-122"/>
                <a:cs typeface="Barlow" pitchFamily="34" charset="-120"/>
              </a:rPr>
              <a:t>Who needs attention, and how healthy is the group?</a:t>
            </a:r>
            <a:endParaRPr lang="en-US" sz="1200" dirty="0"/>
          </a:p>
        </p:txBody>
      </p:sp>
      <p:sp>
        <p:nvSpPr>
          <p:cNvPr id="19" name="Text 17"/>
          <p:cNvSpPr/>
          <p:nvPr/>
        </p:nvSpPr>
        <p:spPr>
          <a:xfrm>
            <a:off x="8689340" y="2280921"/>
            <a:ext cx="3074035"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2B1A1C"/>
                </a:solidFill>
                <a:latin typeface="Barlow" pitchFamily="34" charset="0"/>
                <a:ea typeface="Barlow" pitchFamily="34" charset="-122"/>
                <a:cs typeface="Barlow" pitchFamily="34" charset="-120"/>
              </a:rPr>
              <a:t>High Risk, Perfect Healthy, average health, average free time</a:t>
            </a:r>
            <a:endParaRPr lang="en-US" sz="1200" dirty="0"/>
          </a:p>
        </p:txBody>
      </p:sp>
      <p:sp>
        <p:nvSpPr>
          <p:cNvPr id="20" name="Shape 18"/>
          <p:cNvSpPr/>
          <p:nvPr/>
        </p:nvSpPr>
        <p:spPr>
          <a:xfrm>
            <a:off x="624840" y="2738121"/>
            <a:ext cx="10942320" cy="342900"/>
          </a:xfrm>
          <a:prstGeom prst="rect">
            <a:avLst/>
          </a:prstGeom>
          <a:solidFill>
            <a:srgbClr val="F4F4EF"/>
          </a:solidFill>
          <a:ln/>
        </p:spPr>
      </p:sp>
      <p:sp>
        <p:nvSpPr>
          <p:cNvPr id="21" name="Text 19"/>
          <p:cNvSpPr/>
          <p:nvPr/>
        </p:nvSpPr>
        <p:spPr>
          <a:xfrm>
            <a:off x="764540" y="2814321"/>
            <a:ext cx="209296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2B1A1C"/>
                </a:solidFill>
                <a:latin typeface="Barlow" pitchFamily="34" charset="0"/>
                <a:ea typeface="Barlow" pitchFamily="34" charset="-122"/>
                <a:cs typeface="Barlow" pitchFamily="34" charset="-120"/>
              </a:rPr>
              <a:t>Dietary habits</a:t>
            </a:r>
            <a:endParaRPr lang="en-US" sz="1200" dirty="0"/>
          </a:p>
        </p:txBody>
      </p:sp>
      <p:sp>
        <p:nvSpPr>
          <p:cNvPr id="22" name="Text 20"/>
          <p:cNvSpPr/>
          <p:nvPr/>
        </p:nvSpPr>
        <p:spPr>
          <a:xfrm>
            <a:off x="2898140" y="2814321"/>
            <a:ext cx="15113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2B1A1C"/>
                </a:solidFill>
                <a:latin typeface="Barlow" pitchFamily="34" charset="0"/>
                <a:ea typeface="Barlow" pitchFamily="34" charset="-122"/>
                <a:cs typeface="Barlow" pitchFamily="34" charset="-120"/>
              </a:rPr>
              <a:t>Pie</a:t>
            </a:r>
            <a:endParaRPr lang="en-US" sz="1200" dirty="0"/>
          </a:p>
        </p:txBody>
      </p:sp>
      <p:sp>
        <p:nvSpPr>
          <p:cNvPr id="23" name="Text 21"/>
          <p:cNvSpPr/>
          <p:nvPr/>
        </p:nvSpPr>
        <p:spPr>
          <a:xfrm>
            <a:off x="4460240" y="2814321"/>
            <a:ext cx="4251325"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2B1A1C"/>
                </a:solidFill>
                <a:latin typeface="Barlow" pitchFamily="34" charset="0"/>
                <a:ea typeface="Barlow" pitchFamily="34" charset="-122"/>
                <a:cs typeface="Barlow" pitchFamily="34" charset="-120"/>
              </a:rPr>
              <a:t>What do students eat?</a:t>
            </a:r>
            <a:endParaRPr lang="en-US" sz="1200" dirty="0"/>
          </a:p>
        </p:txBody>
      </p:sp>
      <p:sp>
        <p:nvSpPr>
          <p:cNvPr id="24" name="Text 22"/>
          <p:cNvSpPr/>
          <p:nvPr/>
        </p:nvSpPr>
        <p:spPr>
          <a:xfrm>
            <a:off x="8689340" y="2814321"/>
            <a:ext cx="3074035"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2B1A1C"/>
                </a:solidFill>
                <a:latin typeface="Barlow" pitchFamily="34" charset="0"/>
                <a:ea typeface="Barlow" pitchFamily="34" charset="-122"/>
                <a:cs typeface="Barlow" pitchFamily="34" charset="-120"/>
              </a:rPr>
              <a:t>Count by dietary habits</a:t>
            </a:r>
            <a:endParaRPr lang="en-US" sz="1200" dirty="0"/>
          </a:p>
        </p:txBody>
      </p:sp>
      <p:sp>
        <p:nvSpPr>
          <p:cNvPr id="25" name="Shape 23"/>
          <p:cNvSpPr/>
          <p:nvPr/>
        </p:nvSpPr>
        <p:spPr>
          <a:xfrm>
            <a:off x="624840" y="3081021"/>
            <a:ext cx="10942320" cy="342900"/>
          </a:xfrm>
          <a:prstGeom prst="rect">
            <a:avLst/>
          </a:prstGeom>
          <a:solidFill>
            <a:srgbClr val="E6E6DE"/>
          </a:solidFill>
          <a:ln/>
        </p:spPr>
      </p:sp>
      <p:sp>
        <p:nvSpPr>
          <p:cNvPr id="26" name="Text 24"/>
          <p:cNvSpPr/>
          <p:nvPr/>
        </p:nvSpPr>
        <p:spPr>
          <a:xfrm>
            <a:off x="764540" y="3157221"/>
            <a:ext cx="209296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2B1A1C"/>
                </a:solidFill>
                <a:latin typeface="Barlow" pitchFamily="34" charset="0"/>
                <a:ea typeface="Barlow" pitchFamily="34" charset="-122"/>
                <a:cs typeface="Barlow" pitchFamily="34" charset="-120"/>
              </a:rPr>
              <a:t>Sleep duration</a:t>
            </a:r>
            <a:endParaRPr lang="en-US" sz="1200" dirty="0"/>
          </a:p>
        </p:txBody>
      </p:sp>
      <p:sp>
        <p:nvSpPr>
          <p:cNvPr id="27" name="Text 25"/>
          <p:cNvSpPr/>
          <p:nvPr/>
        </p:nvSpPr>
        <p:spPr>
          <a:xfrm>
            <a:off x="2898140" y="3157221"/>
            <a:ext cx="15113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2B1A1C"/>
                </a:solidFill>
                <a:latin typeface="Barlow" pitchFamily="34" charset="0"/>
                <a:ea typeface="Barlow" pitchFamily="34" charset="-122"/>
                <a:cs typeface="Barlow" pitchFamily="34" charset="-120"/>
              </a:rPr>
              <a:t>Donut</a:t>
            </a:r>
            <a:endParaRPr lang="en-US" sz="1200" dirty="0"/>
          </a:p>
        </p:txBody>
      </p:sp>
      <p:sp>
        <p:nvSpPr>
          <p:cNvPr id="28" name="Text 26"/>
          <p:cNvSpPr/>
          <p:nvPr/>
        </p:nvSpPr>
        <p:spPr>
          <a:xfrm>
            <a:off x="4460240" y="3157221"/>
            <a:ext cx="4251325"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2B1A1C"/>
                </a:solidFill>
                <a:latin typeface="Barlow" pitchFamily="34" charset="0"/>
                <a:ea typeface="Barlow" pitchFamily="34" charset="-122"/>
                <a:cs typeface="Barlow" pitchFamily="34" charset="-120"/>
              </a:rPr>
              <a:t>How much do students sleep?</a:t>
            </a:r>
            <a:endParaRPr lang="en-US" sz="1200" dirty="0"/>
          </a:p>
        </p:txBody>
      </p:sp>
      <p:sp>
        <p:nvSpPr>
          <p:cNvPr id="29" name="Text 27"/>
          <p:cNvSpPr/>
          <p:nvPr/>
        </p:nvSpPr>
        <p:spPr>
          <a:xfrm>
            <a:off x="8689340" y="3157221"/>
            <a:ext cx="3074035"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2B1A1C"/>
                </a:solidFill>
                <a:latin typeface="Barlow" pitchFamily="34" charset="0"/>
                <a:ea typeface="Barlow" pitchFamily="34" charset="-122"/>
                <a:cs typeface="Barlow" pitchFamily="34" charset="-120"/>
              </a:rPr>
              <a:t>Count by sleep duration</a:t>
            </a:r>
            <a:endParaRPr lang="en-US" sz="1200" dirty="0"/>
          </a:p>
        </p:txBody>
      </p:sp>
      <p:sp>
        <p:nvSpPr>
          <p:cNvPr id="30" name="Shape 28"/>
          <p:cNvSpPr/>
          <p:nvPr/>
        </p:nvSpPr>
        <p:spPr>
          <a:xfrm>
            <a:off x="624840" y="3423921"/>
            <a:ext cx="10942320" cy="342900"/>
          </a:xfrm>
          <a:prstGeom prst="rect">
            <a:avLst/>
          </a:prstGeom>
          <a:solidFill>
            <a:srgbClr val="F4F4EF"/>
          </a:solidFill>
          <a:ln/>
        </p:spPr>
      </p:sp>
      <p:sp>
        <p:nvSpPr>
          <p:cNvPr id="31" name="Text 29"/>
          <p:cNvSpPr/>
          <p:nvPr/>
        </p:nvSpPr>
        <p:spPr>
          <a:xfrm>
            <a:off x="764540" y="3500121"/>
            <a:ext cx="209296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2B1A1C"/>
                </a:solidFill>
                <a:latin typeface="Barlow" pitchFamily="34" charset="0"/>
                <a:ea typeface="Barlow" pitchFamily="34" charset="-122"/>
                <a:cs typeface="Barlow" pitchFamily="34" charset="-120"/>
              </a:rPr>
              <a:t>Weekend alcohol</a:t>
            </a:r>
            <a:endParaRPr lang="en-US" sz="1200" dirty="0"/>
          </a:p>
        </p:txBody>
      </p:sp>
      <p:sp>
        <p:nvSpPr>
          <p:cNvPr id="32" name="Text 30"/>
          <p:cNvSpPr/>
          <p:nvPr/>
        </p:nvSpPr>
        <p:spPr>
          <a:xfrm>
            <a:off x="2898140" y="3500121"/>
            <a:ext cx="15113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2B1A1C"/>
                </a:solidFill>
                <a:latin typeface="Barlow" pitchFamily="34" charset="0"/>
                <a:ea typeface="Barlow" pitchFamily="34" charset="-122"/>
                <a:cs typeface="Barlow" pitchFamily="34" charset="-120"/>
              </a:rPr>
              <a:t>Area</a:t>
            </a:r>
            <a:endParaRPr lang="en-US" sz="1200" dirty="0"/>
          </a:p>
        </p:txBody>
      </p:sp>
      <p:sp>
        <p:nvSpPr>
          <p:cNvPr id="33" name="Text 31"/>
          <p:cNvSpPr/>
          <p:nvPr/>
        </p:nvSpPr>
        <p:spPr>
          <a:xfrm>
            <a:off x="4460240" y="3500121"/>
            <a:ext cx="4251325"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2B1A1C"/>
                </a:solidFill>
                <a:latin typeface="Barlow" pitchFamily="34" charset="0"/>
                <a:ea typeface="Barlow" pitchFamily="34" charset="-122"/>
                <a:cs typeface="Barlow" pitchFamily="34" charset="-120"/>
              </a:rPr>
              <a:t>Does weekend drinking relate to pass or fail?</a:t>
            </a:r>
            <a:endParaRPr lang="en-US" sz="1200" dirty="0"/>
          </a:p>
        </p:txBody>
      </p:sp>
      <p:sp>
        <p:nvSpPr>
          <p:cNvPr id="34" name="Text 32"/>
          <p:cNvSpPr/>
          <p:nvPr/>
        </p:nvSpPr>
        <p:spPr>
          <a:xfrm>
            <a:off x="8689340" y="3500121"/>
            <a:ext cx="3074035"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2B1A1C"/>
                </a:solidFill>
                <a:latin typeface="Barlow" pitchFamily="34" charset="0"/>
                <a:ea typeface="Barlow" pitchFamily="34" charset="-122"/>
                <a:cs typeface="Barlow" pitchFamily="34" charset="-120"/>
              </a:rPr>
              <a:t>Count by Walc level and pass or fail</a:t>
            </a:r>
            <a:endParaRPr lang="en-US" sz="1200" dirty="0"/>
          </a:p>
        </p:txBody>
      </p:sp>
      <p:sp>
        <p:nvSpPr>
          <p:cNvPr id="35" name="Shape 33"/>
          <p:cNvSpPr/>
          <p:nvPr/>
        </p:nvSpPr>
        <p:spPr>
          <a:xfrm>
            <a:off x="624840" y="3766821"/>
            <a:ext cx="10942320" cy="342900"/>
          </a:xfrm>
          <a:prstGeom prst="rect">
            <a:avLst/>
          </a:prstGeom>
          <a:solidFill>
            <a:srgbClr val="E6E6DE"/>
          </a:solidFill>
          <a:ln/>
        </p:spPr>
      </p:sp>
      <p:sp>
        <p:nvSpPr>
          <p:cNvPr id="36" name="Text 34"/>
          <p:cNvSpPr/>
          <p:nvPr/>
        </p:nvSpPr>
        <p:spPr>
          <a:xfrm>
            <a:off x="764540" y="3843021"/>
            <a:ext cx="209296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2B1A1C"/>
                </a:solidFill>
                <a:latin typeface="Barlow" pitchFamily="34" charset="0"/>
                <a:ea typeface="Barlow" pitchFamily="34" charset="-122"/>
                <a:cs typeface="Barlow" pitchFamily="34" charset="-120"/>
              </a:rPr>
              <a:t>Diet and result</a:t>
            </a:r>
            <a:endParaRPr lang="en-US" sz="1200" dirty="0"/>
          </a:p>
        </p:txBody>
      </p:sp>
      <p:sp>
        <p:nvSpPr>
          <p:cNvPr id="37" name="Text 35"/>
          <p:cNvSpPr/>
          <p:nvPr/>
        </p:nvSpPr>
        <p:spPr>
          <a:xfrm>
            <a:off x="2898140" y="3843021"/>
            <a:ext cx="15113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2B1A1C"/>
                </a:solidFill>
                <a:latin typeface="Barlow" pitchFamily="34" charset="0"/>
                <a:ea typeface="Barlow" pitchFamily="34" charset="-122"/>
                <a:cs typeface="Barlow" pitchFamily="34" charset="-120"/>
              </a:rPr>
              <a:t>Clustered column</a:t>
            </a:r>
            <a:endParaRPr lang="en-US" sz="1200" dirty="0"/>
          </a:p>
        </p:txBody>
      </p:sp>
      <p:sp>
        <p:nvSpPr>
          <p:cNvPr id="38" name="Text 36"/>
          <p:cNvSpPr/>
          <p:nvPr/>
        </p:nvSpPr>
        <p:spPr>
          <a:xfrm>
            <a:off x="4460240" y="3843021"/>
            <a:ext cx="4251325"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2B1A1C"/>
                </a:solidFill>
                <a:latin typeface="Barlow" pitchFamily="34" charset="0"/>
                <a:ea typeface="Barlow" pitchFamily="34" charset="-122"/>
                <a:cs typeface="Barlow" pitchFamily="34" charset="-120"/>
              </a:rPr>
              <a:t>Does diet differ between passing and failing students?</a:t>
            </a:r>
            <a:endParaRPr lang="en-US" sz="1200" dirty="0"/>
          </a:p>
        </p:txBody>
      </p:sp>
      <p:sp>
        <p:nvSpPr>
          <p:cNvPr id="39" name="Text 37"/>
          <p:cNvSpPr/>
          <p:nvPr/>
        </p:nvSpPr>
        <p:spPr>
          <a:xfrm>
            <a:off x="8689340" y="3843021"/>
            <a:ext cx="3074035"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2B1A1C"/>
                </a:solidFill>
                <a:latin typeface="Barlow" pitchFamily="34" charset="0"/>
                <a:ea typeface="Barlow" pitchFamily="34" charset="-122"/>
                <a:cs typeface="Barlow" pitchFamily="34" charset="-120"/>
              </a:rPr>
              <a:t>Count by pass or fail and dietary habits</a:t>
            </a:r>
            <a:endParaRPr lang="en-US" sz="1200" dirty="0"/>
          </a:p>
        </p:txBody>
      </p:sp>
      <p:sp>
        <p:nvSpPr>
          <p:cNvPr id="40" name="Shape 38"/>
          <p:cNvSpPr/>
          <p:nvPr/>
        </p:nvSpPr>
        <p:spPr>
          <a:xfrm>
            <a:off x="624840" y="4109721"/>
            <a:ext cx="10942320" cy="342900"/>
          </a:xfrm>
          <a:prstGeom prst="rect">
            <a:avLst/>
          </a:prstGeom>
          <a:solidFill>
            <a:srgbClr val="F4F4EF"/>
          </a:solidFill>
          <a:ln/>
        </p:spPr>
      </p:sp>
      <p:sp>
        <p:nvSpPr>
          <p:cNvPr id="41" name="Text 39"/>
          <p:cNvSpPr/>
          <p:nvPr/>
        </p:nvSpPr>
        <p:spPr>
          <a:xfrm>
            <a:off x="764540" y="4185921"/>
            <a:ext cx="209296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2B1A1C"/>
                </a:solidFill>
                <a:latin typeface="Barlow" pitchFamily="34" charset="0"/>
                <a:ea typeface="Barlow" pitchFamily="34" charset="-122"/>
                <a:cs typeface="Barlow" pitchFamily="34" charset="-120"/>
              </a:rPr>
              <a:t>Sleep and result</a:t>
            </a:r>
            <a:endParaRPr lang="en-US" sz="1200" dirty="0"/>
          </a:p>
        </p:txBody>
      </p:sp>
      <p:sp>
        <p:nvSpPr>
          <p:cNvPr id="42" name="Text 40"/>
          <p:cNvSpPr/>
          <p:nvPr/>
        </p:nvSpPr>
        <p:spPr>
          <a:xfrm>
            <a:off x="2898140" y="4185921"/>
            <a:ext cx="15113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2B1A1C"/>
                </a:solidFill>
                <a:latin typeface="Barlow" pitchFamily="34" charset="0"/>
                <a:ea typeface="Barlow" pitchFamily="34" charset="-122"/>
                <a:cs typeface="Barlow" pitchFamily="34" charset="-120"/>
              </a:rPr>
              <a:t>Clustered bar</a:t>
            </a:r>
            <a:endParaRPr lang="en-US" sz="1200" dirty="0"/>
          </a:p>
        </p:txBody>
      </p:sp>
      <p:sp>
        <p:nvSpPr>
          <p:cNvPr id="43" name="Text 41"/>
          <p:cNvSpPr/>
          <p:nvPr/>
        </p:nvSpPr>
        <p:spPr>
          <a:xfrm>
            <a:off x="4460240" y="4185921"/>
            <a:ext cx="4251325"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2B1A1C"/>
                </a:solidFill>
                <a:latin typeface="Barlow" pitchFamily="34" charset="0"/>
                <a:ea typeface="Barlow" pitchFamily="34" charset="-122"/>
                <a:cs typeface="Barlow" pitchFamily="34" charset="-120"/>
              </a:rPr>
              <a:t>Does sleep differ between passing and failing students?</a:t>
            </a:r>
            <a:endParaRPr lang="en-US" sz="1200" dirty="0"/>
          </a:p>
        </p:txBody>
      </p:sp>
      <p:sp>
        <p:nvSpPr>
          <p:cNvPr id="44" name="Text 42"/>
          <p:cNvSpPr/>
          <p:nvPr/>
        </p:nvSpPr>
        <p:spPr>
          <a:xfrm>
            <a:off x="8689340" y="4185921"/>
            <a:ext cx="3074035"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2B1A1C"/>
                </a:solidFill>
                <a:latin typeface="Barlow" pitchFamily="34" charset="0"/>
                <a:ea typeface="Barlow" pitchFamily="34" charset="-122"/>
                <a:cs typeface="Barlow" pitchFamily="34" charset="-120"/>
              </a:rPr>
              <a:t>Count by sleep duration and pass or fail</a:t>
            </a:r>
            <a:endParaRPr lang="en-US" sz="1200" dirty="0"/>
          </a:p>
        </p:txBody>
      </p:sp>
      <p:sp>
        <p:nvSpPr>
          <p:cNvPr id="45" name="Text 43"/>
          <p:cNvSpPr/>
          <p:nvPr/>
        </p:nvSpPr>
        <p:spPr>
          <a:xfrm>
            <a:off x="812800" y="6238242"/>
            <a:ext cx="91567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0AB"/>
                </a:solidFill>
                <a:latin typeface="Barlow" pitchFamily="34" charset="0"/>
                <a:ea typeface="Barlow" pitchFamily="34" charset="-122"/>
                <a:cs typeface="Barlow" pitchFamily="34" charset="-120"/>
              </a:rPr>
              <a:t>Students Performance Dashboard · Project brief · 11</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20232A"/>
        </a:solidFill>
      </p:bgPr>
    </p:bg>
    <p:spTree>
      <p:nvGrpSpPr>
        <p:cNvPr id="1" name=""/>
        <p:cNvGrpSpPr/>
        <p:nvPr/>
      </p:nvGrpSpPr>
      <p:grpSpPr>
        <a:xfrm>
          <a:off x="0" y="0"/>
          <a:ext cx="0" cy="0"/>
          <a:chOff x="0" y="0"/>
          <a:chExt cx="0" cy="0"/>
        </a:xfrm>
      </p:grpSpPr>
      <p:sp>
        <p:nvSpPr>
          <p:cNvPr id="2" name="Text 0"/>
          <p:cNvSpPr/>
          <p:nvPr/>
        </p:nvSpPr>
        <p:spPr>
          <a:xfrm>
            <a:off x="812800" y="6096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E66C37"/>
                </a:solidFill>
                <a:latin typeface="Barlow" pitchFamily="34" charset="0"/>
                <a:ea typeface="Barlow" pitchFamily="34" charset="-122"/>
                <a:cs typeface="Barlow" pitchFamily="34" charset="-120"/>
              </a:rPr>
              <a:t>PAGE 3 · HEALTH AND LIFESTYLE</a:t>
            </a:r>
            <a:endParaRPr lang="en-US" sz="1400" dirty="0"/>
          </a:p>
        </p:txBody>
      </p:sp>
      <p:sp>
        <p:nvSpPr>
          <p:cNvPr id="3" name="Text 1"/>
          <p:cNvSpPr/>
          <p:nvPr>
            <p:ph type="title"/>
          </p:nvPr>
        </p:nvSpPr>
        <p:spPr>
          <a:xfrm>
            <a:off x="812800" y="1061721"/>
            <a:ext cx="10883392" cy="500380"/>
          </a:xfrm>
          <a:prstGeom prst="rect">
            <a:avLst/>
          </a:prstGeom>
          <a:noFill/>
          <a:ln/>
        </p:spPr>
        <p:txBody>
          <a:bodyPr wrap="square" lIns="0" tIns="0" rIns="0" bIns="0" rtlCol="0" anchor="t">
            <a:normAutofit/>
          </a:bodyPr>
          <a:lstStyle/>
          <a:p>
            <a:pPr algn="l" indent="0" marL="0">
              <a:lnSpc>
                <a:spcPts val="3740"/>
              </a:lnSpc>
              <a:buNone/>
            </a:pPr>
            <a:r>
              <a:rPr lang="en-US" sz="3400" b="1" i="0" dirty="0">
                <a:solidFill>
                  <a:srgbClr val="FFFFFF"/>
                </a:solidFill>
                <a:latin typeface="Barlow Condensed" pitchFamily="34" charset="0"/>
                <a:ea typeface="Barlow Condensed" pitchFamily="34" charset="-122"/>
                <a:cs typeface="Barlow Condensed" pitchFamily="34" charset="-120"/>
              </a:rPr>
              <a:t>What we learned</a:t>
            </a:r>
            <a:endParaRPr lang="en-US" sz="3400" dirty="0"/>
          </a:p>
        </p:txBody>
      </p:sp>
      <p:sp>
        <p:nvSpPr>
          <p:cNvPr id="4" name="Shape 2"/>
          <p:cNvSpPr/>
          <p:nvPr/>
        </p:nvSpPr>
        <p:spPr>
          <a:xfrm>
            <a:off x="822325" y="1749425"/>
            <a:ext cx="3384550" cy="1328420"/>
          </a:xfrm>
          <a:prstGeom prst="roundRect">
            <a:avLst>
              <a:gd name="adj" fmla="val 8843"/>
            </a:avLst>
          </a:prstGeom>
          <a:solidFill>
            <a:srgbClr val="F4F4EF"/>
          </a:solidFill>
          <a:ln w="19050">
            <a:solidFill>
              <a:srgbClr val="A01D26"/>
            </a:solidFill>
            <a:prstDash val="solid"/>
          </a:ln>
        </p:spPr>
      </p:sp>
      <p:sp>
        <p:nvSpPr>
          <p:cNvPr id="5" name="Text 3"/>
          <p:cNvSpPr/>
          <p:nvPr/>
        </p:nvSpPr>
        <p:spPr>
          <a:xfrm>
            <a:off x="1005840" y="1920242"/>
            <a:ext cx="3108046" cy="532130"/>
          </a:xfrm>
          <a:prstGeom prst="rect">
            <a:avLst/>
          </a:prstGeom>
          <a:noFill/>
          <a:ln/>
        </p:spPr>
        <p:txBody>
          <a:bodyPr wrap="square" lIns="0" tIns="0" rIns="0" bIns="0" rtlCol="0" anchor="t">
            <a:normAutofit/>
          </a:bodyPr>
          <a:lstStyle/>
          <a:p>
            <a:pPr algn="l" indent="0" marL="0">
              <a:lnSpc>
                <a:spcPts val="3990"/>
              </a:lnSpc>
              <a:buNone/>
            </a:pPr>
            <a:r>
              <a:rPr lang="en-US" sz="3800" b="1" dirty="0">
                <a:solidFill>
                  <a:srgbClr val="A01D26"/>
                </a:solidFill>
                <a:latin typeface="Barlow Condensed" pitchFamily="34" charset="0"/>
                <a:ea typeface="Barlow Condensed" pitchFamily="34" charset="-122"/>
                <a:cs typeface="Barlow Condensed" pitchFamily="34" charset="-120"/>
              </a:rPr>
              <a:t>27%</a:t>
            </a:r>
            <a:endParaRPr lang="en-US" sz="3800" dirty="0"/>
          </a:p>
        </p:txBody>
      </p:sp>
      <p:sp>
        <p:nvSpPr>
          <p:cNvPr id="6" name="Text 4"/>
          <p:cNvSpPr/>
          <p:nvPr/>
        </p:nvSpPr>
        <p:spPr>
          <a:xfrm>
            <a:off x="1005840" y="2477771"/>
            <a:ext cx="3108046" cy="45466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2B1A1C"/>
                </a:solidFill>
                <a:latin typeface="Barlow" pitchFamily="34" charset="0"/>
                <a:ea typeface="Barlow" pitchFamily="34" charset="-122"/>
                <a:cs typeface="Barlow" pitchFamily="34" charset="-120"/>
              </a:rPr>
              <a:t>report a healthy diet (108). Moderate is 148, unhealthy 141.</a:t>
            </a:r>
            <a:endParaRPr lang="en-US" sz="1300" dirty="0"/>
          </a:p>
        </p:txBody>
      </p:sp>
      <p:sp>
        <p:nvSpPr>
          <p:cNvPr id="7" name="Shape 5"/>
          <p:cNvSpPr/>
          <p:nvPr/>
        </p:nvSpPr>
        <p:spPr>
          <a:xfrm>
            <a:off x="4403725" y="1749425"/>
            <a:ext cx="3384550" cy="1328420"/>
          </a:xfrm>
          <a:prstGeom prst="roundRect">
            <a:avLst>
              <a:gd name="adj" fmla="val 8843"/>
            </a:avLst>
          </a:prstGeom>
          <a:solidFill>
            <a:srgbClr val="F4F4EF"/>
          </a:solidFill>
          <a:ln w="19050">
            <a:solidFill>
              <a:srgbClr val="A01D26"/>
            </a:solidFill>
            <a:prstDash val="solid"/>
          </a:ln>
        </p:spPr>
      </p:sp>
      <p:sp>
        <p:nvSpPr>
          <p:cNvPr id="8" name="Text 6"/>
          <p:cNvSpPr/>
          <p:nvPr/>
        </p:nvSpPr>
        <p:spPr>
          <a:xfrm>
            <a:off x="4587240" y="1920242"/>
            <a:ext cx="3108046" cy="532130"/>
          </a:xfrm>
          <a:prstGeom prst="rect">
            <a:avLst/>
          </a:prstGeom>
          <a:noFill/>
          <a:ln/>
        </p:spPr>
        <p:txBody>
          <a:bodyPr wrap="square" lIns="0" tIns="0" rIns="0" bIns="0" rtlCol="0" anchor="t">
            <a:normAutofit/>
          </a:bodyPr>
          <a:lstStyle/>
          <a:p>
            <a:pPr algn="l" indent="0" marL="0">
              <a:lnSpc>
                <a:spcPts val="3990"/>
              </a:lnSpc>
              <a:buNone/>
            </a:pPr>
            <a:r>
              <a:rPr lang="en-US" sz="3800" b="1" dirty="0">
                <a:solidFill>
                  <a:srgbClr val="A01D26"/>
                </a:solidFill>
                <a:latin typeface="Barlow Condensed" pitchFamily="34" charset="0"/>
                <a:ea typeface="Barlow Condensed" pitchFamily="34" charset="-122"/>
                <a:cs typeface="Barlow Condensed" pitchFamily="34" charset="-120"/>
              </a:rPr>
              <a:t>61% vs 49%</a:t>
            </a:r>
            <a:endParaRPr lang="en-US" sz="3800" dirty="0"/>
          </a:p>
        </p:txBody>
      </p:sp>
      <p:sp>
        <p:nvSpPr>
          <p:cNvPr id="9" name="Text 7"/>
          <p:cNvSpPr/>
          <p:nvPr/>
        </p:nvSpPr>
        <p:spPr>
          <a:xfrm>
            <a:off x="4587240" y="2477771"/>
            <a:ext cx="3108046" cy="45466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2B1A1C"/>
                </a:solidFill>
                <a:latin typeface="Barlow" pitchFamily="34" charset="0"/>
                <a:ea typeface="Barlow" pitchFamily="34" charset="-122"/>
                <a:cs typeface="Barlow" pitchFamily="34" charset="-120"/>
              </a:rPr>
              <a:t>pass rate with a healthy versus an unhealthy diet: 66 of 108 and 69 of 141.</a:t>
            </a:r>
            <a:endParaRPr lang="en-US" sz="1300" dirty="0"/>
          </a:p>
        </p:txBody>
      </p:sp>
      <p:sp>
        <p:nvSpPr>
          <p:cNvPr id="10" name="Shape 8"/>
          <p:cNvSpPr/>
          <p:nvPr/>
        </p:nvSpPr>
        <p:spPr>
          <a:xfrm>
            <a:off x="7985125" y="1749425"/>
            <a:ext cx="3384550" cy="1328420"/>
          </a:xfrm>
          <a:prstGeom prst="roundRect">
            <a:avLst>
              <a:gd name="adj" fmla="val 8843"/>
            </a:avLst>
          </a:prstGeom>
          <a:solidFill>
            <a:srgbClr val="F4F4EF"/>
          </a:solidFill>
          <a:ln w="19050">
            <a:solidFill>
              <a:srgbClr val="A01D26"/>
            </a:solidFill>
            <a:prstDash val="solid"/>
          </a:ln>
        </p:spPr>
      </p:sp>
      <p:sp>
        <p:nvSpPr>
          <p:cNvPr id="11" name="Text 9"/>
          <p:cNvSpPr/>
          <p:nvPr/>
        </p:nvSpPr>
        <p:spPr>
          <a:xfrm>
            <a:off x="8168640" y="1920242"/>
            <a:ext cx="3108046" cy="532130"/>
          </a:xfrm>
          <a:prstGeom prst="rect">
            <a:avLst/>
          </a:prstGeom>
          <a:noFill/>
          <a:ln/>
        </p:spPr>
        <p:txBody>
          <a:bodyPr wrap="square" lIns="0" tIns="0" rIns="0" bIns="0" rtlCol="0" anchor="t">
            <a:normAutofit/>
          </a:bodyPr>
          <a:lstStyle/>
          <a:p>
            <a:pPr algn="l" indent="0" marL="0">
              <a:lnSpc>
                <a:spcPts val="3990"/>
              </a:lnSpc>
              <a:buNone/>
            </a:pPr>
            <a:r>
              <a:rPr lang="en-US" sz="3800" b="1" dirty="0">
                <a:solidFill>
                  <a:srgbClr val="A01D26"/>
                </a:solidFill>
                <a:latin typeface="Barlow Condensed" pitchFamily="34" charset="0"/>
                <a:ea typeface="Barlow Condensed" pitchFamily="34" charset="-122"/>
                <a:cs typeface="Barlow Condensed" pitchFamily="34" charset="-120"/>
              </a:rPr>
              <a:t>30%</a:t>
            </a:r>
            <a:endParaRPr lang="en-US" sz="3800" dirty="0"/>
          </a:p>
        </p:txBody>
      </p:sp>
      <p:sp>
        <p:nvSpPr>
          <p:cNvPr id="12" name="Text 10"/>
          <p:cNvSpPr/>
          <p:nvPr/>
        </p:nvSpPr>
        <p:spPr>
          <a:xfrm>
            <a:off x="8168640" y="2477771"/>
            <a:ext cx="3108046" cy="45466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2B1A1C"/>
                </a:solidFill>
                <a:latin typeface="Barlow" pitchFamily="34" charset="0"/>
                <a:ea typeface="Barlow" pitchFamily="34" charset="-122"/>
                <a:cs typeface="Barlow" pitchFamily="34" charset="-120"/>
              </a:rPr>
              <a:t>sleep under 5 hours (119 students), the largest group. 79 sleep more than 8.</a:t>
            </a:r>
            <a:endParaRPr lang="en-US" sz="1300" dirty="0"/>
          </a:p>
        </p:txBody>
      </p:sp>
      <p:sp>
        <p:nvSpPr>
          <p:cNvPr id="13" name="Shape 11"/>
          <p:cNvSpPr/>
          <p:nvPr/>
        </p:nvSpPr>
        <p:spPr>
          <a:xfrm>
            <a:off x="822325" y="3300096"/>
            <a:ext cx="3384550" cy="1543050"/>
          </a:xfrm>
          <a:prstGeom prst="roundRect">
            <a:avLst>
              <a:gd name="adj" fmla="val 7613"/>
            </a:avLst>
          </a:prstGeom>
          <a:solidFill>
            <a:srgbClr val="F4F4EF"/>
          </a:solidFill>
          <a:ln w="19050">
            <a:solidFill>
              <a:srgbClr val="A01D26"/>
            </a:solidFill>
            <a:prstDash val="solid"/>
          </a:ln>
        </p:spPr>
      </p:sp>
      <p:sp>
        <p:nvSpPr>
          <p:cNvPr id="14" name="Text 12"/>
          <p:cNvSpPr/>
          <p:nvPr/>
        </p:nvSpPr>
        <p:spPr>
          <a:xfrm>
            <a:off x="1005840" y="3470914"/>
            <a:ext cx="3108046" cy="532130"/>
          </a:xfrm>
          <a:prstGeom prst="rect">
            <a:avLst/>
          </a:prstGeom>
          <a:noFill/>
          <a:ln/>
        </p:spPr>
        <p:txBody>
          <a:bodyPr wrap="square" lIns="0" tIns="0" rIns="0" bIns="0" rtlCol="0" anchor="t">
            <a:normAutofit/>
          </a:bodyPr>
          <a:lstStyle/>
          <a:p>
            <a:pPr algn="l" indent="0" marL="0">
              <a:lnSpc>
                <a:spcPts val="3990"/>
              </a:lnSpc>
              <a:buNone/>
            </a:pPr>
            <a:r>
              <a:rPr lang="en-US" sz="3800" b="1" dirty="0">
                <a:solidFill>
                  <a:srgbClr val="A01D26"/>
                </a:solidFill>
                <a:latin typeface="Barlow Condensed" pitchFamily="34" charset="0"/>
                <a:ea typeface="Barlow Condensed" pitchFamily="34" charset="-122"/>
                <a:cs typeface="Barlow Condensed" pitchFamily="34" charset="-120"/>
              </a:rPr>
              <a:t>71 vs 48</a:t>
            </a:r>
            <a:endParaRPr lang="en-US" sz="3800" dirty="0"/>
          </a:p>
        </p:txBody>
      </p:sp>
      <p:sp>
        <p:nvSpPr>
          <p:cNvPr id="15" name="Text 13"/>
          <p:cNvSpPr/>
          <p:nvPr/>
        </p:nvSpPr>
        <p:spPr>
          <a:xfrm>
            <a:off x="1005840" y="4028442"/>
            <a:ext cx="3108046" cy="66929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2B1A1C"/>
                </a:solidFill>
                <a:latin typeface="Barlow" pitchFamily="34" charset="0"/>
                <a:ea typeface="Barlow" pitchFamily="34" charset="-122"/>
                <a:cs typeface="Barlow" pitchFamily="34" charset="-120"/>
              </a:rPr>
              <a:t>students who sleep under 5 hours pass versus fail. Short sleep alone does not explain failing.</a:t>
            </a:r>
            <a:endParaRPr lang="en-US" sz="1300" dirty="0"/>
          </a:p>
        </p:txBody>
      </p:sp>
      <p:sp>
        <p:nvSpPr>
          <p:cNvPr id="16" name="Shape 14"/>
          <p:cNvSpPr/>
          <p:nvPr/>
        </p:nvSpPr>
        <p:spPr>
          <a:xfrm>
            <a:off x="4403725" y="3300096"/>
            <a:ext cx="3384550" cy="1543050"/>
          </a:xfrm>
          <a:prstGeom prst="roundRect">
            <a:avLst>
              <a:gd name="adj" fmla="val 7613"/>
            </a:avLst>
          </a:prstGeom>
          <a:solidFill>
            <a:srgbClr val="F4F4EF"/>
          </a:solidFill>
          <a:ln w="19050">
            <a:solidFill>
              <a:srgbClr val="A01D26"/>
            </a:solidFill>
            <a:prstDash val="solid"/>
          </a:ln>
        </p:spPr>
      </p:sp>
      <p:sp>
        <p:nvSpPr>
          <p:cNvPr id="17" name="Text 15"/>
          <p:cNvSpPr/>
          <p:nvPr/>
        </p:nvSpPr>
        <p:spPr>
          <a:xfrm>
            <a:off x="4587240" y="3470914"/>
            <a:ext cx="3108046" cy="532130"/>
          </a:xfrm>
          <a:prstGeom prst="rect">
            <a:avLst/>
          </a:prstGeom>
          <a:noFill/>
          <a:ln/>
        </p:spPr>
        <p:txBody>
          <a:bodyPr wrap="square" lIns="0" tIns="0" rIns="0" bIns="0" rtlCol="0" anchor="t">
            <a:normAutofit/>
          </a:bodyPr>
          <a:lstStyle/>
          <a:p>
            <a:pPr algn="l" indent="0" marL="0">
              <a:lnSpc>
                <a:spcPts val="3990"/>
              </a:lnSpc>
              <a:buNone/>
            </a:pPr>
            <a:r>
              <a:rPr lang="en-US" sz="3800" b="1" dirty="0">
                <a:solidFill>
                  <a:srgbClr val="A01D26"/>
                </a:solidFill>
                <a:latin typeface="Barlow Condensed" pitchFamily="34" charset="0"/>
                <a:ea typeface="Barlow Condensed" pitchFamily="34" charset="-122"/>
                <a:cs typeface="Barlow Condensed" pitchFamily="34" charset="-120"/>
              </a:rPr>
              <a:t>38%</a:t>
            </a:r>
            <a:endParaRPr lang="en-US" sz="3800" dirty="0"/>
          </a:p>
        </p:txBody>
      </p:sp>
      <p:sp>
        <p:nvSpPr>
          <p:cNvPr id="18" name="Text 16"/>
          <p:cNvSpPr/>
          <p:nvPr/>
        </p:nvSpPr>
        <p:spPr>
          <a:xfrm>
            <a:off x="4587240" y="4028442"/>
            <a:ext cx="3108046" cy="45466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2B1A1C"/>
                </a:solidFill>
                <a:latin typeface="Barlow" pitchFamily="34" charset="0"/>
                <a:ea typeface="Barlow" pitchFamily="34" charset="-122"/>
                <a:cs typeface="Barlow" pitchFamily="34" charset="-120"/>
              </a:rPr>
              <a:t>report the lowest weekend alcohol level (152 students). Counts fall at higher levels.</a:t>
            </a:r>
            <a:endParaRPr lang="en-US" sz="1300" dirty="0"/>
          </a:p>
        </p:txBody>
      </p:sp>
      <p:sp>
        <p:nvSpPr>
          <p:cNvPr id="19" name="Shape 17"/>
          <p:cNvSpPr/>
          <p:nvPr/>
        </p:nvSpPr>
        <p:spPr>
          <a:xfrm>
            <a:off x="7985125" y="3300096"/>
            <a:ext cx="3384550" cy="1543050"/>
          </a:xfrm>
          <a:prstGeom prst="roundRect">
            <a:avLst>
              <a:gd name="adj" fmla="val 7613"/>
            </a:avLst>
          </a:prstGeom>
          <a:solidFill>
            <a:srgbClr val="F4F4EF"/>
          </a:solidFill>
          <a:ln w="19050">
            <a:solidFill>
              <a:srgbClr val="A01D26"/>
            </a:solidFill>
            <a:prstDash val="solid"/>
          </a:ln>
        </p:spPr>
      </p:sp>
      <p:sp>
        <p:nvSpPr>
          <p:cNvPr id="20" name="Text 18"/>
          <p:cNvSpPr/>
          <p:nvPr/>
        </p:nvSpPr>
        <p:spPr>
          <a:xfrm>
            <a:off x="8168640" y="3470914"/>
            <a:ext cx="3108046" cy="532130"/>
          </a:xfrm>
          <a:prstGeom prst="rect">
            <a:avLst/>
          </a:prstGeom>
          <a:noFill/>
          <a:ln/>
        </p:spPr>
        <p:txBody>
          <a:bodyPr wrap="square" lIns="0" tIns="0" rIns="0" bIns="0" rtlCol="0" anchor="t">
            <a:normAutofit/>
          </a:bodyPr>
          <a:lstStyle/>
          <a:p>
            <a:pPr algn="l" indent="0" marL="0">
              <a:lnSpc>
                <a:spcPts val="3990"/>
              </a:lnSpc>
              <a:buNone/>
            </a:pPr>
            <a:r>
              <a:rPr lang="en-US" sz="3800" b="1" dirty="0">
                <a:solidFill>
                  <a:srgbClr val="A01D26"/>
                </a:solidFill>
                <a:latin typeface="Barlow Condensed" pitchFamily="34" charset="0"/>
                <a:ea typeface="Barlow Condensed" pitchFamily="34" charset="-122"/>
                <a:cs typeface="Barlow Condensed" pitchFamily="34" charset="-120"/>
              </a:rPr>
              <a:t>15 and 15</a:t>
            </a:r>
            <a:endParaRPr lang="en-US" sz="3800" dirty="0"/>
          </a:p>
        </p:txBody>
      </p:sp>
      <p:sp>
        <p:nvSpPr>
          <p:cNvPr id="21" name="Text 19"/>
          <p:cNvSpPr/>
          <p:nvPr/>
        </p:nvSpPr>
        <p:spPr>
          <a:xfrm>
            <a:off x="8168640" y="4028442"/>
            <a:ext cx="3108046" cy="45466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2B1A1C"/>
                </a:solidFill>
                <a:latin typeface="Barlow" pitchFamily="34" charset="0"/>
                <a:ea typeface="Barlow" pitchFamily="34" charset="-122"/>
                <a:cs typeface="Barlow" pitchFamily="34" charset="-120"/>
              </a:rPr>
              <a:t>students flagged High Risk and Perfect Healthy by the dashboard cards.</a:t>
            </a:r>
            <a:endParaRPr lang="en-US" sz="1300" dirty="0"/>
          </a:p>
        </p:txBody>
      </p:sp>
      <p:sp>
        <p:nvSpPr>
          <p:cNvPr id="22" name="Text 20"/>
          <p:cNvSpPr/>
          <p:nvPr/>
        </p:nvSpPr>
        <p:spPr>
          <a:xfrm>
            <a:off x="812800" y="6238242"/>
            <a:ext cx="91567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0AB"/>
                </a:solidFill>
                <a:latin typeface="Barlow" pitchFamily="34" charset="0"/>
                <a:ea typeface="Barlow" pitchFamily="34" charset="-122"/>
                <a:cs typeface="Barlow" pitchFamily="34" charset="-120"/>
              </a:rPr>
              <a:t>Students Performance Dashboard · Project brief · 12</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20232A"/>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E66C37"/>
                </a:solidFill>
                <a:latin typeface="Barlow" pitchFamily="34" charset="0"/>
                <a:ea typeface="Barlow" pitchFamily="34" charset="-122"/>
                <a:cs typeface="Barlow" pitchFamily="34" charset="-120"/>
              </a:rPr>
              <a:t>IN SHORT</a:t>
            </a:r>
            <a:endParaRPr lang="en-US" sz="1400" dirty="0"/>
          </a:p>
        </p:txBody>
      </p:sp>
      <p:sp>
        <p:nvSpPr>
          <p:cNvPr id="3" name="Text 1"/>
          <p:cNvSpPr/>
          <p:nvPr>
            <p:ph type="title"/>
          </p:nvPr>
        </p:nvSpPr>
        <p:spPr>
          <a:xfrm>
            <a:off x="812800" y="1264927"/>
            <a:ext cx="10883392" cy="500380"/>
          </a:xfrm>
          <a:prstGeom prst="rect">
            <a:avLst/>
          </a:prstGeom>
          <a:noFill/>
          <a:ln/>
        </p:spPr>
        <p:txBody>
          <a:bodyPr wrap="square" lIns="0" tIns="0" rIns="0" bIns="0" rtlCol="0" anchor="t">
            <a:normAutofit/>
          </a:bodyPr>
          <a:lstStyle/>
          <a:p>
            <a:pPr algn="l" indent="0" marL="0">
              <a:lnSpc>
                <a:spcPts val="3740"/>
              </a:lnSpc>
              <a:buNone/>
            </a:pPr>
            <a:r>
              <a:rPr lang="en-US" sz="3400" b="1" i="0" dirty="0">
                <a:solidFill>
                  <a:srgbClr val="FFFFFF"/>
                </a:solidFill>
                <a:latin typeface="Barlow Condensed" pitchFamily="34" charset="0"/>
                <a:ea typeface="Barlow Condensed" pitchFamily="34" charset="-122"/>
                <a:cs typeface="Barlow Condensed" pitchFamily="34" charset="-120"/>
              </a:rPr>
              <a:t>What the dashboards tell us</a:t>
            </a:r>
            <a:endParaRPr lang="en-US" sz="3400" dirty="0"/>
          </a:p>
        </p:txBody>
      </p:sp>
      <p:sp>
        <p:nvSpPr>
          <p:cNvPr id="4" name="Shape 2"/>
          <p:cNvSpPr/>
          <p:nvPr/>
        </p:nvSpPr>
        <p:spPr>
          <a:xfrm>
            <a:off x="822325" y="1952625"/>
            <a:ext cx="3384550" cy="1356360"/>
          </a:xfrm>
          <a:prstGeom prst="roundRect">
            <a:avLst>
              <a:gd name="adj" fmla="val 8661"/>
            </a:avLst>
          </a:prstGeom>
          <a:solidFill>
            <a:srgbClr val="F4F4EF"/>
          </a:solidFill>
          <a:ln w="19050">
            <a:solidFill>
              <a:srgbClr val="A01D26"/>
            </a:solidFill>
            <a:prstDash val="solid"/>
          </a:ln>
        </p:spPr>
      </p:sp>
      <p:sp>
        <p:nvSpPr>
          <p:cNvPr id="5" name="Text 3"/>
          <p:cNvSpPr/>
          <p:nvPr/>
        </p:nvSpPr>
        <p:spPr>
          <a:xfrm>
            <a:off x="828040" y="1958342"/>
            <a:ext cx="3373120" cy="421640"/>
          </a:xfrm>
          <a:custGeom>
            <a:avLst/>
            <a:gdLst/>
            <a:ahLst/>
            <a:cxnLst/>
            <a:rect l="l" t="t" r="r" b="b"/>
            <a:pathLst>
              <a:path w="3373120" h="421640">
                <a:moveTo>
                  <a:pt x="88900" y="0"/>
                </a:moveTo>
                <a:lnTo>
                  <a:pt x="3284220" y="0"/>
                </a:lnTo>
                <a:arcTo hR="88900" wR="88900" stAng="16200000" swAng="5400000"/>
                <a:lnTo>
                  <a:pt x="3373120" y="421640"/>
                </a:lnTo>
                <a:lnTo>
                  <a:pt x="0" y="421640"/>
                </a:lnTo>
                <a:lnTo>
                  <a:pt x="0" y="88900"/>
                </a:lnTo>
                <a:arcTo hR="88900" wR="88900" stAng="10800000" swAng="5400000"/>
                <a:close/>
              </a:path>
            </a:pathLst>
          </a:custGeom>
          <a:solidFill>
            <a:srgbClr val="A01D26"/>
          </a:solidFill>
          <a:ln/>
        </p:spPr>
        <p:txBody>
          <a:bodyPr wrap="square" lIns="152400" tIns="88900" rIns="60350" bIns="63500" rtlCol="0" anchor="t">
            <a:normAutofit/>
          </a:bodyPr>
          <a:lstStyle/>
          <a:p>
            <a:pPr algn="l" indent="0" marL="0">
              <a:lnSpc>
                <a:spcPts val="1920"/>
              </a:lnSpc>
              <a:buNone/>
            </a:pPr>
            <a:r>
              <a:rPr lang="en-US" sz="1600" b="1" dirty="0">
                <a:solidFill>
                  <a:srgbClr val="FFFFFF"/>
                </a:solidFill>
                <a:latin typeface="Barlow Condensed" pitchFamily="34" charset="0"/>
                <a:ea typeface="Barlow Condensed" pitchFamily="34" charset="-122"/>
                <a:cs typeface="Barlow Condensed" pitchFamily="34" charset="-120"/>
              </a:rPr>
              <a:t>Profile</a:t>
            </a:r>
            <a:endParaRPr lang="en-US" sz="1600" dirty="0"/>
          </a:p>
        </p:txBody>
      </p:sp>
      <p:sp>
        <p:nvSpPr>
          <p:cNvPr id="6" name="Text 4"/>
          <p:cNvSpPr/>
          <p:nvPr/>
        </p:nvSpPr>
        <p:spPr>
          <a:xfrm>
            <a:off x="980440" y="2519685"/>
            <a:ext cx="3160370" cy="66929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2B1A1C"/>
                </a:solidFill>
                <a:latin typeface="Barlow" pitchFamily="34" charset="0"/>
                <a:ea typeface="Barlow" pitchFamily="34" charset="-122"/>
                <a:cs typeface="Barlow" pitchFamily="34" charset="-120"/>
              </a:rPr>
              <a:t>GP holds 88% of students and leads MS in all three subjects, while MS students are absent less often (3.68 against 5.97 days).</a:t>
            </a:r>
            <a:endParaRPr lang="en-US" sz="1300" dirty="0"/>
          </a:p>
        </p:txBody>
      </p:sp>
      <p:sp>
        <p:nvSpPr>
          <p:cNvPr id="7" name="Shape 5"/>
          <p:cNvSpPr/>
          <p:nvPr/>
        </p:nvSpPr>
        <p:spPr>
          <a:xfrm>
            <a:off x="4403725" y="1952625"/>
            <a:ext cx="3384550" cy="1356360"/>
          </a:xfrm>
          <a:prstGeom prst="roundRect">
            <a:avLst>
              <a:gd name="adj" fmla="val 8661"/>
            </a:avLst>
          </a:prstGeom>
          <a:solidFill>
            <a:srgbClr val="F4F4EF"/>
          </a:solidFill>
          <a:ln w="19050">
            <a:solidFill>
              <a:srgbClr val="A01D26"/>
            </a:solidFill>
            <a:prstDash val="solid"/>
          </a:ln>
        </p:spPr>
      </p:sp>
      <p:sp>
        <p:nvSpPr>
          <p:cNvPr id="8" name="Text 6"/>
          <p:cNvSpPr/>
          <p:nvPr/>
        </p:nvSpPr>
        <p:spPr>
          <a:xfrm>
            <a:off x="4409440" y="1958342"/>
            <a:ext cx="3373120" cy="421640"/>
          </a:xfrm>
          <a:custGeom>
            <a:avLst/>
            <a:gdLst/>
            <a:ahLst/>
            <a:cxnLst/>
            <a:rect l="l" t="t" r="r" b="b"/>
            <a:pathLst>
              <a:path w="3373120" h="421640">
                <a:moveTo>
                  <a:pt x="88900" y="0"/>
                </a:moveTo>
                <a:lnTo>
                  <a:pt x="3284220" y="0"/>
                </a:lnTo>
                <a:arcTo hR="88900" wR="88900" stAng="16200000" swAng="5400000"/>
                <a:lnTo>
                  <a:pt x="3373120" y="421640"/>
                </a:lnTo>
                <a:lnTo>
                  <a:pt x="0" y="421640"/>
                </a:lnTo>
                <a:lnTo>
                  <a:pt x="0" y="88900"/>
                </a:lnTo>
                <a:arcTo hR="88900" wR="88900" stAng="10800000" swAng="5400000"/>
                <a:close/>
              </a:path>
            </a:pathLst>
          </a:custGeom>
          <a:solidFill>
            <a:srgbClr val="A01D26"/>
          </a:solidFill>
          <a:ln/>
        </p:spPr>
        <p:txBody>
          <a:bodyPr wrap="square" lIns="152400" tIns="88900" rIns="60350" bIns="63500" rtlCol="0" anchor="t">
            <a:normAutofit/>
          </a:bodyPr>
          <a:lstStyle/>
          <a:p>
            <a:pPr algn="l" indent="0" marL="0">
              <a:lnSpc>
                <a:spcPts val="1920"/>
              </a:lnSpc>
              <a:buNone/>
            </a:pPr>
            <a:r>
              <a:rPr lang="en-US" sz="1600" b="1" dirty="0">
                <a:solidFill>
                  <a:srgbClr val="FFFFFF"/>
                </a:solidFill>
                <a:latin typeface="Barlow Condensed" pitchFamily="34" charset="0"/>
                <a:ea typeface="Barlow Condensed" pitchFamily="34" charset="-122"/>
                <a:cs typeface="Barlow Condensed" pitchFamily="34" charset="-120"/>
              </a:rPr>
              <a:t>Family and study</a:t>
            </a:r>
            <a:endParaRPr lang="en-US" sz="1600" dirty="0"/>
          </a:p>
        </p:txBody>
      </p:sp>
      <p:sp>
        <p:nvSpPr>
          <p:cNvPr id="9" name="Text 7"/>
          <p:cNvSpPr/>
          <p:nvPr/>
        </p:nvSpPr>
        <p:spPr>
          <a:xfrm>
            <a:off x="4561840" y="2519685"/>
            <a:ext cx="3160370" cy="66929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2B1A1C"/>
                </a:solidFill>
                <a:latin typeface="Barlow" pitchFamily="34" charset="0"/>
                <a:ea typeface="Barlow" pitchFamily="34" charset="-122"/>
                <a:cs typeface="Barlow" pitchFamily="34" charset="-120"/>
              </a:rPr>
              <a:t>Most students have family support (61%) and live with both parents (89%). Internet at home goes with higher grades.</a:t>
            </a:r>
            <a:endParaRPr lang="en-US" sz="1300" dirty="0"/>
          </a:p>
        </p:txBody>
      </p:sp>
      <p:sp>
        <p:nvSpPr>
          <p:cNvPr id="10" name="Shape 8"/>
          <p:cNvSpPr/>
          <p:nvPr/>
        </p:nvSpPr>
        <p:spPr>
          <a:xfrm>
            <a:off x="7985125" y="1952625"/>
            <a:ext cx="3384550" cy="1356360"/>
          </a:xfrm>
          <a:prstGeom prst="roundRect">
            <a:avLst>
              <a:gd name="adj" fmla="val 8661"/>
            </a:avLst>
          </a:prstGeom>
          <a:solidFill>
            <a:srgbClr val="F4F4EF"/>
          </a:solidFill>
          <a:ln w="19050">
            <a:solidFill>
              <a:srgbClr val="A01D26"/>
            </a:solidFill>
            <a:prstDash val="solid"/>
          </a:ln>
        </p:spPr>
      </p:sp>
      <p:sp>
        <p:nvSpPr>
          <p:cNvPr id="11" name="Text 9"/>
          <p:cNvSpPr/>
          <p:nvPr/>
        </p:nvSpPr>
        <p:spPr>
          <a:xfrm>
            <a:off x="7990840" y="1958342"/>
            <a:ext cx="3373120" cy="421640"/>
          </a:xfrm>
          <a:custGeom>
            <a:avLst/>
            <a:gdLst/>
            <a:ahLst/>
            <a:cxnLst/>
            <a:rect l="l" t="t" r="r" b="b"/>
            <a:pathLst>
              <a:path w="3373120" h="421640">
                <a:moveTo>
                  <a:pt x="88900" y="0"/>
                </a:moveTo>
                <a:lnTo>
                  <a:pt x="3284220" y="0"/>
                </a:lnTo>
                <a:arcTo hR="88900" wR="88900" stAng="16200000" swAng="5400000"/>
                <a:lnTo>
                  <a:pt x="3373120" y="421640"/>
                </a:lnTo>
                <a:lnTo>
                  <a:pt x="0" y="421640"/>
                </a:lnTo>
                <a:lnTo>
                  <a:pt x="0" y="88900"/>
                </a:lnTo>
                <a:arcTo hR="88900" wR="88900" stAng="10800000" swAng="5400000"/>
                <a:close/>
              </a:path>
            </a:pathLst>
          </a:custGeom>
          <a:solidFill>
            <a:srgbClr val="A01D26"/>
          </a:solidFill>
          <a:ln/>
        </p:spPr>
        <p:txBody>
          <a:bodyPr wrap="square" lIns="152400" tIns="88900" rIns="60350" bIns="63500" rtlCol="0" anchor="t">
            <a:normAutofit/>
          </a:bodyPr>
          <a:lstStyle/>
          <a:p>
            <a:pPr algn="l" indent="0" marL="0">
              <a:lnSpc>
                <a:spcPts val="1920"/>
              </a:lnSpc>
              <a:buNone/>
            </a:pPr>
            <a:r>
              <a:rPr lang="en-US" sz="1600" b="1" dirty="0">
                <a:solidFill>
                  <a:srgbClr val="FFFFFF"/>
                </a:solidFill>
                <a:latin typeface="Barlow Condensed" pitchFamily="34" charset="0"/>
                <a:ea typeface="Barlow Condensed" pitchFamily="34" charset="-122"/>
                <a:cs typeface="Barlow Condensed" pitchFamily="34" charset="-120"/>
              </a:rPr>
              <a:t>Health and lifestyle</a:t>
            </a:r>
            <a:endParaRPr lang="en-US" sz="1600" dirty="0"/>
          </a:p>
        </p:txBody>
      </p:sp>
      <p:sp>
        <p:nvSpPr>
          <p:cNvPr id="12" name="Text 10"/>
          <p:cNvSpPr/>
          <p:nvPr/>
        </p:nvSpPr>
        <p:spPr>
          <a:xfrm>
            <a:off x="8143240" y="2519685"/>
            <a:ext cx="3160370" cy="66929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2B1A1C"/>
                </a:solidFill>
                <a:latin typeface="Barlow" pitchFamily="34" charset="0"/>
                <a:ea typeface="Barlow" pitchFamily="34" charset="-122"/>
                <a:cs typeface="Barlow" pitchFamily="34" charset="-120"/>
              </a:rPr>
              <a:t>Only 27% eat healthily, and they pass more often (61% against 49%). Sleep under 5 hours is common but not linked to failing.</a:t>
            </a:r>
            <a:endParaRPr lang="en-US" sz="1300" dirty="0"/>
          </a:p>
        </p:txBody>
      </p:sp>
      <p:sp>
        <p:nvSpPr>
          <p:cNvPr id="13" name="Text 11"/>
          <p:cNvSpPr/>
          <p:nvPr/>
        </p:nvSpPr>
        <p:spPr>
          <a:xfrm>
            <a:off x="812800" y="6238242"/>
            <a:ext cx="91567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0AB"/>
                </a:solidFill>
                <a:latin typeface="Barlow" pitchFamily="34" charset="0"/>
                <a:ea typeface="Barlow" pitchFamily="34" charset="-122"/>
                <a:cs typeface="Barlow" pitchFamily="34" charset="-120"/>
              </a:rPr>
              <a:t>Students Performance Dashboard · Project brief · 13</a:t>
            </a:r>
            <a:endParaRPr lang="en-US" sz="1200" dirty="0"/>
          </a:p>
        </p:txBody>
      </p:sp>
    </p:spTree>
  </p:cSld>
  <p:clrMapOvr>
    <a:masterClrMapping/>
  </p:clrMapOvr>
</p:sld>
</file>

<file path=ppt/theme/theme1.xml><?xml version="1.0" encoding="utf-8"?>
<a:theme xmlns:a="http://schemas.openxmlformats.org/drawingml/2006/main" name="Students Performance Dashboard">
  <a:themeElements>
    <a:clrScheme name="Students Performance Dashboard">
      <a:dk1>
        <a:srgbClr val="20232A"/>
      </a:dk1>
      <a:lt1>
        <a:srgbClr val="FFFFFF"/>
      </a:lt1>
      <a:dk2>
        <a:srgbClr val="36393F"/>
      </a:dk2>
      <a:lt2>
        <a:srgbClr val="C7C8CA"/>
      </a:lt2>
      <a:accent1>
        <a:srgbClr val="A01D26"/>
      </a:accent1>
      <a:accent2>
        <a:srgbClr val="E66C37"/>
      </a:accent2>
      <a:accent3>
        <a:srgbClr val="EFB5B9"/>
      </a:accent3>
      <a:accent4>
        <a:srgbClr val="6B2328"/>
      </a:accent4>
      <a:accent5>
        <a:srgbClr val="D64550"/>
      </a:accent5>
      <a:accent6>
        <a:srgbClr val="B96E73"/>
      </a:accent6>
      <a:hlink>
        <a:srgbClr val="0563C1"/>
      </a:hlink>
      <a:folHlink>
        <a:srgbClr val="954F72"/>
      </a:folHlink>
    </a:clrScheme>
    <a:fontScheme name="Students Performance Dashboard">
      <a:majorFont>
        <a:latin typeface="Barlow Condense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Barlow"/>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Students Performance Dashboard</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Barlow
Copyright 2017 The Barlow Project Authors (https://github.com/jpt/barlow)
This Font Software is licensed under the SIL Open Font License, Version 1.1.
This license is copied below, and is also available with a FAQ at:
http://scripts.sil.org/OFL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Barlow Condensed
Copyright 2017 The Barlow Project Authors (https://github.com/jpt/barlow)
This Font Software is licensed under the SIL Open Font License, Version 1.1.
This license is copied below, and is also available with a FAQ at:
http://scripts.sil.org/OFL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2026-10-24T14:42:13Z</dcterms:created>
  <dcterms:modified xsi:type="dcterms:W3CDTF">2026-10-24T14:42:13Z</dcterms:modified>
</cp:coreProperties>
</file>