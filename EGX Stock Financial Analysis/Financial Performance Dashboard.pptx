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749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agreed design before we build in Power BI. Every page and chart is here with the question it answers, so we build only what serves a question.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page answers exactly one business question. The page title in Power BI is the page name, and the subtitle is the question, so a reader always knows why the page exists.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Colors carry meaning, not decoration: dark brown and tan = the business growing (revenue, EBITDA, equity); orange = what it costs or owes; red and green only flag good or bad and always sit next to words like "Above 3x: watch". Page background #FDEFDC, cards #FFFFFF, text #4A2A12.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Readers learn the layout once. Navigation left, then headline numbers, then charts that explain them. The three rules below the layout stop the most common misreadings.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visual on this page with the question it answers and the measures behind it. The one page an executive reads. Headline numbers first, then four charts that explain growth, profitability, cash and debt.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visual on this page with the question it answers and the measures behind it. Follows revenue down to net income and shows which costs grow faster than sales.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visual on this page with the question it answers and the measures behind it. Shows the size of the company and whether growth is paid for with debt or with shareholders’ money.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visual on this page with the question it answers and the measures behind it. Short-term: can it pay this year’s bills. Long-term: can it carry and service its debt.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visual on this page with the question it answers and the measures behind it. Shows how much cash is tied up in running the business and how long it takes to come back.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visual on this page with the question it answers and the measures behind it. Puts the selected companies side by side on the same ratios for the same period.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catches the most common modelling mistake: summing balance-sheet values across quarters.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DEFD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721"/>
            <a:ext cx="10566400" cy="474980"/>
          </a:xfrm>
          <a:prstGeom prst="rect">
            <a:avLst/>
          </a:prstGeom>
          <a:noFill/>
          <a:ln/>
        </p:spPr>
        <p:txBody>
          <a:bodyPr wrap="square" lIns="0" tIns="0" rIns="0" bIns="0" rtlCol="0" anchor="t"/>
          <a:lstStyle>
            <a:lvl1pPr marL="0" indent="0" algn="l">
              <a:lnSpc>
                <a:spcPct val="115000"/>
              </a:lnSpc>
              <a:buNone/>
              <a:defRPr lang="en-US" sz="3400" dirty="0">
                <a:solidFill>
                  <a:srgbClr val="4A2A12"/>
                </a:solidFill>
                <a:latin typeface="Segoe UI" pitchFamily="34" charset="0"/>
                <a:ea typeface="Segoe UI" pitchFamily="34" charset="-122"/>
                <a:cs typeface="Segoe UI"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095501"/>
            <a:ext cx="10566400" cy="3949699"/>
          </a:xfrm>
          <a:prstGeom prst="rect">
            <a:avLst/>
          </a:prstGeom>
          <a:noFill/>
          <a:ln/>
        </p:spPr>
        <p:txBody>
          <a:bodyPr wrap="square" lIns="0" tIns="0" rIns="0" bIns="0" rtlCol="0" anchor="t"/>
          <a:lstStyle>
            <a:lvl1pPr marL="0" indent="0" algn="l">
              <a:lnSpc>
                <a:spcPct val="140000"/>
              </a:lnSpc>
              <a:buNone/>
              <a:defRPr lang="en-US" sz="1600" dirty="0">
                <a:solidFill>
                  <a:srgbClr val="4A2A12"/>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EFD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721"/>
            <a:ext cx="10566400" cy="474980"/>
          </a:xfrm>
          <a:prstGeom prst="rect">
            <a:avLst/>
          </a:prstGeom>
          <a:noFill/>
          <a:ln/>
        </p:spPr>
        <p:txBody>
          <a:bodyPr wrap="square" lIns="0" tIns="0" rIns="0" bIns="0" rtlCol="0" anchor="t"/>
          <a:lstStyle>
            <a:lvl1pPr marL="0" indent="0" algn="l">
              <a:lnSpc>
                <a:spcPct val="115000"/>
              </a:lnSpc>
              <a:buNone/>
              <a:defRPr lang="en-US" sz="3400" dirty="0">
                <a:solidFill>
                  <a:srgbClr val="4A2A12"/>
                </a:solidFill>
                <a:latin typeface="Segoe UI" pitchFamily="34" charset="0"/>
                <a:ea typeface="Segoe UI" pitchFamily="34" charset="-122"/>
                <a:cs typeface="Segoe UI"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095501"/>
            <a:ext cx="10566400" cy="3949699"/>
          </a:xfrm>
          <a:prstGeom prst="rect">
            <a:avLst/>
          </a:prstGeom>
          <a:noFill/>
          <a:ln/>
        </p:spPr>
        <p:txBody>
          <a:bodyPr wrap="square" lIns="0" tIns="0" rIns="0" bIns="0" rtlCol="0" anchor="t"/>
          <a:lstStyle>
            <a:lvl1pPr marL="0" indent="0" algn="l">
              <a:lnSpc>
                <a:spcPct val="140000"/>
              </a:lnSpc>
              <a:buNone/>
              <a:defRPr lang="en-US" sz="1600" dirty="0">
                <a:solidFill>
                  <a:srgbClr val="4A2A12"/>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0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DESIGN BRIEF</a:t>
            </a:r>
            <a:endParaRPr lang="en-US" sz="1400" dirty="0"/>
          </a:p>
        </p:txBody>
      </p:sp>
      <p:sp>
        <p:nvSpPr>
          <p:cNvPr id="3" name="Text 1"/>
          <p:cNvSpPr>
            <a:spLocks noGrp="1"/>
          </p:cNvSpPr>
          <p:nvPr>
            <p:ph type="title"/>
          </p:nvPr>
        </p:nvSpPr>
        <p:spPr>
          <a:xfrm>
            <a:off x="812800" y="1315720"/>
            <a:ext cx="10883392" cy="141224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Segoe UI" pitchFamily="34" charset="0"/>
                <a:ea typeface="Segoe UI" pitchFamily="34" charset="-122"/>
                <a:cs typeface="Segoe UI" pitchFamily="34" charset="-120"/>
              </a:rPr>
              <a:t>Financial Performance</a:t>
            </a:r>
            <a:endParaRPr lang="en-US" sz="5200" dirty="0"/>
          </a:p>
          <a:p>
            <a:pPr marL="0" indent="0" algn="l">
              <a:lnSpc>
                <a:spcPts val="5460"/>
              </a:lnSpc>
              <a:buNone/>
            </a:pPr>
            <a:r>
              <a:rPr lang="en-US" sz="5200" b="1" i="0" dirty="0">
                <a:solidFill>
                  <a:srgbClr val="FFFFFF"/>
                </a:solidFill>
                <a:latin typeface="Segoe UI" pitchFamily="34" charset="0"/>
                <a:ea typeface="Segoe UI" pitchFamily="34" charset="-122"/>
                <a:cs typeface="Segoe UI" pitchFamily="34" charset="-120"/>
              </a:rPr>
              <a:t>Dashboard</a:t>
            </a:r>
            <a:endParaRPr lang="en-US" sz="5200" dirty="0"/>
          </a:p>
        </p:txBody>
      </p:sp>
      <p:sp>
        <p:nvSpPr>
          <p:cNvPr id="4" name="Text 2"/>
          <p:cNvSpPr/>
          <p:nvPr/>
        </p:nvSpPr>
        <p:spPr>
          <a:xfrm>
            <a:off x="812800" y="2956560"/>
            <a:ext cx="7848600" cy="6197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E8CDB0"/>
                </a:solidFill>
                <a:latin typeface="Segoe UI" pitchFamily="34" charset="0"/>
                <a:ea typeface="Segoe UI" pitchFamily="34" charset="-122"/>
                <a:cs typeface="Segoe UI" pitchFamily="34" charset="-120"/>
              </a:rPr>
              <a:t>The pages we will build in Power BI, the question each chart answers, and the colors that hold it together.</a:t>
            </a:r>
            <a:endParaRPr lang="en-US" sz="1800" dirty="0"/>
          </a:p>
        </p:txBody>
      </p:sp>
      <p:sp>
        <p:nvSpPr>
          <p:cNvPr id="5" name="Text 3"/>
          <p:cNvSpPr/>
          <p:nvPr/>
        </p:nvSpPr>
        <p:spPr>
          <a:xfrm>
            <a:off x="812800" y="380492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AE84"/>
                </a:solidFill>
                <a:latin typeface="Segoe UI" pitchFamily="34" charset="0"/>
                <a:ea typeface="Segoe UI" pitchFamily="34" charset="-122"/>
                <a:cs typeface="Segoe UI" pitchFamily="34" charset="-120"/>
              </a:rPr>
              <a:t>EGX listed companies · Quarterly statements · Sample: Juhayna (JUFO)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THE DASHBOARD</a:t>
            </a:r>
            <a:endParaRPr lang="en-US" sz="1400" dirty="0"/>
          </a:p>
        </p:txBody>
      </p:sp>
      <p:sp>
        <p:nvSpPr>
          <p:cNvPr id="3" name="Text 1"/>
          <p:cNvSpPr>
            <a:spLocks noGrp="1"/>
          </p:cNvSpPr>
          <p:nvPr>
            <p:ph type="title"/>
          </p:nvPr>
        </p:nvSpPr>
        <p:spPr>
          <a:xfrm>
            <a:off x="812800" y="1315720"/>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Six pages, six questions</a:t>
            </a:r>
            <a:endParaRPr lang="en-US" sz="3400" dirty="0"/>
          </a:p>
        </p:txBody>
      </p:sp>
      <p:sp>
        <p:nvSpPr>
          <p:cNvPr id="4" name="Shape 2"/>
          <p:cNvSpPr/>
          <p:nvPr/>
        </p:nvSpPr>
        <p:spPr>
          <a:xfrm>
            <a:off x="822325" y="2054225"/>
            <a:ext cx="10547350" cy="2922905"/>
          </a:xfrm>
          <a:prstGeom prst="roundRect">
            <a:avLst>
              <a:gd name="adj" fmla="val 4888"/>
            </a:avLst>
          </a:prstGeom>
          <a:noFill/>
          <a:ln w="19050">
            <a:solidFill>
              <a:srgbClr val="D8621C"/>
            </a:solidFill>
            <a:prstDash val="solid"/>
          </a:ln>
        </p:spPr>
      </p:sp>
      <p:sp>
        <p:nvSpPr>
          <p:cNvPr id="5" name="Shape 3"/>
          <p:cNvSpPr/>
          <p:nvPr/>
        </p:nvSpPr>
        <p:spPr>
          <a:xfrm>
            <a:off x="828040" y="2059940"/>
            <a:ext cx="10535920" cy="415925"/>
          </a:xfrm>
          <a:custGeom>
            <a:avLst/>
            <a:gdLst/>
            <a:ahLst/>
            <a:cxnLst/>
            <a:rect l="l" t="t" r="r" b="b"/>
            <a:pathLst>
              <a:path w="10535920" h="415925">
                <a:moveTo>
                  <a:pt x="114300" y="0"/>
                </a:moveTo>
                <a:lnTo>
                  <a:pt x="10421620" y="0"/>
                </a:lnTo>
                <a:arcTo wR="114300" hR="114300" stAng="16200000" swAng="5400000"/>
                <a:lnTo>
                  <a:pt x="10535920" y="415925"/>
                </a:lnTo>
                <a:lnTo>
                  <a:pt x="0" y="415925"/>
                </a:lnTo>
                <a:lnTo>
                  <a:pt x="0" y="114300"/>
                </a:lnTo>
                <a:arcTo wR="114300" hR="114300" stAng="10800000" swAng="5400000"/>
                <a:close/>
              </a:path>
            </a:pathLst>
          </a:custGeom>
          <a:solidFill>
            <a:srgbClr val="6B3A18"/>
          </a:solidFill>
          <a:ln/>
        </p:spPr>
      </p:sp>
      <p:sp>
        <p:nvSpPr>
          <p:cNvPr id="6" name="Text 4"/>
          <p:cNvSpPr/>
          <p:nvPr/>
        </p:nvSpPr>
        <p:spPr>
          <a:xfrm>
            <a:off x="980440" y="2148840"/>
            <a:ext cx="49530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egoe UI" pitchFamily="34" charset="0"/>
                <a:ea typeface="Segoe UI" pitchFamily="34" charset="-122"/>
                <a:cs typeface="Segoe UI" pitchFamily="34" charset="-120"/>
              </a:rPr>
              <a:t>#</a:t>
            </a:r>
            <a:endParaRPr lang="en-US" sz="1500" dirty="0"/>
          </a:p>
        </p:txBody>
      </p:sp>
      <p:sp>
        <p:nvSpPr>
          <p:cNvPr id="7" name="Text 5"/>
          <p:cNvSpPr/>
          <p:nvPr/>
        </p:nvSpPr>
        <p:spPr>
          <a:xfrm>
            <a:off x="1526540" y="2148840"/>
            <a:ext cx="235458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egoe UI" pitchFamily="34" charset="0"/>
                <a:ea typeface="Segoe UI" pitchFamily="34" charset="-122"/>
                <a:cs typeface="Segoe UI" pitchFamily="34" charset="-120"/>
              </a:rPr>
              <a:t>Page</a:t>
            </a:r>
            <a:endParaRPr lang="en-US" sz="1500" dirty="0"/>
          </a:p>
        </p:txBody>
      </p:sp>
      <p:sp>
        <p:nvSpPr>
          <p:cNvPr id="8" name="Text 6"/>
          <p:cNvSpPr/>
          <p:nvPr/>
        </p:nvSpPr>
        <p:spPr>
          <a:xfrm>
            <a:off x="3914140" y="2148840"/>
            <a:ext cx="497078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egoe UI" pitchFamily="34" charset="0"/>
                <a:ea typeface="Segoe UI" pitchFamily="34" charset="-122"/>
                <a:cs typeface="Segoe UI" pitchFamily="34" charset="-120"/>
              </a:rPr>
              <a:t>The question it answers</a:t>
            </a:r>
            <a:endParaRPr lang="en-US" sz="1500" dirty="0"/>
          </a:p>
        </p:txBody>
      </p:sp>
      <p:sp>
        <p:nvSpPr>
          <p:cNvPr id="9" name="Text 7"/>
          <p:cNvSpPr/>
          <p:nvPr/>
        </p:nvSpPr>
        <p:spPr>
          <a:xfrm>
            <a:off x="8841740" y="2148840"/>
            <a:ext cx="222377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egoe UI" pitchFamily="34" charset="0"/>
                <a:ea typeface="Segoe UI" pitchFamily="34" charset="-122"/>
                <a:cs typeface="Segoe UI" pitchFamily="34" charset="-120"/>
              </a:rPr>
              <a:t>Data from</a:t>
            </a:r>
            <a:endParaRPr lang="en-US" sz="1500" dirty="0"/>
          </a:p>
        </p:txBody>
      </p:sp>
      <p:sp>
        <p:nvSpPr>
          <p:cNvPr id="10" name="Shape 8"/>
          <p:cNvSpPr/>
          <p:nvPr/>
        </p:nvSpPr>
        <p:spPr>
          <a:xfrm>
            <a:off x="828040" y="2475865"/>
            <a:ext cx="10535920" cy="415925"/>
          </a:xfrm>
          <a:prstGeom prst="rect">
            <a:avLst/>
          </a:prstGeom>
          <a:solidFill>
            <a:srgbClr val="FFFFFF"/>
          </a:solidFill>
          <a:ln/>
        </p:spPr>
      </p:sp>
      <p:sp>
        <p:nvSpPr>
          <p:cNvPr id="11" name="Text 9"/>
          <p:cNvSpPr/>
          <p:nvPr/>
        </p:nvSpPr>
        <p:spPr>
          <a:xfrm>
            <a:off x="980440" y="2564765"/>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01</a:t>
            </a:r>
            <a:endParaRPr lang="en-US" sz="1500" dirty="0"/>
          </a:p>
        </p:txBody>
      </p:sp>
      <p:sp>
        <p:nvSpPr>
          <p:cNvPr id="12" name="Text 10"/>
          <p:cNvSpPr/>
          <p:nvPr/>
        </p:nvSpPr>
        <p:spPr>
          <a:xfrm>
            <a:off x="1526540" y="2564765"/>
            <a:ext cx="23545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Overview</a:t>
            </a:r>
            <a:endParaRPr lang="en-US" sz="1500" dirty="0"/>
          </a:p>
        </p:txBody>
      </p:sp>
      <p:sp>
        <p:nvSpPr>
          <p:cNvPr id="13" name="Text 11"/>
          <p:cNvSpPr/>
          <p:nvPr/>
        </p:nvSpPr>
        <p:spPr>
          <a:xfrm>
            <a:off x="3914140" y="2564765"/>
            <a:ext cx="49707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How is the company performing financially?</a:t>
            </a:r>
            <a:endParaRPr lang="en-US" sz="1500" dirty="0"/>
          </a:p>
        </p:txBody>
      </p:sp>
      <p:sp>
        <p:nvSpPr>
          <p:cNvPr id="14" name="Text 12"/>
          <p:cNvSpPr/>
          <p:nvPr/>
        </p:nvSpPr>
        <p:spPr>
          <a:xfrm>
            <a:off x="8841740" y="2564765"/>
            <a:ext cx="222377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Executive summary</a:t>
            </a:r>
            <a:endParaRPr lang="en-US" sz="1500" dirty="0"/>
          </a:p>
        </p:txBody>
      </p:sp>
      <p:sp>
        <p:nvSpPr>
          <p:cNvPr id="15" name="Shape 13"/>
          <p:cNvSpPr/>
          <p:nvPr/>
        </p:nvSpPr>
        <p:spPr>
          <a:xfrm>
            <a:off x="828040" y="2891790"/>
            <a:ext cx="10535920" cy="415925"/>
          </a:xfrm>
          <a:prstGeom prst="rect">
            <a:avLst/>
          </a:prstGeom>
          <a:solidFill>
            <a:srgbClr val="FDF3E7"/>
          </a:solidFill>
          <a:ln/>
        </p:spPr>
      </p:sp>
      <p:sp>
        <p:nvSpPr>
          <p:cNvPr id="16" name="Text 14"/>
          <p:cNvSpPr/>
          <p:nvPr/>
        </p:nvSpPr>
        <p:spPr>
          <a:xfrm>
            <a:off x="980440" y="2980690"/>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02</a:t>
            </a:r>
            <a:endParaRPr lang="en-US" sz="1500" dirty="0"/>
          </a:p>
        </p:txBody>
      </p:sp>
      <p:sp>
        <p:nvSpPr>
          <p:cNvPr id="17" name="Text 15"/>
          <p:cNvSpPr/>
          <p:nvPr/>
        </p:nvSpPr>
        <p:spPr>
          <a:xfrm>
            <a:off x="1526540" y="2980690"/>
            <a:ext cx="23545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Profit &amp; Loss</a:t>
            </a:r>
            <a:endParaRPr lang="en-US" sz="1500" dirty="0"/>
          </a:p>
        </p:txBody>
      </p:sp>
      <p:sp>
        <p:nvSpPr>
          <p:cNvPr id="18" name="Text 16"/>
          <p:cNvSpPr/>
          <p:nvPr/>
        </p:nvSpPr>
        <p:spPr>
          <a:xfrm>
            <a:off x="3914140" y="2980690"/>
            <a:ext cx="49707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Is the company growing profitably?</a:t>
            </a:r>
            <a:endParaRPr lang="en-US" sz="1500" dirty="0"/>
          </a:p>
        </p:txBody>
      </p:sp>
      <p:sp>
        <p:nvSpPr>
          <p:cNvPr id="19" name="Text 17"/>
          <p:cNvSpPr/>
          <p:nvPr/>
        </p:nvSpPr>
        <p:spPr>
          <a:xfrm>
            <a:off x="8841740" y="2980690"/>
            <a:ext cx="222377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Income statement</a:t>
            </a:r>
            <a:endParaRPr lang="en-US" sz="1500" dirty="0"/>
          </a:p>
        </p:txBody>
      </p:sp>
      <p:sp>
        <p:nvSpPr>
          <p:cNvPr id="20" name="Shape 18"/>
          <p:cNvSpPr/>
          <p:nvPr/>
        </p:nvSpPr>
        <p:spPr>
          <a:xfrm>
            <a:off x="828040" y="3307715"/>
            <a:ext cx="10535920" cy="415925"/>
          </a:xfrm>
          <a:prstGeom prst="rect">
            <a:avLst/>
          </a:prstGeom>
          <a:solidFill>
            <a:srgbClr val="FFFFFF"/>
          </a:solidFill>
          <a:ln/>
        </p:spPr>
      </p:sp>
      <p:sp>
        <p:nvSpPr>
          <p:cNvPr id="21" name="Text 19"/>
          <p:cNvSpPr/>
          <p:nvPr/>
        </p:nvSpPr>
        <p:spPr>
          <a:xfrm>
            <a:off x="980440" y="3396615"/>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03</a:t>
            </a:r>
            <a:endParaRPr lang="en-US" sz="1500" dirty="0"/>
          </a:p>
        </p:txBody>
      </p:sp>
      <p:sp>
        <p:nvSpPr>
          <p:cNvPr id="22" name="Text 20"/>
          <p:cNvSpPr/>
          <p:nvPr/>
        </p:nvSpPr>
        <p:spPr>
          <a:xfrm>
            <a:off x="1526540" y="3396615"/>
            <a:ext cx="23545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Balance Sheet</a:t>
            </a:r>
            <a:endParaRPr lang="en-US" sz="1500" dirty="0"/>
          </a:p>
        </p:txBody>
      </p:sp>
      <p:sp>
        <p:nvSpPr>
          <p:cNvPr id="23" name="Text 21"/>
          <p:cNvSpPr/>
          <p:nvPr/>
        </p:nvSpPr>
        <p:spPr>
          <a:xfrm>
            <a:off x="3914140" y="3396615"/>
            <a:ext cx="49707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What does it own, and how is it funded?</a:t>
            </a:r>
            <a:endParaRPr lang="en-US" sz="1500" dirty="0"/>
          </a:p>
        </p:txBody>
      </p:sp>
      <p:sp>
        <p:nvSpPr>
          <p:cNvPr id="24" name="Text 22"/>
          <p:cNvSpPr/>
          <p:nvPr/>
        </p:nvSpPr>
        <p:spPr>
          <a:xfrm>
            <a:off x="8841740" y="3396615"/>
            <a:ext cx="222377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Balance sheet</a:t>
            </a:r>
            <a:endParaRPr lang="en-US" sz="1500" dirty="0"/>
          </a:p>
        </p:txBody>
      </p:sp>
      <p:sp>
        <p:nvSpPr>
          <p:cNvPr id="25" name="Shape 23"/>
          <p:cNvSpPr/>
          <p:nvPr/>
        </p:nvSpPr>
        <p:spPr>
          <a:xfrm>
            <a:off x="828040" y="3723640"/>
            <a:ext cx="10535920" cy="415925"/>
          </a:xfrm>
          <a:prstGeom prst="rect">
            <a:avLst/>
          </a:prstGeom>
          <a:solidFill>
            <a:srgbClr val="FDF3E7"/>
          </a:solidFill>
          <a:ln/>
        </p:spPr>
      </p:sp>
      <p:sp>
        <p:nvSpPr>
          <p:cNvPr id="26" name="Text 24"/>
          <p:cNvSpPr/>
          <p:nvPr/>
        </p:nvSpPr>
        <p:spPr>
          <a:xfrm>
            <a:off x="980440" y="3812540"/>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04</a:t>
            </a:r>
            <a:endParaRPr lang="en-US" sz="1500" dirty="0"/>
          </a:p>
        </p:txBody>
      </p:sp>
      <p:sp>
        <p:nvSpPr>
          <p:cNvPr id="27" name="Text 25"/>
          <p:cNvSpPr/>
          <p:nvPr/>
        </p:nvSpPr>
        <p:spPr>
          <a:xfrm>
            <a:off x="1526540" y="3812540"/>
            <a:ext cx="23545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Liquidity &amp; Leverage</a:t>
            </a:r>
            <a:endParaRPr lang="en-US" sz="1500" dirty="0"/>
          </a:p>
        </p:txBody>
      </p:sp>
      <p:sp>
        <p:nvSpPr>
          <p:cNvPr id="28" name="Text 26"/>
          <p:cNvSpPr/>
          <p:nvPr/>
        </p:nvSpPr>
        <p:spPr>
          <a:xfrm>
            <a:off x="3914140" y="3812540"/>
            <a:ext cx="49707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Can it meet its obligations?</a:t>
            </a:r>
            <a:endParaRPr lang="en-US" sz="1500" dirty="0"/>
          </a:p>
        </p:txBody>
      </p:sp>
      <p:sp>
        <p:nvSpPr>
          <p:cNvPr id="29" name="Text 27"/>
          <p:cNvSpPr/>
          <p:nvPr/>
        </p:nvSpPr>
        <p:spPr>
          <a:xfrm>
            <a:off x="8841740" y="3812540"/>
            <a:ext cx="222377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Balance sheet + P&amp;L</a:t>
            </a:r>
            <a:endParaRPr lang="en-US" sz="1500" dirty="0"/>
          </a:p>
        </p:txBody>
      </p:sp>
      <p:sp>
        <p:nvSpPr>
          <p:cNvPr id="30" name="Shape 28"/>
          <p:cNvSpPr/>
          <p:nvPr/>
        </p:nvSpPr>
        <p:spPr>
          <a:xfrm>
            <a:off x="828040" y="4139565"/>
            <a:ext cx="10535920" cy="415925"/>
          </a:xfrm>
          <a:prstGeom prst="rect">
            <a:avLst/>
          </a:prstGeom>
          <a:solidFill>
            <a:srgbClr val="FFFFFF"/>
          </a:solidFill>
          <a:ln/>
        </p:spPr>
      </p:sp>
      <p:sp>
        <p:nvSpPr>
          <p:cNvPr id="31" name="Text 29"/>
          <p:cNvSpPr/>
          <p:nvPr/>
        </p:nvSpPr>
        <p:spPr>
          <a:xfrm>
            <a:off x="980440" y="4228465"/>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05</a:t>
            </a:r>
            <a:endParaRPr lang="en-US" sz="1500" dirty="0"/>
          </a:p>
        </p:txBody>
      </p:sp>
      <p:sp>
        <p:nvSpPr>
          <p:cNvPr id="32" name="Text 30"/>
          <p:cNvSpPr/>
          <p:nvPr/>
        </p:nvSpPr>
        <p:spPr>
          <a:xfrm>
            <a:off x="1526540" y="4228465"/>
            <a:ext cx="23545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Working Capital</a:t>
            </a:r>
            <a:endParaRPr lang="en-US" sz="1500" dirty="0"/>
          </a:p>
        </p:txBody>
      </p:sp>
      <p:sp>
        <p:nvSpPr>
          <p:cNvPr id="33" name="Text 31"/>
          <p:cNvSpPr/>
          <p:nvPr/>
        </p:nvSpPr>
        <p:spPr>
          <a:xfrm>
            <a:off x="3914140" y="4228465"/>
            <a:ext cx="49707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How efficiently does it use operating assets?</a:t>
            </a:r>
            <a:endParaRPr lang="en-US" sz="1500" dirty="0"/>
          </a:p>
        </p:txBody>
      </p:sp>
      <p:sp>
        <p:nvSpPr>
          <p:cNvPr id="34" name="Text 32"/>
          <p:cNvSpPr/>
          <p:nvPr/>
        </p:nvSpPr>
        <p:spPr>
          <a:xfrm>
            <a:off x="8841740" y="4228465"/>
            <a:ext cx="222377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Balance sheet + P&amp;L</a:t>
            </a:r>
            <a:endParaRPr lang="en-US" sz="1500" dirty="0"/>
          </a:p>
        </p:txBody>
      </p:sp>
      <p:sp>
        <p:nvSpPr>
          <p:cNvPr id="35" name="Shape 33"/>
          <p:cNvSpPr/>
          <p:nvPr/>
        </p:nvSpPr>
        <p:spPr>
          <a:xfrm>
            <a:off x="828040" y="4555490"/>
            <a:ext cx="10535920" cy="415925"/>
          </a:xfrm>
          <a:prstGeom prst="rect">
            <a:avLst/>
          </a:prstGeom>
          <a:solidFill>
            <a:srgbClr val="FDF3E7"/>
          </a:solidFill>
          <a:ln/>
        </p:spPr>
      </p:sp>
      <p:sp>
        <p:nvSpPr>
          <p:cNvPr id="36" name="Text 34"/>
          <p:cNvSpPr/>
          <p:nvPr/>
        </p:nvSpPr>
        <p:spPr>
          <a:xfrm>
            <a:off x="980440" y="4644390"/>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06</a:t>
            </a:r>
            <a:endParaRPr lang="en-US" sz="1500" dirty="0"/>
          </a:p>
        </p:txBody>
      </p:sp>
      <p:sp>
        <p:nvSpPr>
          <p:cNvPr id="37" name="Text 35"/>
          <p:cNvSpPr/>
          <p:nvPr/>
        </p:nvSpPr>
        <p:spPr>
          <a:xfrm>
            <a:off x="1526540" y="4644390"/>
            <a:ext cx="23545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Compare Companies</a:t>
            </a:r>
            <a:endParaRPr lang="en-US" sz="1500" dirty="0"/>
          </a:p>
        </p:txBody>
      </p:sp>
      <p:sp>
        <p:nvSpPr>
          <p:cNvPr id="38" name="Text 36"/>
          <p:cNvSpPr/>
          <p:nvPr/>
        </p:nvSpPr>
        <p:spPr>
          <a:xfrm>
            <a:off x="3914140" y="4644390"/>
            <a:ext cx="497078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How does it stack up against peers?</a:t>
            </a:r>
            <a:endParaRPr lang="en-US" sz="1500" dirty="0"/>
          </a:p>
        </p:txBody>
      </p:sp>
      <p:sp>
        <p:nvSpPr>
          <p:cNvPr id="39" name="Text 37"/>
          <p:cNvSpPr/>
          <p:nvPr/>
        </p:nvSpPr>
        <p:spPr>
          <a:xfrm>
            <a:off x="8841740" y="4644390"/>
            <a:ext cx="222377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4A2A12"/>
                </a:solidFill>
                <a:latin typeface="Segoe UI" pitchFamily="34" charset="0"/>
                <a:ea typeface="Segoe UI" pitchFamily="34" charset="-122"/>
                <a:cs typeface="Segoe UI" pitchFamily="34" charset="-120"/>
              </a:rPr>
              <a:t>All statements</a:t>
            </a:r>
            <a:endParaRPr lang="en-US" sz="1500" dirty="0"/>
          </a:p>
        </p:txBody>
      </p:sp>
      <p:sp>
        <p:nvSpPr>
          <p:cNvPr id="40" name="Text 38"/>
          <p:cNvSpPr/>
          <p:nvPr/>
        </p:nvSpPr>
        <p:spPr>
          <a:xfrm>
            <a:off x="812800" y="6238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125"/>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D8621C"/>
                </a:solidFill>
                <a:latin typeface="Segoe UI" pitchFamily="34" charset="0"/>
                <a:ea typeface="Segoe UI" pitchFamily="34" charset="-122"/>
                <a:cs typeface="Segoe UI" pitchFamily="34" charset="-120"/>
              </a:rPr>
              <a:t>COLOR SYSTEM</a:t>
            </a:r>
            <a:endParaRPr lang="en-US" sz="1229" dirty="0"/>
          </a:p>
        </p:txBody>
      </p:sp>
      <p:sp>
        <p:nvSpPr>
          <p:cNvPr id="3" name="Text 1"/>
          <p:cNvSpPr>
            <a:spLocks noGrp="1"/>
          </p:cNvSpPr>
          <p:nvPr>
            <p:ph type="title"/>
          </p:nvPr>
        </p:nvSpPr>
        <p:spPr>
          <a:xfrm>
            <a:off x="812800" y="1279525"/>
            <a:ext cx="10883392" cy="431244"/>
          </a:xfrm>
          <a:prstGeom prst="rect">
            <a:avLst/>
          </a:prstGeom>
          <a:noFill/>
          <a:ln/>
        </p:spPr>
        <p:txBody>
          <a:bodyPr wrap="square" lIns="0" tIns="0" rIns="0" bIns="0" rtlCol="0" anchor="t">
            <a:normAutofit/>
          </a:bodyPr>
          <a:lstStyle/>
          <a:p>
            <a:pPr marL="0" indent="0" algn="l">
              <a:lnSpc>
                <a:spcPts val="3214"/>
              </a:lnSpc>
              <a:buNone/>
            </a:pPr>
            <a:r>
              <a:rPr lang="en-US" sz="2922" b="1" i="0" dirty="0">
                <a:solidFill>
                  <a:srgbClr val="4A2A12"/>
                </a:solidFill>
                <a:latin typeface="Segoe UI" pitchFamily="34" charset="0"/>
                <a:ea typeface="Segoe UI" pitchFamily="34" charset="-122"/>
                <a:cs typeface="Segoe UI" pitchFamily="34" charset="-120"/>
              </a:rPr>
              <a:t>One meaning per color, on every page</a:t>
            </a:r>
            <a:endParaRPr lang="en-US" sz="2922" dirty="0"/>
          </a:p>
        </p:txBody>
      </p:sp>
      <p:sp>
        <p:nvSpPr>
          <p:cNvPr id="4" name="Shape 2"/>
          <p:cNvSpPr/>
          <p:nvPr/>
        </p:nvSpPr>
        <p:spPr>
          <a:xfrm>
            <a:off x="822325" y="1948895"/>
            <a:ext cx="2489200" cy="1805305"/>
          </a:xfrm>
          <a:prstGeom prst="roundRect">
            <a:avLst>
              <a:gd name="adj" fmla="val 9321"/>
            </a:avLst>
          </a:prstGeom>
          <a:solidFill>
            <a:srgbClr val="FFFFFF"/>
          </a:solidFill>
          <a:ln w="19050">
            <a:solidFill>
              <a:srgbClr val="D8621C"/>
            </a:solidFill>
            <a:prstDash val="solid"/>
          </a:ln>
        </p:spPr>
      </p:sp>
      <p:sp>
        <p:nvSpPr>
          <p:cNvPr id="5" name="Shape 3"/>
          <p:cNvSpPr/>
          <p:nvPr/>
        </p:nvSpPr>
        <p:spPr>
          <a:xfrm>
            <a:off x="980440" y="2107009"/>
            <a:ext cx="2172970" cy="698500"/>
          </a:xfrm>
          <a:prstGeom prst="roundRect">
            <a:avLst>
              <a:gd name="adj" fmla="val 14545"/>
            </a:avLst>
          </a:prstGeom>
          <a:solidFill>
            <a:srgbClr val="6B3A18"/>
          </a:solidFill>
          <a:ln/>
        </p:spPr>
      </p:sp>
      <p:sp>
        <p:nvSpPr>
          <p:cNvPr id="6" name="Text 4"/>
          <p:cNvSpPr/>
          <p:nvPr/>
        </p:nvSpPr>
        <p:spPr>
          <a:xfrm>
            <a:off x="980440" y="2869009"/>
            <a:ext cx="2238159" cy="201136"/>
          </a:xfrm>
          <a:prstGeom prst="rect">
            <a:avLst/>
          </a:prstGeom>
          <a:noFill/>
          <a:ln/>
        </p:spPr>
        <p:txBody>
          <a:bodyPr wrap="square" lIns="0" tIns="0" rIns="0" bIns="0" rtlCol="0" anchor="t">
            <a:normAutofit/>
          </a:bodyPr>
          <a:lstStyle/>
          <a:p>
            <a:pPr marL="0" indent="0" algn="l">
              <a:lnSpc>
                <a:spcPts val="1424"/>
              </a:lnSpc>
              <a:buNone/>
            </a:pPr>
            <a:r>
              <a:rPr lang="en-US" sz="1017" b="1" dirty="0">
                <a:solidFill>
                  <a:srgbClr val="4A2A12"/>
                </a:solidFill>
                <a:latin typeface="Segoe UI" pitchFamily="34" charset="0"/>
                <a:ea typeface="Segoe UI" pitchFamily="34" charset="-122"/>
                <a:cs typeface="Segoe UI" pitchFamily="34" charset="-120"/>
              </a:rPr>
              <a:t>Dark brown</a:t>
            </a:r>
            <a:endParaRPr lang="en-US" sz="1017" dirty="0"/>
          </a:p>
        </p:txBody>
      </p:sp>
      <p:sp>
        <p:nvSpPr>
          <p:cNvPr id="7" name="Text 5"/>
          <p:cNvSpPr/>
          <p:nvPr/>
        </p:nvSpPr>
        <p:spPr>
          <a:xfrm>
            <a:off x="980440" y="3108246"/>
            <a:ext cx="2238159" cy="177721"/>
          </a:xfrm>
          <a:prstGeom prst="rect">
            <a:avLst/>
          </a:prstGeom>
          <a:noFill/>
          <a:ln/>
        </p:spPr>
        <p:txBody>
          <a:bodyPr wrap="square" lIns="0" tIns="0" rIns="0" bIns="0" rtlCol="0" anchor="t">
            <a:normAutofit/>
          </a:bodyPr>
          <a:lstStyle/>
          <a:p>
            <a:pPr marL="0" indent="0" algn="l">
              <a:lnSpc>
                <a:spcPts val="1223"/>
              </a:lnSpc>
              <a:buNone/>
            </a:pPr>
            <a:r>
              <a:rPr lang="en-US" sz="873" b="1" dirty="0">
                <a:solidFill>
                  <a:srgbClr val="D8621C"/>
                </a:solidFill>
                <a:latin typeface="Segoe UI" pitchFamily="34" charset="0"/>
                <a:ea typeface="Segoe UI" pitchFamily="34" charset="-122"/>
                <a:cs typeface="Segoe UI" pitchFamily="34" charset="-120"/>
              </a:rPr>
              <a:t>#6B3A18</a:t>
            </a:r>
            <a:endParaRPr lang="en-US" sz="873" dirty="0"/>
          </a:p>
        </p:txBody>
      </p:sp>
      <p:sp>
        <p:nvSpPr>
          <p:cNvPr id="8" name="Text 6"/>
          <p:cNvSpPr/>
          <p:nvPr/>
        </p:nvSpPr>
        <p:spPr>
          <a:xfrm>
            <a:off x="980440" y="3324067"/>
            <a:ext cx="2321560" cy="297418"/>
          </a:xfrm>
          <a:prstGeom prst="rect">
            <a:avLst/>
          </a:prstGeom>
          <a:noFill/>
          <a:ln/>
        </p:spPr>
        <p:txBody>
          <a:bodyPr wrap="square" lIns="0" tIns="0" rIns="0" bIns="0" rtlCol="0" anchor="t">
            <a:normAutofit/>
          </a:bodyPr>
          <a:lstStyle/>
          <a:p>
            <a:pPr marL="0" indent="0" algn="l">
              <a:lnSpc>
                <a:spcPts val="1193"/>
              </a:lnSpc>
              <a:buNone/>
            </a:pPr>
            <a:r>
              <a:rPr lang="en-US" sz="955" dirty="0">
                <a:solidFill>
                  <a:srgbClr val="4A2A12"/>
                </a:solidFill>
                <a:latin typeface="Segoe UI" pitchFamily="34" charset="0"/>
                <a:ea typeface="Segoe UI" pitchFamily="34" charset="-122"/>
                <a:cs typeface="Segoe UI" pitchFamily="34" charset="-120"/>
              </a:rPr>
              <a:t>Revenue, assets, subtotals, selected state</a:t>
            </a:r>
            <a:endParaRPr lang="en-US" sz="955" dirty="0"/>
          </a:p>
        </p:txBody>
      </p:sp>
      <p:sp>
        <p:nvSpPr>
          <p:cNvPr id="9" name="Shape 7"/>
          <p:cNvSpPr/>
          <p:nvPr/>
        </p:nvSpPr>
        <p:spPr>
          <a:xfrm>
            <a:off x="3508375" y="1948895"/>
            <a:ext cx="2489200" cy="1805305"/>
          </a:xfrm>
          <a:prstGeom prst="roundRect">
            <a:avLst>
              <a:gd name="adj" fmla="val 9321"/>
            </a:avLst>
          </a:prstGeom>
          <a:solidFill>
            <a:srgbClr val="FFFFFF"/>
          </a:solidFill>
          <a:ln w="19050">
            <a:solidFill>
              <a:srgbClr val="D8621C"/>
            </a:solidFill>
            <a:prstDash val="solid"/>
          </a:ln>
        </p:spPr>
      </p:sp>
      <p:sp>
        <p:nvSpPr>
          <p:cNvPr id="10" name="Shape 8"/>
          <p:cNvSpPr/>
          <p:nvPr/>
        </p:nvSpPr>
        <p:spPr>
          <a:xfrm>
            <a:off x="3666490" y="2107009"/>
            <a:ext cx="2172970" cy="698500"/>
          </a:xfrm>
          <a:prstGeom prst="roundRect">
            <a:avLst>
              <a:gd name="adj" fmla="val 14545"/>
            </a:avLst>
          </a:prstGeom>
          <a:solidFill>
            <a:srgbClr val="D8621C"/>
          </a:solidFill>
          <a:ln/>
        </p:spPr>
      </p:sp>
      <p:sp>
        <p:nvSpPr>
          <p:cNvPr id="11" name="Text 9"/>
          <p:cNvSpPr/>
          <p:nvPr/>
        </p:nvSpPr>
        <p:spPr>
          <a:xfrm>
            <a:off x="3666490" y="2869009"/>
            <a:ext cx="2238159" cy="252651"/>
          </a:xfrm>
          <a:prstGeom prst="rect">
            <a:avLst/>
          </a:prstGeom>
          <a:noFill/>
          <a:ln/>
        </p:spPr>
        <p:txBody>
          <a:bodyPr wrap="square" lIns="0" tIns="0" rIns="0" bIns="0" rtlCol="0" anchor="t">
            <a:normAutofit/>
          </a:bodyPr>
          <a:lstStyle/>
          <a:p>
            <a:pPr marL="0" indent="0" algn="l">
              <a:lnSpc>
                <a:spcPts val="1824"/>
              </a:lnSpc>
              <a:buNone/>
            </a:pPr>
            <a:r>
              <a:rPr lang="en-US" sz="1303" b="1" dirty="0">
                <a:solidFill>
                  <a:srgbClr val="4A2A12"/>
                </a:solidFill>
                <a:latin typeface="Segoe UI" pitchFamily="34" charset="0"/>
                <a:ea typeface="Segoe UI" pitchFamily="34" charset="-122"/>
                <a:cs typeface="Segoe UI" pitchFamily="34" charset="-120"/>
              </a:rPr>
              <a:t>Orange</a:t>
            </a:r>
            <a:endParaRPr lang="en-US" sz="1303" dirty="0"/>
          </a:p>
        </p:txBody>
      </p:sp>
      <p:sp>
        <p:nvSpPr>
          <p:cNvPr id="12" name="Text 10"/>
          <p:cNvSpPr/>
          <p:nvPr/>
        </p:nvSpPr>
        <p:spPr>
          <a:xfrm>
            <a:off x="3666490" y="3159761"/>
            <a:ext cx="2238159" cy="222329"/>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D8621C"/>
                </a:solidFill>
                <a:latin typeface="Segoe UI" pitchFamily="34" charset="0"/>
                <a:ea typeface="Segoe UI" pitchFamily="34" charset="-122"/>
                <a:cs typeface="Segoe UI" pitchFamily="34" charset="-120"/>
              </a:rPr>
              <a:t>#D8621C</a:t>
            </a:r>
            <a:endParaRPr lang="en-US" sz="1121" dirty="0"/>
          </a:p>
        </p:txBody>
      </p:sp>
      <p:sp>
        <p:nvSpPr>
          <p:cNvPr id="13" name="Text 11"/>
          <p:cNvSpPr/>
          <p:nvPr/>
        </p:nvSpPr>
        <p:spPr>
          <a:xfrm>
            <a:off x="3666490" y="3420190"/>
            <a:ext cx="2238159" cy="201295"/>
          </a:xfrm>
          <a:prstGeom prst="rect">
            <a:avLst/>
          </a:prstGeom>
          <a:noFill/>
          <a:ln/>
        </p:spPr>
        <p:txBody>
          <a:bodyPr wrap="square" lIns="0" tIns="0" rIns="0" bIns="0" rtlCol="0" anchor="t">
            <a:normAutofit/>
          </a:bodyPr>
          <a:lstStyle/>
          <a:p>
            <a:pPr marL="0" indent="0" algn="l">
              <a:lnSpc>
                <a:spcPts val="1422"/>
              </a:lnSpc>
              <a:buNone/>
            </a:pPr>
            <a:r>
              <a:rPr lang="en-US" sz="1138" dirty="0">
                <a:solidFill>
                  <a:srgbClr val="4A2A12"/>
                </a:solidFill>
                <a:latin typeface="Segoe UI" pitchFamily="34" charset="0"/>
                <a:ea typeface="Segoe UI" pitchFamily="34" charset="-122"/>
                <a:cs typeface="Segoe UI" pitchFamily="34" charset="-120"/>
              </a:rPr>
              <a:t>Costs, net income, liabilities</a:t>
            </a:r>
            <a:endParaRPr lang="en-US" sz="1138" dirty="0"/>
          </a:p>
        </p:txBody>
      </p:sp>
      <p:sp>
        <p:nvSpPr>
          <p:cNvPr id="14" name="Shape 12"/>
          <p:cNvSpPr/>
          <p:nvPr/>
        </p:nvSpPr>
        <p:spPr>
          <a:xfrm>
            <a:off x="6194425" y="1948895"/>
            <a:ext cx="2489200" cy="1805305"/>
          </a:xfrm>
          <a:prstGeom prst="roundRect">
            <a:avLst>
              <a:gd name="adj" fmla="val 9321"/>
            </a:avLst>
          </a:prstGeom>
          <a:solidFill>
            <a:srgbClr val="FFFFFF"/>
          </a:solidFill>
          <a:ln w="19050">
            <a:solidFill>
              <a:srgbClr val="D8621C"/>
            </a:solidFill>
            <a:prstDash val="solid"/>
          </a:ln>
        </p:spPr>
      </p:sp>
      <p:sp>
        <p:nvSpPr>
          <p:cNvPr id="15" name="Shape 13"/>
          <p:cNvSpPr/>
          <p:nvPr/>
        </p:nvSpPr>
        <p:spPr>
          <a:xfrm>
            <a:off x="6352540" y="2107009"/>
            <a:ext cx="2172970" cy="698500"/>
          </a:xfrm>
          <a:prstGeom prst="roundRect">
            <a:avLst>
              <a:gd name="adj" fmla="val 14545"/>
            </a:avLst>
          </a:prstGeom>
          <a:solidFill>
            <a:srgbClr val="E8AE84"/>
          </a:solidFill>
          <a:ln/>
        </p:spPr>
      </p:sp>
      <p:sp>
        <p:nvSpPr>
          <p:cNvPr id="16" name="Text 14"/>
          <p:cNvSpPr/>
          <p:nvPr/>
        </p:nvSpPr>
        <p:spPr>
          <a:xfrm>
            <a:off x="6352540" y="2869009"/>
            <a:ext cx="2238159" cy="252651"/>
          </a:xfrm>
          <a:prstGeom prst="rect">
            <a:avLst/>
          </a:prstGeom>
          <a:noFill/>
          <a:ln/>
        </p:spPr>
        <p:txBody>
          <a:bodyPr wrap="square" lIns="0" tIns="0" rIns="0" bIns="0" rtlCol="0" anchor="t">
            <a:normAutofit/>
          </a:bodyPr>
          <a:lstStyle/>
          <a:p>
            <a:pPr marL="0" indent="0" algn="l">
              <a:lnSpc>
                <a:spcPts val="1824"/>
              </a:lnSpc>
              <a:buNone/>
            </a:pPr>
            <a:r>
              <a:rPr lang="en-US" sz="1303" b="1" dirty="0">
                <a:solidFill>
                  <a:srgbClr val="4A2A12"/>
                </a:solidFill>
                <a:latin typeface="Segoe UI" pitchFamily="34" charset="0"/>
                <a:ea typeface="Segoe UI" pitchFamily="34" charset="-122"/>
                <a:cs typeface="Segoe UI" pitchFamily="34" charset="-120"/>
              </a:rPr>
              <a:t>Tan</a:t>
            </a:r>
            <a:endParaRPr lang="en-US" sz="1303" dirty="0"/>
          </a:p>
        </p:txBody>
      </p:sp>
      <p:sp>
        <p:nvSpPr>
          <p:cNvPr id="17" name="Text 15"/>
          <p:cNvSpPr/>
          <p:nvPr/>
        </p:nvSpPr>
        <p:spPr>
          <a:xfrm>
            <a:off x="6352540" y="3159761"/>
            <a:ext cx="2238159" cy="222329"/>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D8621C"/>
                </a:solidFill>
                <a:latin typeface="Segoe UI" pitchFamily="34" charset="0"/>
                <a:ea typeface="Segoe UI" pitchFamily="34" charset="-122"/>
                <a:cs typeface="Segoe UI" pitchFamily="34" charset="-120"/>
              </a:rPr>
              <a:t>#E8AE84</a:t>
            </a:r>
            <a:endParaRPr lang="en-US" sz="1121" dirty="0"/>
          </a:p>
        </p:txBody>
      </p:sp>
      <p:sp>
        <p:nvSpPr>
          <p:cNvPr id="18" name="Text 16"/>
          <p:cNvSpPr/>
          <p:nvPr/>
        </p:nvSpPr>
        <p:spPr>
          <a:xfrm>
            <a:off x="6352540" y="3420190"/>
            <a:ext cx="2238159" cy="201295"/>
          </a:xfrm>
          <a:prstGeom prst="rect">
            <a:avLst/>
          </a:prstGeom>
          <a:noFill/>
          <a:ln/>
        </p:spPr>
        <p:txBody>
          <a:bodyPr wrap="square" lIns="0" tIns="0" rIns="0" bIns="0" rtlCol="0" anchor="t">
            <a:normAutofit/>
          </a:bodyPr>
          <a:lstStyle/>
          <a:p>
            <a:pPr marL="0" indent="0" algn="l">
              <a:lnSpc>
                <a:spcPts val="1422"/>
              </a:lnSpc>
              <a:buNone/>
            </a:pPr>
            <a:r>
              <a:rPr lang="en-US" sz="1138" dirty="0">
                <a:solidFill>
                  <a:srgbClr val="4A2A12"/>
                </a:solidFill>
                <a:latin typeface="Segoe UI" pitchFamily="34" charset="0"/>
                <a:ea typeface="Segoe UI" pitchFamily="34" charset="-122"/>
                <a:cs typeface="Segoe UI" pitchFamily="34" charset="-120"/>
              </a:rPr>
              <a:t>EBITDA, equity, second series</a:t>
            </a:r>
            <a:endParaRPr lang="en-US" sz="1138" dirty="0"/>
          </a:p>
        </p:txBody>
      </p:sp>
      <p:sp>
        <p:nvSpPr>
          <p:cNvPr id="19" name="Shape 17"/>
          <p:cNvSpPr/>
          <p:nvPr/>
        </p:nvSpPr>
        <p:spPr>
          <a:xfrm>
            <a:off x="8880475" y="1948895"/>
            <a:ext cx="2489200" cy="1805305"/>
          </a:xfrm>
          <a:prstGeom prst="roundRect">
            <a:avLst>
              <a:gd name="adj" fmla="val 9321"/>
            </a:avLst>
          </a:prstGeom>
          <a:solidFill>
            <a:srgbClr val="FFFFFF"/>
          </a:solidFill>
          <a:ln w="19050">
            <a:solidFill>
              <a:srgbClr val="D8621C"/>
            </a:solidFill>
            <a:prstDash val="solid"/>
          </a:ln>
        </p:spPr>
      </p:sp>
      <p:sp>
        <p:nvSpPr>
          <p:cNvPr id="20" name="Shape 18"/>
          <p:cNvSpPr/>
          <p:nvPr/>
        </p:nvSpPr>
        <p:spPr>
          <a:xfrm>
            <a:off x="9038590" y="2107009"/>
            <a:ext cx="2172970" cy="698500"/>
          </a:xfrm>
          <a:prstGeom prst="roundRect">
            <a:avLst>
              <a:gd name="adj" fmla="val 14545"/>
            </a:avLst>
          </a:prstGeom>
          <a:solidFill>
            <a:srgbClr val="F4B04F"/>
          </a:solidFill>
          <a:ln/>
        </p:spPr>
      </p:sp>
      <p:sp>
        <p:nvSpPr>
          <p:cNvPr id="21" name="Text 19"/>
          <p:cNvSpPr/>
          <p:nvPr/>
        </p:nvSpPr>
        <p:spPr>
          <a:xfrm>
            <a:off x="9038590" y="2869009"/>
            <a:ext cx="2238159" cy="201136"/>
          </a:xfrm>
          <a:prstGeom prst="rect">
            <a:avLst/>
          </a:prstGeom>
          <a:noFill/>
          <a:ln/>
        </p:spPr>
        <p:txBody>
          <a:bodyPr wrap="square" lIns="0" tIns="0" rIns="0" bIns="0" rtlCol="0" anchor="t">
            <a:normAutofit/>
          </a:bodyPr>
          <a:lstStyle/>
          <a:p>
            <a:pPr marL="0" indent="0" algn="l">
              <a:lnSpc>
                <a:spcPts val="1424"/>
              </a:lnSpc>
              <a:buNone/>
            </a:pPr>
            <a:r>
              <a:rPr lang="en-US" sz="1017" b="1" dirty="0">
                <a:solidFill>
                  <a:srgbClr val="4A2A12"/>
                </a:solidFill>
                <a:latin typeface="Segoe UI" pitchFamily="34" charset="0"/>
                <a:ea typeface="Segoe UI" pitchFamily="34" charset="-122"/>
                <a:cs typeface="Segoe UI" pitchFamily="34" charset="-120"/>
              </a:rPr>
              <a:t>Amber</a:t>
            </a:r>
            <a:endParaRPr lang="en-US" sz="1017" dirty="0"/>
          </a:p>
        </p:txBody>
      </p:sp>
      <p:sp>
        <p:nvSpPr>
          <p:cNvPr id="22" name="Text 20"/>
          <p:cNvSpPr/>
          <p:nvPr/>
        </p:nvSpPr>
        <p:spPr>
          <a:xfrm>
            <a:off x="9038590" y="3108246"/>
            <a:ext cx="2238159" cy="177721"/>
          </a:xfrm>
          <a:prstGeom prst="rect">
            <a:avLst/>
          </a:prstGeom>
          <a:noFill/>
          <a:ln/>
        </p:spPr>
        <p:txBody>
          <a:bodyPr wrap="square" lIns="0" tIns="0" rIns="0" bIns="0" rtlCol="0" anchor="t">
            <a:normAutofit/>
          </a:bodyPr>
          <a:lstStyle/>
          <a:p>
            <a:pPr marL="0" indent="0" algn="l">
              <a:lnSpc>
                <a:spcPts val="1223"/>
              </a:lnSpc>
              <a:buNone/>
            </a:pPr>
            <a:r>
              <a:rPr lang="en-US" sz="873" b="1" dirty="0">
                <a:solidFill>
                  <a:srgbClr val="D8621C"/>
                </a:solidFill>
                <a:latin typeface="Segoe UI" pitchFamily="34" charset="0"/>
                <a:ea typeface="Segoe UI" pitchFamily="34" charset="-122"/>
                <a:cs typeface="Segoe UI" pitchFamily="34" charset="-120"/>
              </a:rPr>
              <a:t>#F4B04F</a:t>
            </a:r>
            <a:endParaRPr lang="en-US" sz="873" dirty="0"/>
          </a:p>
        </p:txBody>
      </p:sp>
      <p:sp>
        <p:nvSpPr>
          <p:cNvPr id="23" name="Text 21"/>
          <p:cNvSpPr/>
          <p:nvPr/>
        </p:nvSpPr>
        <p:spPr>
          <a:xfrm>
            <a:off x="9038590" y="3324067"/>
            <a:ext cx="2321560" cy="297418"/>
          </a:xfrm>
          <a:prstGeom prst="rect">
            <a:avLst/>
          </a:prstGeom>
          <a:noFill/>
          <a:ln/>
        </p:spPr>
        <p:txBody>
          <a:bodyPr wrap="square" lIns="0" tIns="0" rIns="0" bIns="0" rtlCol="0" anchor="t">
            <a:normAutofit/>
          </a:bodyPr>
          <a:lstStyle/>
          <a:p>
            <a:pPr marL="0" indent="0" algn="l">
              <a:lnSpc>
                <a:spcPts val="1315"/>
              </a:lnSpc>
              <a:buNone/>
            </a:pPr>
            <a:r>
              <a:rPr lang="en-US" sz="1052" dirty="0">
                <a:solidFill>
                  <a:srgbClr val="4A2A12"/>
                </a:solidFill>
                <a:latin typeface="Segoe UI" pitchFamily="34" charset="0"/>
                <a:ea typeface="Segoe UI" pitchFamily="34" charset="-122"/>
                <a:cs typeface="Segoe UI" pitchFamily="34" charset="-120"/>
              </a:rPr>
              <a:t>Operating expenses (OPEX) and cash</a:t>
            </a:r>
            <a:endParaRPr lang="en-US" sz="1052" dirty="0"/>
          </a:p>
        </p:txBody>
      </p:sp>
      <p:sp>
        <p:nvSpPr>
          <p:cNvPr id="24" name="Shape 22"/>
          <p:cNvSpPr/>
          <p:nvPr/>
        </p:nvSpPr>
        <p:spPr>
          <a:xfrm>
            <a:off x="822325" y="4027250"/>
            <a:ext cx="2489200" cy="1805226"/>
          </a:xfrm>
          <a:prstGeom prst="roundRect">
            <a:avLst>
              <a:gd name="adj" fmla="val 9322"/>
            </a:avLst>
          </a:prstGeom>
          <a:solidFill>
            <a:srgbClr val="FFFFFF"/>
          </a:solidFill>
          <a:ln w="19050">
            <a:solidFill>
              <a:srgbClr val="D8621C"/>
            </a:solidFill>
            <a:prstDash val="solid"/>
          </a:ln>
        </p:spPr>
      </p:sp>
      <p:sp>
        <p:nvSpPr>
          <p:cNvPr id="25" name="Shape 23"/>
          <p:cNvSpPr/>
          <p:nvPr/>
        </p:nvSpPr>
        <p:spPr>
          <a:xfrm>
            <a:off x="980440" y="4185365"/>
            <a:ext cx="2172970" cy="698500"/>
          </a:xfrm>
          <a:prstGeom prst="roundRect">
            <a:avLst>
              <a:gd name="adj" fmla="val 14545"/>
            </a:avLst>
          </a:prstGeom>
          <a:solidFill>
            <a:schemeClr val="accent1">
              <a:lumMod val="20000"/>
              <a:lumOff val="80000"/>
            </a:schemeClr>
          </a:solidFill>
          <a:ln/>
        </p:spPr>
      </p:sp>
      <p:sp>
        <p:nvSpPr>
          <p:cNvPr id="26" name="Text 24"/>
          <p:cNvSpPr/>
          <p:nvPr/>
        </p:nvSpPr>
        <p:spPr>
          <a:xfrm>
            <a:off x="980440" y="4947365"/>
            <a:ext cx="2238159" cy="201136"/>
          </a:xfrm>
          <a:prstGeom prst="rect">
            <a:avLst/>
          </a:prstGeom>
          <a:noFill/>
          <a:ln/>
        </p:spPr>
        <p:txBody>
          <a:bodyPr wrap="square" lIns="0" tIns="0" rIns="0" bIns="0" rtlCol="0" anchor="t">
            <a:normAutofit/>
          </a:bodyPr>
          <a:lstStyle/>
          <a:p>
            <a:pPr marL="0" indent="0" algn="l">
              <a:lnSpc>
                <a:spcPts val="1424"/>
              </a:lnSpc>
              <a:buNone/>
            </a:pPr>
            <a:r>
              <a:rPr lang="en-US" sz="1017" b="1" dirty="0">
                <a:solidFill>
                  <a:srgbClr val="4A2A12"/>
                </a:solidFill>
                <a:latin typeface="Segoe UI" pitchFamily="34" charset="0"/>
                <a:ea typeface="Segoe UI" pitchFamily="34" charset="-122"/>
                <a:cs typeface="Segoe UI" pitchFamily="34" charset="-120"/>
              </a:rPr>
              <a:t>Light Pink</a:t>
            </a:r>
          </a:p>
          <a:p>
            <a:pPr marL="0" indent="0" algn="l">
              <a:lnSpc>
                <a:spcPts val="1424"/>
              </a:lnSpc>
              <a:buNone/>
            </a:pPr>
            <a:endParaRPr lang="en-US" sz="1017" dirty="0"/>
          </a:p>
        </p:txBody>
      </p:sp>
      <p:sp>
        <p:nvSpPr>
          <p:cNvPr id="27" name="Text 25"/>
          <p:cNvSpPr/>
          <p:nvPr/>
        </p:nvSpPr>
        <p:spPr>
          <a:xfrm>
            <a:off x="980440" y="5186601"/>
            <a:ext cx="2238159" cy="177721"/>
          </a:xfrm>
          <a:prstGeom prst="rect">
            <a:avLst/>
          </a:prstGeom>
          <a:noFill/>
          <a:ln/>
        </p:spPr>
        <p:txBody>
          <a:bodyPr wrap="square" lIns="0" tIns="0" rIns="0" bIns="0" rtlCol="0" anchor="t">
            <a:normAutofit/>
          </a:bodyPr>
          <a:lstStyle/>
          <a:p>
            <a:pPr>
              <a:lnSpc>
                <a:spcPts val="1223"/>
              </a:lnSpc>
            </a:pPr>
            <a:r>
              <a:rPr lang="en-US" sz="873" b="1" dirty="0">
                <a:solidFill>
                  <a:srgbClr val="D8621C"/>
                </a:solidFill>
                <a:latin typeface="Segoe UI" pitchFamily="34" charset="0"/>
                <a:ea typeface="Segoe UI" pitchFamily="34" charset="-122"/>
                <a:cs typeface="Segoe UI" pitchFamily="34" charset="-120"/>
              </a:rPr>
              <a:t>#F9DFD0</a:t>
            </a:r>
            <a:endParaRPr lang="en-US" sz="873" dirty="0"/>
          </a:p>
        </p:txBody>
      </p:sp>
      <p:sp>
        <p:nvSpPr>
          <p:cNvPr id="28" name="Text 26"/>
          <p:cNvSpPr/>
          <p:nvPr/>
        </p:nvSpPr>
        <p:spPr>
          <a:xfrm>
            <a:off x="980440" y="5402422"/>
            <a:ext cx="2321560" cy="297339"/>
          </a:xfrm>
          <a:prstGeom prst="rect">
            <a:avLst/>
          </a:prstGeom>
          <a:noFill/>
          <a:ln/>
        </p:spPr>
        <p:txBody>
          <a:bodyPr wrap="square" lIns="0" tIns="0" rIns="0" bIns="0" rtlCol="0" anchor="t">
            <a:normAutofit/>
          </a:bodyPr>
          <a:lstStyle/>
          <a:p>
            <a:pPr marL="0" indent="0" algn="l">
              <a:lnSpc>
                <a:spcPts val="1270"/>
              </a:lnSpc>
              <a:buNone/>
            </a:pPr>
            <a:r>
              <a:rPr lang="en-US" sz="1016" dirty="0">
                <a:solidFill>
                  <a:srgbClr val="4A2A12"/>
                </a:solidFill>
                <a:latin typeface="Segoe UI" pitchFamily="34" charset="0"/>
                <a:ea typeface="Segoe UI" pitchFamily="34" charset="-122"/>
                <a:cs typeface="Segoe UI" pitchFamily="34" charset="-120"/>
              </a:rPr>
              <a:t>Debt and warnings, always with words</a:t>
            </a:r>
            <a:endParaRPr lang="en-US" sz="1016" dirty="0"/>
          </a:p>
        </p:txBody>
      </p:sp>
      <p:sp>
        <p:nvSpPr>
          <p:cNvPr id="29" name="Shape 27"/>
          <p:cNvSpPr/>
          <p:nvPr/>
        </p:nvSpPr>
        <p:spPr>
          <a:xfrm>
            <a:off x="3508375" y="4027250"/>
            <a:ext cx="2489200" cy="1805226"/>
          </a:xfrm>
          <a:prstGeom prst="roundRect">
            <a:avLst>
              <a:gd name="adj" fmla="val 9322"/>
            </a:avLst>
          </a:prstGeom>
          <a:solidFill>
            <a:srgbClr val="FFFFFF"/>
          </a:solidFill>
          <a:ln w="19050">
            <a:solidFill>
              <a:srgbClr val="D8621C"/>
            </a:solidFill>
            <a:prstDash val="solid"/>
          </a:ln>
        </p:spPr>
        <p:txBody>
          <a:bodyPr/>
          <a:lstStyle/>
          <a:p>
            <a:endParaRPr lang="en-US" dirty="0"/>
          </a:p>
        </p:txBody>
      </p:sp>
      <p:sp>
        <p:nvSpPr>
          <p:cNvPr id="30" name="Shape 28"/>
          <p:cNvSpPr/>
          <p:nvPr/>
        </p:nvSpPr>
        <p:spPr>
          <a:xfrm>
            <a:off x="3666490" y="4185365"/>
            <a:ext cx="2172970" cy="698500"/>
          </a:xfrm>
          <a:prstGeom prst="roundRect">
            <a:avLst>
              <a:gd name="adj" fmla="val 14545"/>
            </a:avLst>
          </a:prstGeom>
          <a:solidFill>
            <a:schemeClr val="accent1">
              <a:lumMod val="75000"/>
            </a:schemeClr>
          </a:solidFill>
          <a:ln/>
        </p:spPr>
      </p:sp>
      <p:sp>
        <p:nvSpPr>
          <p:cNvPr id="31" name="Text 29"/>
          <p:cNvSpPr/>
          <p:nvPr/>
        </p:nvSpPr>
        <p:spPr>
          <a:xfrm>
            <a:off x="3666490" y="4947365"/>
            <a:ext cx="2238159" cy="201136"/>
          </a:xfrm>
          <a:prstGeom prst="rect">
            <a:avLst/>
          </a:prstGeom>
          <a:noFill/>
          <a:ln/>
        </p:spPr>
        <p:txBody>
          <a:bodyPr wrap="square" lIns="0" tIns="0" rIns="0" bIns="0" rtlCol="0" anchor="t">
            <a:normAutofit/>
          </a:bodyPr>
          <a:lstStyle/>
          <a:p>
            <a:pPr marL="0" indent="0" algn="l">
              <a:lnSpc>
                <a:spcPts val="1424"/>
              </a:lnSpc>
              <a:buNone/>
            </a:pPr>
            <a:r>
              <a:rPr lang="en-GB" sz="1017" b="1" dirty="0">
                <a:solidFill>
                  <a:srgbClr val="4A2A12"/>
                </a:solidFill>
                <a:latin typeface="Segoe UI" pitchFamily="34" charset="0"/>
                <a:cs typeface="Segoe UI" pitchFamily="34" charset="-120"/>
              </a:rPr>
              <a:t>D</a:t>
            </a:r>
            <a:r>
              <a:rPr lang="en-US" sz="1017" b="1" dirty="0">
                <a:solidFill>
                  <a:srgbClr val="4A2A12"/>
                </a:solidFill>
                <a:latin typeface="Segoe UI" pitchFamily="34" charset="0"/>
                <a:cs typeface="Segoe UI" pitchFamily="34" charset="-120"/>
              </a:rPr>
              <a:t>ark Orange</a:t>
            </a:r>
            <a:endParaRPr lang="en-US" sz="1017" dirty="0"/>
          </a:p>
        </p:txBody>
      </p:sp>
      <p:sp>
        <p:nvSpPr>
          <p:cNvPr id="32" name="Text 30"/>
          <p:cNvSpPr/>
          <p:nvPr/>
        </p:nvSpPr>
        <p:spPr>
          <a:xfrm>
            <a:off x="3666490" y="5186601"/>
            <a:ext cx="2238159" cy="177721"/>
          </a:xfrm>
          <a:prstGeom prst="rect">
            <a:avLst/>
          </a:prstGeom>
          <a:noFill/>
          <a:ln/>
        </p:spPr>
        <p:txBody>
          <a:bodyPr wrap="square" lIns="0" tIns="0" rIns="0" bIns="0" rtlCol="0" anchor="t">
            <a:normAutofit/>
          </a:bodyPr>
          <a:lstStyle/>
          <a:p>
            <a:pPr>
              <a:lnSpc>
                <a:spcPts val="1223"/>
              </a:lnSpc>
            </a:pPr>
            <a:r>
              <a:rPr lang="en-US" sz="873" b="1" dirty="0">
                <a:solidFill>
                  <a:srgbClr val="D8621C"/>
                </a:solidFill>
                <a:latin typeface="Segoe UI" pitchFamily="34" charset="0"/>
                <a:ea typeface="Segoe UI" pitchFamily="34" charset="-122"/>
                <a:cs typeface="Segoe UI" pitchFamily="34" charset="-120"/>
              </a:rPr>
              <a:t>#A24A15</a:t>
            </a:r>
            <a:endParaRPr lang="en-US" sz="873" dirty="0"/>
          </a:p>
        </p:txBody>
      </p:sp>
      <p:sp>
        <p:nvSpPr>
          <p:cNvPr id="33" name="Text 31"/>
          <p:cNvSpPr/>
          <p:nvPr/>
        </p:nvSpPr>
        <p:spPr>
          <a:xfrm>
            <a:off x="3666490" y="5402422"/>
            <a:ext cx="2321560" cy="297339"/>
          </a:xfrm>
          <a:prstGeom prst="rect">
            <a:avLst/>
          </a:prstGeom>
          <a:noFill/>
          <a:ln/>
        </p:spPr>
        <p:txBody>
          <a:bodyPr wrap="square" lIns="0" tIns="0" rIns="0" bIns="0" rtlCol="0" anchor="t">
            <a:normAutofit/>
          </a:bodyPr>
          <a:lstStyle/>
          <a:p>
            <a:pPr marL="0" indent="0" algn="l">
              <a:lnSpc>
                <a:spcPts val="1396"/>
              </a:lnSpc>
              <a:buNone/>
            </a:pPr>
            <a:r>
              <a:rPr lang="en-US" sz="1117" dirty="0">
                <a:solidFill>
                  <a:srgbClr val="4A2A12"/>
                </a:solidFill>
                <a:latin typeface="Segoe UI" pitchFamily="34" charset="0"/>
                <a:ea typeface="Segoe UI" pitchFamily="34" charset="-122"/>
                <a:cs typeface="Segoe UI" pitchFamily="34" charset="-120"/>
              </a:rPr>
              <a:t>Positive change, always with words</a:t>
            </a:r>
            <a:endParaRPr lang="en-US" sz="1117" dirty="0"/>
          </a:p>
        </p:txBody>
      </p:sp>
      <p:sp>
        <p:nvSpPr>
          <p:cNvPr id="34" name="Shape 32"/>
          <p:cNvSpPr/>
          <p:nvPr/>
        </p:nvSpPr>
        <p:spPr>
          <a:xfrm>
            <a:off x="6213793" y="4044752"/>
            <a:ext cx="2489200" cy="1805226"/>
          </a:xfrm>
          <a:prstGeom prst="roundRect">
            <a:avLst>
              <a:gd name="adj" fmla="val 9322"/>
            </a:avLst>
          </a:prstGeom>
          <a:solidFill>
            <a:srgbClr val="FFFFFF"/>
          </a:solidFill>
          <a:ln w="19050">
            <a:solidFill>
              <a:srgbClr val="D8621C"/>
            </a:solidFill>
            <a:prstDash val="solid"/>
          </a:ln>
        </p:spPr>
        <p:txBody>
          <a:bodyPr/>
          <a:lstStyle/>
          <a:p>
            <a:endParaRPr lang="en-US" dirty="0"/>
          </a:p>
        </p:txBody>
      </p:sp>
      <p:sp>
        <p:nvSpPr>
          <p:cNvPr id="35" name="Shape 33"/>
          <p:cNvSpPr/>
          <p:nvPr/>
        </p:nvSpPr>
        <p:spPr>
          <a:xfrm>
            <a:off x="6352540" y="4185365"/>
            <a:ext cx="2172970" cy="698500"/>
          </a:xfrm>
          <a:prstGeom prst="roundRect">
            <a:avLst>
              <a:gd name="adj" fmla="val 14545"/>
            </a:avLst>
          </a:prstGeom>
          <a:solidFill>
            <a:schemeClr val="bg2">
              <a:lumMod val="25000"/>
            </a:schemeClr>
          </a:solidFill>
          <a:ln/>
        </p:spPr>
        <p:txBody>
          <a:bodyPr/>
          <a:lstStyle/>
          <a:p>
            <a:endParaRPr lang="en-US" dirty="0"/>
          </a:p>
        </p:txBody>
      </p:sp>
      <p:sp>
        <p:nvSpPr>
          <p:cNvPr id="36" name="Text 34"/>
          <p:cNvSpPr/>
          <p:nvPr/>
        </p:nvSpPr>
        <p:spPr>
          <a:xfrm>
            <a:off x="6352540" y="4947365"/>
            <a:ext cx="2238159" cy="252651"/>
          </a:xfrm>
          <a:prstGeom prst="rect">
            <a:avLst/>
          </a:prstGeom>
          <a:noFill/>
          <a:ln/>
        </p:spPr>
        <p:txBody>
          <a:bodyPr wrap="square" lIns="0" tIns="0" rIns="0" bIns="0" rtlCol="0" anchor="t">
            <a:normAutofit/>
          </a:bodyPr>
          <a:lstStyle/>
          <a:p>
            <a:pPr marL="0" indent="0" algn="l">
              <a:lnSpc>
                <a:spcPts val="1824"/>
              </a:lnSpc>
              <a:buNone/>
            </a:pPr>
            <a:r>
              <a:rPr lang="en-US" sz="1050" b="1" dirty="0">
                <a:solidFill>
                  <a:srgbClr val="4A2A12"/>
                </a:solidFill>
                <a:latin typeface="Segoe UI" pitchFamily="34" charset="0"/>
                <a:ea typeface="Segoe UI" pitchFamily="34" charset="-122"/>
                <a:cs typeface="Segoe UI" pitchFamily="34" charset="-120"/>
              </a:rPr>
              <a:t>Dark Brown</a:t>
            </a:r>
            <a:endParaRPr lang="en-US" sz="1050" dirty="0"/>
          </a:p>
        </p:txBody>
      </p:sp>
      <p:sp>
        <p:nvSpPr>
          <p:cNvPr id="37" name="Text 35"/>
          <p:cNvSpPr/>
          <p:nvPr/>
        </p:nvSpPr>
        <p:spPr>
          <a:xfrm>
            <a:off x="6352540" y="5238116"/>
            <a:ext cx="2238159" cy="222329"/>
          </a:xfrm>
          <a:prstGeom prst="rect">
            <a:avLst/>
          </a:prstGeom>
          <a:noFill/>
          <a:ln/>
        </p:spPr>
        <p:txBody>
          <a:bodyPr wrap="square" lIns="0" tIns="0" rIns="0" bIns="0" rtlCol="0" anchor="t">
            <a:normAutofit/>
          </a:bodyPr>
          <a:lstStyle/>
          <a:p>
            <a:pPr>
              <a:lnSpc>
                <a:spcPts val="1570"/>
              </a:lnSpc>
            </a:pPr>
            <a:r>
              <a:rPr lang="en-US" sz="1121" b="1" dirty="0">
                <a:solidFill>
                  <a:srgbClr val="D8621C"/>
                </a:solidFill>
                <a:latin typeface="Segoe UI" pitchFamily="34" charset="0"/>
                <a:ea typeface="Segoe UI" pitchFamily="34" charset="-122"/>
                <a:cs typeface="Segoe UI" pitchFamily="34" charset="-120"/>
              </a:rPr>
              <a:t>#50391D</a:t>
            </a:r>
            <a:endParaRPr lang="en-US" sz="1121" dirty="0"/>
          </a:p>
        </p:txBody>
      </p:sp>
      <p:sp>
        <p:nvSpPr>
          <p:cNvPr id="38" name="Text 36"/>
          <p:cNvSpPr/>
          <p:nvPr/>
        </p:nvSpPr>
        <p:spPr>
          <a:xfrm>
            <a:off x="6352540" y="5498545"/>
            <a:ext cx="2238159" cy="201216"/>
          </a:xfrm>
          <a:prstGeom prst="rect">
            <a:avLst/>
          </a:prstGeom>
          <a:noFill/>
          <a:ln/>
        </p:spPr>
        <p:txBody>
          <a:bodyPr wrap="square" lIns="0" tIns="0" rIns="0" bIns="0" rtlCol="0" anchor="t">
            <a:normAutofit/>
          </a:bodyPr>
          <a:lstStyle/>
          <a:p>
            <a:pPr marL="0" indent="0" algn="l">
              <a:lnSpc>
                <a:spcPts val="1422"/>
              </a:lnSpc>
              <a:buNone/>
            </a:pPr>
            <a:r>
              <a:rPr lang="en-US" sz="1138" dirty="0">
                <a:solidFill>
                  <a:srgbClr val="4A2A12"/>
                </a:solidFill>
                <a:latin typeface="Segoe UI" pitchFamily="34" charset="0"/>
                <a:ea typeface="Segoe UI" pitchFamily="34" charset="-122"/>
                <a:cs typeface="Segoe UI" pitchFamily="34" charset="-120"/>
              </a:rPr>
              <a:t>Prior year, other, thresholds</a:t>
            </a:r>
            <a:endParaRPr lang="en-US" sz="1138" dirty="0"/>
          </a:p>
        </p:txBody>
      </p:sp>
      <p:sp>
        <p:nvSpPr>
          <p:cNvPr id="39" name="Shape 37"/>
          <p:cNvSpPr/>
          <p:nvPr/>
        </p:nvSpPr>
        <p:spPr>
          <a:xfrm>
            <a:off x="8880475" y="4027250"/>
            <a:ext cx="2489200" cy="1805226"/>
          </a:xfrm>
          <a:prstGeom prst="roundRect">
            <a:avLst>
              <a:gd name="adj" fmla="val 9322"/>
            </a:avLst>
          </a:prstGeom>
          <a:solidFill>
            <a:srgbClr val="FFFFFF"/>
          </a:solidFill>
          <a:ln w="19050">
            <a:solidFill>
              <a:srgbClr val="D8621C"/>
            </a:solidFill>
            <a:prstDash val="solid"/>
          </a:ln>
        </p:spPr>
      </p:sp>
      <p:sp>
        <p:nvSpPr>
          <p:cNvPr id="40" name="Shape 38"/>
          <p:cNvSpPr/>
          <p:nvPr/>
        </p:nvSpPr>
        <p:spPr>
          <a:xfrm>
            <a:off x="9038590" y="4185365"/>
            <a:ext cx="2172970" cy="698500"/>
          </a:xfrm>
          <a:prstGeom prst="roundRect">
            <a:avLst>
              <a:gd name="adj" fmla="val 14545"/>
            </a:avLst>
          </a:prstGeom>
          <a:solidFill>
            <a:srgbClr val="2A1A0E"/>
          </a:solidFill>
          <a:ln/>
        </p:spPr>
      </p:sp>
      <p:sp>
        <p:nvSpPr>
          <p:cNvPr id="41" name="Text 39"/>
          <p:cNvSpPr/>
          <p:nvPr/>
        </p:nvSpPr>
        <p:spPr>
          <a:xfrm>
            <a:off x="9038590" y="4947365"/>
            <a:ext cx="2238159" cy="252651"/>
          </a:xfrm>
          <a:prstGeom prst="rect">
            <a:avLst/>
          </a:prstGeom>
          <a:noFill/>
          <a:ln/>
        </p:spPr>
        <p:txBody>
          <a:bodyPr wrap="square" lIns="0" tIns="0" rIns="0" bIns="0" rtlCol="0" anchor="t">
            <a:normAutofit/>
          </a:bodyPr>
          <a:lstStyle/>
          <a:p>
            <a:pPr marL="0" indent="0" algn="l">
              <a:lnSpc>
                <a:spcPts val="1824"/>
              </a:lnSpc>
              <a:buNone/>
            </a:pPr>
            <a:r>
              <a:rPr lang="en-US" sz="1303" b="1" dirty="0">
                <a:solidFill>
                  <a:srgbClr val="4A2A12"/>
                </a:solidFill>
                <a:latin typeface="Segoe UI" pitchFamily="34" charset="0"/>
                <a:ea typeface="Segoe UI" pitchFamily="34" charset="-122"/>
                <a:cs typeface="Segoe UI" pitchFamily="34" charset="-120"/>
              </a:rPr>
              <a:t>Sidebar</a:t>
            </a:r>
            <a:endParaRPr lang="en-US" sz="1303" dirty="0"/>
          </a:p>
        </p:txBody>
      </p:sp>
      <p:sp>
        <p:nvSpPr>
          <p:cNvPr id="42" name="Text 40"/>
          <p:cNvSpPr/>
          <p:nvPr/>
        </p:nvSpPr>
        <p:spPr>
          <a:xfrm>
            <a:off x="9038590" y="5238116"/>
            <a:ext cx="2238159" cy="222329"/>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D8621C"/>
                </a:solidFill>
                <a:latin typeface="Segoe UI" pitchFamily="34" charset="0"/>
                <a:ea typeface="Segoe UI" pitchFamily="34" charset="-122"/>
                <a:cs typeface="Segoe UI" pitchFamily="34" charset="-120"/>
              </a:rPr>
              <a:t>#2A1A0E</a:t>
            </a:r>
            <a:endParaRPr lang="en-US" sz="1121" dirty="0"/>
          </a:p>
        </p:txBody>
      </p:sp>
      <p:sp>
        <p:nvSpPr>
          <p:cNvPr id="43" name="Text 41"/>
          <p:cNvSpPr/>
          <p:nvPr/>
        </p:nvSpPr>
        <p:spPr>
          <a:xfrm>
            <a:off x="9038590" y="5498545"/>
            <a:ext cx="2238159" cy="201216"/>
          </a:xfrm>
          <a:prstGeom prst="rect">
            <a:avLst/>
          </a:prstGeom>
          <a:noFill/>
          <a:ln/>
        </p:spPr>
        <p:txBody>
          <a:bodyPr wrap="square" lIns="0" tIns="0" rIns="0" bIns="0" rtlCol="0" anchor="t">
            <a:normAutofit/>
          </a:bodyPr>
          <a:lstStyle/>
          <a:p>
            <a:pPr marL="0" indent="0" algn="l">
              <a:lnSpc>
                <a:spcPts val="1422"/>
              </a:lnSpc>
              <a:buNone/>
            </a:pPr>
            <a:r>
              <a:rPr lang="en-US" sz="1138" dirty="0">
                <a:solidFill>
                  <a:srgbClr val="4A2A12"/>
                </a:solidFill>
                <a:latin typeface="Segoe UI" pitchFamily="34" charset="0"/>
                <a:ea typeface="Segoe UI" pitchFamily="34" charset="-122"/>
                <a:cs typeface="Segoe UI" pitchFamily="34" charset="-120"/>
              </a:rPr>
              <a:t>Navigation panel background</a:t>
            </a:r>
            <a:endParaRPr lang="en-US" sz="1138" dirty="0"/>
          </a:p>
        </p:txBody>
      </p:sp>
      <p:sp>
        <p:nvSpPr>
          <p:cNvPr id="44" name="Text 42"/>
          <p:cNvSpPr/>
          <p:nvPr/>
        </p:nvSpPr>
        <p:spPr>
          <a:xfrm>
            <a:off x="812800" y="6238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LAYOUT</a:t>
            </a:r>
            <a:endParaRPr lang="en-US" sz="1400" dirty="0"/>
          </a:p>
        </p:txBody>
      </p:sp>
      <p:sp>
        <p:nvSpPr>
          <p:cNvPr id="3" name="Text 1"/>
          <p:cNvSpPr>
            <a:spLocks noGrp="1"/>
          </p:cNvSpPr>
          <p:nvPr>
            <p:ph type="title"/>
          </p:nvPr>
        </p:nvSpPr>
        <p:spPr>
          <a:xfrm>
            <a:off x="812800" y="1315720"/>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Every page reads the same way</a:t>
            </a:r>
            <a:endParaRPr lang="en-US" sz="3400" dirty="0"/>
          </a:p>
        </p:txBody>
      </p:sp>
      <p:sp>
        <p:nvSpPr>
          <p:cNvPr id="4" name="Shape 2"/>
          <p:cNvSpPr/>
          <p:nvPr/>
        </p:nvSpPr>
        <p:spPr>
          <a:xfrm>
            <a:off x="822325" y="2054225"/>
            <a:ext cx="2508250" cy="2033270"/>
          </a:xfrm>
          <a:prstGeom prst="roundRect">
            <a:avLst>
              <a:gd name="adj" fmla="val 8276"/>
            </a:avLst>
          </a:prstGeom>
          <a:solidFill>
            <a:srgbClr val="FFFFFF"/>
          </a:solidFill>
          <a:ln w="19050">
            <a:solidFill>
              <a:srgbClr val="D8621C"/>
            </a:solidFill>
            <a:prstDash val="solid"/>
          </a:ln>
        </p:spPr>
      </p:sp>
      <p:sp>
        <p:nvSpPr>
          <p:cNvPr id="5" name="Text 3"/>
          <p:cNvSpPr/>
          <p:nvPr/>
        </p:nvSpPr>
        <p:spPr>
          <a:xfrm>
            <a:off x="980440" y="2212341"/>
            <a:ext cx="2257781"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D8621C"/>
                </a:solidFill>
                <a:latin typeface="Segoe UI" pitchFamily="34" charset="0"/>
                <a:ea typeface="Segoe UI" pitchFamily="34" charset="-122"/>
                <a:cs typeface="Segoe UI" pitchFamily="34" charset="-120"/>
              </a:rPr>
              <a:t>1</a:t>
            </a:r>
            <a:endParaRPr lang="en-US" sz="2800" dirty="0"/>
          </a:p>
        </p:txBody>
      </p:sp>
      <p:sp>
        <p:nvSpPr>
          <p:cNvPr id="6" name="Text 4"/>
          <p:cNvSpPr/>
          <p:nvPr/>
        </p:nvSpPr>
        <p:spPr>
          <a:xfrm>
            <a:off x="980440" y="2773680"/>
            <a:ext cx="2257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2A12"/>
                </a:solidFill>
                <a:latin typeface="Segoe UI" pitchFamily="34" charset="0"/>
                <a:ea typeface="Segoe UI" pitchFamily="34" charset="-122"/>
                <a:cs typeface="Segoe UI" pitchFamily="34" charset="-120"/>
              </a:rPr>
              <a:t>Navigation</a:t>
            </a:r>
            <a:endParaRPr lang="en-US" sz="1500" dirty="0"/>
          </a:p>
        </p:txBody>
      </p:sp>
      <p:sp>
        <p:nvSpPr>
          <p:cNvPr id="7" name="Text 5"/>
          <p:cNvSpPr/>
          <p:nvPr/>
        </p:nvSpPr>
        <p:spPr>
          <a:xfrm>
            <a:off x="980440" y="3103880"/>
            <a:ext cx="2257781" cy="85090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Dark sidebar on the left with the page navigator and the Year and Company filters. Same place on every page.</a:t>
            </a:r>
            <a:endParaRPr lang="en-US" sz="1300" dirty="0"/>
          </a:p>
        </p:txBody>
      </p:sp>
      <p:sp>
        <p:nvSpPr>
          <p:cNvPr id="8" name="Shape 6"/>
          <p:cNvSpPr/>
          <p:nvPr/>
        </p:nvSpPr>
        <p:spPr>
          <a:xfrm>
            <a:off x="3502025" y="2054225"/>
            <a:ext cx="2508250" cy="2033270"/>
          </a:xfrm>
          <a:prstGeom prst="roundRect">
            <a:avLst>
              <a:gd name="adj" fmla="val 8276"/>
            </a:avLst>
          </a:prstGeom>
          <a:solidFill>
            <a:srgbClr val="FFFFFF"/>
          </a:solidFill>
          <a:ln w="19050">
            <a:solidFill>
              <a:srgbClr val="D8621C"/>
            </a:solidFill>
            <a:prstDash val="solid"/>
          </a:ln>
        </p:spPr>
      </p:sp>
      <p:sp>
        <p:nvSpPr>
          <p:cNvPr id="9" name="Text 7"/>
          <p:cNvSpPr/>
          <p:nvPr/>
        </p:nvSpPr>
        <p:spPr>
          <a:xfrm>
            <a:off x="3660140" y="2212341"/>
            <a:ext cx="2257781"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D8621C"/>
                </a:solidFill>
                <a:latin typeface="Segoe UI" pitchFamily="34" charset="0"/>
                <a:ea typeface="Segoe UI" pitchFamily="34" charset="-122"/>
                <a:cs typeface="Segoe UI" pitchFamily="34" charset="-120"/>
              </a:rPr>
              <a:t>2</a:t>
            </a:r>
            <a:endParaRPr lang="en-US" sz="2800" dirty="0"/>
          </a:p>
        </p:txBody>
      </p:sp>
      <p:sp>
        <p:nvSpPr>
          <p:cNvPr id="10" name="Text 8"/>
          <p:cNvSpPr/>
          <p:nvPr/>
        </p:nvSpPr>
        <p:spPr>
          <a:xfrm>
            <a:off x="3660140" y="2773680"/>
            <a:ext cx="2257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2A12"/>
                </a:solidFill>
                <a:latin typeface="Segoe UI" pitchFamily="34" charset="0"/>
                <a:ea typeface="Segoe UI" pitchFamily="34" charset="-122"/>
                <a:cs typeface="Segoe UI" pitchFamily="34" charset="-120"/>
              </a:rPr>
              <a:t>Filters</a:t>
            </a:r>
            <a:endParaRPr lang="en-US" sz="1500" dirty="0"/>
          </a:p>
        </p:txBody>
      </p:sp>
      <p:sp>
        <p:nvSpPr>
          <p:cNvPr id="11" name="Text 9"/>
          <p:cNvSpPr/>
          <p:nvPr/>
        </p:nvSpPr>
        <p:spPr>
          <a:xfrm>
            <a:off x="3660140" y="3103880"/>
            <a:ext cx="2257781" cy="64452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Year and Company slicers in the sidebar. Synced across pages.</a:t>
            </a:r>
            <a:endParaRPr lang="en-US" sz="1300" dirty="0"/>
          </a:p>
        </p:txBody>
      </p:sp>
      <p:sp>
        <p:nvSpPr>
          <p:cNvPr id="12" name="Shape 10"/>
          <p:cNvSpPr/>
          <p:nvPr/>
        </p:nvSpPr>
        <p:spPr>
          <a:xfrm>
            <a:off x="6181725" y="2054225"/>
            <a:ext cx="2508250" cy="2033270"/>
          </a:xfrm>
          <a:prstGeom prst="roundRect">
            <a:avLst>
              <a:gd name="adj" fmla="val 8276"/>
            </a:avLst>
          </a:prstGeom>
          <a:solidFill>
            <a:srgbClr val="FFFFFF"/>
          </a:solidFill>
          <a:ln w="19050">
            <a:solidFill>
              <a:srgbClr val="D8621C"/>
            </a:solidFill>
            <a:prstDash val="solid"/>
          </a:ln>
        </p:spPr>
      </p:sp>
      <p:sp>
        <p:nvSpPr>
          <p:cNvPr id="13" name="Text 11"/>
          <p:cNvSpPr/>
          <p:nvPr/>
        </p:nvSpPr>
        <p:spPr>
          <a:xfrm>
            <a:off x="6339840" y="2212341"/>
            <a:ext cx="2257781"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D8621C"/>
                </a:solidFill>
                <a:latin typeface="Segoe UI" pitchFamily="34" charset="0"/>
                <a:ea typeface="Segoe UI" pitchFamily="34" charset="-122"/>
                <a:cs typeface="Segoe UI" pitchFamily="34" charset="-120"/>
              </a:rPr>
              <a:t>3</a:t>
            </a:r>
            <a:endParaRPr lang="en-US" sz="2800" dirty="0"/>
          </a:p>
        </p:txBody>
      </p:sp>
      <p:sp>
        <p:nvSpPr>
          <p:cNvPr id="14" name="Text 12"/>
          <p:cNvSpPr/>
          <p:nvPr/>
        </p:nvSpPr>
        <p:spPr>
          <a:xfrm>
            <a:off x="6339840" y="2773680"/>
            <a:ext cx="2257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2A12"/>
                </a:solidFill>
                <a:latin typeface="Segoe UI" pitchFamily="34" charset="0"/>
                <a:ea typeface="Segoe UI" pitchFamily="34" charset="-122"/>
                <a:cs typeface="Segoe UI" pitchFamily="34" charset="-120"/>
              </a:rPr>
              <a:t>KPI column</a:t>
            </a:r>
            <a:endParaRPr lang="en-US" sz="1500" dirty="0"/>
          </a:p>
        </p:txBody>
      </p:sp>
      <p:sp>
        <p:nvSpPr>
          <p:cNvPr id="15" name="Text 13"/>
          <p:cNvSpPr/>
          <p:nvPr/>
        </p:nvSpPr>
        <p:spPr>
          <a:xfrm>
            <a:off x="6339840" y="3103880"/>
            <a:ext cx="2257781" cy="64452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4 to 6 cards beside the charts: the value and one line of context.</a:t>
            </a:r>
            <a:endParaRPr lang="en-US" sz="1300" dirty="0"/>
          </a:p>
        </p:txBody>
      </p:sp>
      <p:sp>
        <p:nvSpPr>
          <p:cNvPr id="16" name="Shape 14"/>
          <p:cNvSpPr/>
          <p:nvPr/>
        </p:nvSpPr>
        <p:spPr>
          <a:xfrm>
            <a:off x="8861425" y="2054225"/>
            <a:ext cx="2508250" cy="2033270"/>
          </a:xfrm>
          <a:prstGeom prst="roundRect">
            <a:avLst>
              <a:gd name="adj" fmla="val 8276"/>
            </a:avLst>
          </a:prstGeom>
          <a:solidFill>
            <a:srgbClr val="FFFFFF"/>
          </a:solidFill>
          <a:ln w="19050">
            <a:solidFill>
              <a:srgbClr val="D8621C"/>
            </a:solidFill>
            <a:prstDash val="solid"/>
          </a:ln>
        </p:spPr>
      </p:sp>
      <p:sp>
        <p:nvSpPr>
          <p:cNvPr id="17" name="Text 15"/>
          <p:cNvSpPr/>
          <p:nvPr/>
        </p:nvSpPr>
        <p:spPr>
          <a:xfrm>
            <a:off x="9019540" y="2212341"/>
            <a:ext cx="2257781"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D8621C"/>
                </a:solidFill>
                <a:latin typeface="Segoe UI" pitchFamily="34" charset="0"/>
                <a:ea typeface="Segoe UI" pitchFamily="34" charset="-122"/>
                <a:cs typeface="Segoe UI" pitchFamily="34" charset="-120"/>
              </a:rPr>
              <a:t>4</a:t>
            </a:r>
            <a:endParaRPr lang="en-US" sz="2800" dirty="0"/>
          </a:p>
        </p:txBody>
      </p:sp>
      <p:sp>
        <p:nvSpPr>
          <p:cNvPr id="18" name="Text 16"/>
          <p:cNvSpPr/>
          <p:nvPr/>
        </p:nvSpPr>
        <p:spPr>
          <a:xfrm>
            <a:off x="9019540" y="2773680"/>
            <a:ext cx="2257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2A12"/>
                </a:solidFill>
                <a:latin typeface="Segoe UI" pitchFamily="34" charset="0"/>
                <a:ea typeface="Segoe UI" pitchFamily="34" charset="-122"/>
                <a:cs typeface="Segoe UI" pitchFamily="34" charset="-120"/>
              </a:rPr>
              <a:t>Charts</a:t>
            </a:r>
            <a:endParaRPr lang="en-US" sz="1500" dirty="0"/>
          </a:p>
        </p:txBody>
      </p:sp>
      <p:sp>
        <p:nvSpPr>
          <p:cNvPr id="19" name="Text 17"/>
          <p:cNvSpPr/>
          <p:nvPr/>
        </p:nvSpPr>
        <p:spPr>
          <a:xfrm>
            <a:off x="9019540" y="3103880"/>
            <a:ext cx="2257781"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2 to 4 cards. Each title says what the chart shows.</a:t>
            </a:r>
            <a:endParaRPr lang="en-US" sz="1300" dirty="0"/>
          </a:p>
        </p:txBody>
      </p:sp>
      <p:sp>
        <p:nvSpPr>
          <p:cNvPr id="20" name="Shape 18"/>
          <p:cNvSpPr/>
          <p:nvPr/>
        </p:nvSpPr>
        <p:spPr>
          <a:xfrm>
            <a:off x="812800" y="4351020"/>
            <a:ext cx="3420507" cy="1035050"/>
          </a:xfrm>
          <a:prstGeom prst="roundRect">
            <a:avLst>
              <a:gd name="adj" fmla="val 17178"/>
            </a:avLst>
          </a:prstGeom>
          <a:solidFill>
            <a:srgbClr val="6B3A18"/>
          </a:solidFill>
          <a:ln/>
        </p:spPr>
      </p:sp>
      <p:sp>
        <p:nvSpPr>
          <p:cNvPr id="21" name="Text 19"/>
          <p:cNvSpPr/>
          <p:nvPr/>
        </p:nvSpPr>
        <p:spPr>
          <a:xfrm>
            <a:off x="965200" y="4503420"/>
            <a:ext cx="320917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Segoe UI" pitchFamily="34" charset="0"/>
                <a:ea typeface="Segoe UI" pitchFamily="34" charset="-122"/>
                <a:cs typeface="Segoe UI" pitchFamily="34" charset="-120"/>
              </a:rPr>
              <a:t>Titles are questions</a:t>
            </a:r>
            <a:endParaRPr lang="en-US" sz="1500" dirty="0"/>
          </a:p>
        </p:txBody>
      </p:sp>
      <p:sp>
        <p:nvSpPr>
          <p:cNvPr id="22" name="Text 20"/>
          <p:cNvSpPr/>
          <p:nvPr/>
        </p:nvSpPr>
        <p:spPr>
          <a:xfrm>
            <a:off x="965200" y="4820920"/>
            <a:ext cx="3209178"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F6E6D2"/>
                </a:solidFill>
                <a:latin typeface="Segoe UI" pitchFamily="34" charset="0"/>
                <a:ea typeface="Segoe UI" pitchFamily="34" charset="-122"/>
                <a:cs typeface="Segoe UI" pitchFamily="34" charset="-120"/>
              </a:rPr>
              <a:t>"Is profit turning into cash?" beats "OCF vs NI".</a:t>
            </a:r>
            <a:endParaRPr lang="en-US" sz="1300" dirty="0"/>
          </a:p>
        </p:txBody>
      </p:sp>
      <p:sp>
        <p:nvSpPr>
          <p:cNvPr id="23" name="Shape 21"/>
          <p:cNvSpPr/>
          <p:nvPr/>
        </p:nvSpPr>
        <p:spPr>
          <a:xfrm>
            <a:off x="4385707" y="4351020"/>
            <a:ext cx="3420586" cy="1035050"/>
          </a:xfrm>
          <a:prstGeom prst="roundRect">
            <a:avLst>
              <a:gd name="adj" fmla="val 17178"/>
            </a:avLst>
          </a:prstGeom>
          <a:solidFill>
            <a:srgbClr val="6B3A18"/>
          </a:solidFill>
          <a:ln/>
        </p:spPr>
      </p:sp>
      <p:sp>
        <p:nvSpPr>
          <p:cNvPr id="24" name="Text 22"/>
          <p:cNvSpPr/>
          <p:nvPr/>
        </p:nvSpPr>
        <p:spPr>
          <a:xfrm>
            <a:off x="4538107" y="4503420"/>
            <a:ext cx="32092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Segoe UI" pitchFamily="34" charset="0"/>
                <a:ea typeface="Segoe UI" pitchFamily="34" charset="-122"/>
                <a:cs typeface="Segoe UI" pitchFamily="34" charset="-120"/>
              </a:rPr>
              <a:t>Partial years say so</a:t>
            </a:r>
            <a:endParaRPr lang="en-US" sz="1500" dirty="0"/>
          </a:p>
        </p:txBody>
      </p:sp>
      <p:sp>
        <p:nvSpPr>
          <p:cNvPr id="25" name="Text 23"/>
          <p:cNvSpPr/>
          <p:nvPr/>
        </p:nvSpPr>
        <p:spPr>
          <a:xfrm>
            <a:off x="4538107" y="4820920"/>
            <a:ext cx="320926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F6E6D2"/>
                </a:solidFill>
                <a:latin typeface="Segoe UI" pitchFamily="34" charset="0"/>
                <a:ea typeface="Segoe UI" pitchFamily="34" charset="-122"/>
                <a:cs typeface="Segoe UI" pitchFamily="34" charset="-120"/>
              </a:rPr>
              <a:t>2026 is labeled 2026 H1, so nobody reads a drop.</a:t>
            </a:r>
            <a:endParaRPr lang="en-US" sz="1300" dirty="0"/>
          </a:p>
        </p:txBody>
      </p:sp>
      <p:sp>
        <p:nvSpPr>
          <p:cNvPr id="26" name="Shape 24"/>
          <p:cNvSpPr/>
          <p:nvPr/>
        </p:nvSpPr>
        <p:spPr>
          <a:xfrm>
            <a:off x="7958693" y="4351020"/>
            <a:ext cx="3420507" cy="1035050"/>
          </a:xfrm>
          <a:prstGeom prst="roundRect">
            <a:avLst>
              <a:gd name="adj" fmla="val 17178"/>
            </a:avLst>
          </a:prstGeom>
          <a:solidFill>
            <a:srgbClr val="6B3A18"/>
          </a:solidFill>
          <a:ln/>
        </p:spPr>
      </p:sp>
      <p:sp>
        <p:nvSpPr>
          <p:cNvPr id="27" name="Text 25"/>
          <p:cNvSpPr/>
          <p:nvPr/>
        </p:nvSpPr>
        <p:spPr>
          <a:xfrm>
            <a:off x="8111093" y="4503420"/>
            <a:ext cx="320917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Segoe UI" pitchFamily="34" charset="0"/>
                <a:ea typeface="Segoe UI" pitchFamily="34" charset="-122"/>
                <a:cs typeface="Segoe UI" pitchFamily="34" charset="-120"/>
              </a:rPr>
              <a:t>One unit</a:t>
            </a:r>
            <a:endParaRPr lang="en-US" sz="1500" dirty="0"/>
          </a:p>
        </p:txBody>
      </p:sp>
      <p:sp>
        <p:nvSpPr>
          <p:cNvPr id="28" name="Text 26"/>
          <p:cNvSpPr/>
          <p:nvPr/>
        </p:nvSpPr>
        <p:spPr>
          <a:xfrm>
            <a:off x="8111093" y="4820920"/>
            <a:ext cx="3268107"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F6E6D2"/>
                </a:solidFill>
                <a:latin typeface="Segoe UI" pitchFamily="34" charset="0"/>
                <a:ea typeface="Segoe UI" pitchFamily="34" charset="-122"/>
                <a:cs typeface="Segoe UI" pitchFamily="34" charset="-120"/>
              </a:rPr>
              <a:t>EGP billions (bn), ratios as x, margins as %.</a:t>
            </a:r>
            <a:endParaRPr lang="en-US" sz="1300" dirty="0"/>
          </a:p>
        </p:txBody>
      </p:sp>
      <p:sp>
        <p:nvSpPr>
          <p:cNvPr id="29" name="Text 27"/>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EFDC"/>
        </a:solidFill>
        <a:effectLst/>
      </p:bgPr>
    </p:bg>
    <p:spTree>
      <p:nvGrpSpPr>
        <p:cNvPr id="1" name=""/>
        <p:cNvGrpSpPr/>
        <p:nvPr/>
      </p:nvGrpSpPr>
      <p:grpSpPr>
        <a:xfrm>
          <a:off x="0" y="0"/>
          <a:ext cx="0" cy="0"/>
          <a:chOff x="0" y="0"/>
          <a:chExt cx="0" cy="0"/>
        </a:xfrm>
      </p:grpSpPr>
      <p:pic>
        <p:nvPicPr>
          <p:cNvPr id="2" name="Image 0" descr="Overview dashboard"/>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1 · OVERVIEW</a:t>
            </a:r>
            <a:endParaRPr lang="en-US" sz="1400" dirty="0"/>
          </a:p>
        </p:txBody>
      </p:sp>
      <p:sp>
        <p:nvSpPr>
          <p:cNvPr id="3" name="Text 1"/>
          <p:cNvSpPr>
            <a:spLocks noGrp="1"/>
          </p:cNvSpPr>
          <p:nvPr>
            <p:ph type="title"/>
          </p:nvPr>
        </p:nvSpPr>
        <p:spPr>
          <a:xfrm>
            <a:off x="812800" y="131572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Each visual and its job</a:t>
            </a:r>
            <a:endParaRPr lang="en-US" sz="3400" dirty="0"/>
          </a:p>
        </p:txBody>
      </p:sp>
      <p:sp>
        <p:nvSpPr>
          <p:cNvPr id="4" name="Text 2"/>
          <p:cNvSpPr/>
          <p:nvPr/>
        </p:nvSpPr>
        <p:spPr>
          <a:xfrm>
            <a:off x="812800" y="2044700"/>
            <a:ext cx="1088339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4A2A12"/>
                </a:solidFill>
                <a:latin typeface="Segoe UI" pitchFamily="34" charset="0"/>
                <a:ea typeface="Segoe UI" pitchFamily="34" charset="-122"/>
                <a:cs typeface="Segoe UI" pitchFamily="34" charset="-120"/>
              </a:rPr>
              <a:t>How is the company performing financially?</a:t>
            </a:r>
            <a:r>
              <a:rPr lang="en-US" sz="1500" dirty="0">
                <a:solidFill>
                  <a:srgbClr val="4A2A12"/>
                </a:solidFill>
                <a:latin typeface="Segoe UI" pitchFamily="34" charset="0"/>
                <a:ea typeface="Segoe UI" pitchFamily="34" charset="-122"/>
                <a:cs typeface="Segoe UI" pitchFamily="34" charset="-120"/>
              </a:rPr>
              <a:t> The one page an executive reads. Headline numbers first, then four charts that explain growth, profitability, cash and debt.</a:t>
            </a:r>
            <a:endParaRPr lang="en-US" sz="1500" dirty="0"/>
          </a:p>
        </p:txBody>
      </p:sp>
      <p:sp>
        <p:nvSpPr>
          <p:cNvPr id="5" name="Shape 3"/>
          <p:cNvSpPr/>
          <p:nvPr/>
        </p:nvSpPr>
        <p:spPr>
          <a:xfrm>
            <a:off x="822325" y="2784475"/>
            <a:ext cx="10547350" cy="2522855"/>
          </a:xfrm>
          <a:prstGeom prst="roundRect">
            <a:avLst>
              <a:gd name="adj" fmla="val 5663"/>
            </a:avLst>
          </a:prstGeom>
          <a:noFill/>
          <a:ln w="19050">
            <a:solidFill>
              <a:srgbClr val="D8621C"/>
            </a:solidFill>
            <a:prstDash val="solid"/>
          </a:ln>
        </p:spPr>
      </p:sp>
      <p:sp>
        <p:nvSpPr>
          <p:cNvPr id="6" name="Shape 4"/>
          <p:cNvSpPr/>
          <p:nvPr/>
        </p:nvSpPr>
        <p:spPr>
          <a:xfrm>
            <a:off x="828040" y="2790189"/>
            <a:ext cx="10535920" cy="384175"/>
          </a:xfrm>
          <a:custGeom>
            <a:avLst/>
            <a:gdLst/>
            <a:ahLst/>
            <a:cxnLst/>
            <a:rect l="l" t="t" r="r" b="b"/>
            <a:pathLst>
              <a:path w="10535920" h="384175">
                <a:moveTo>
                  <a:pt x="114300" y="0"/>
                </a:moveTo>
                <a:lnTo>
                  <a:pt x="10421620" y="0"/>
                </a:lnTo>
                <a:arcTo wR="114300" hR="114300" stAng="16200000" swAng="5400000"/>
                <a:lnTo>
                  <a:pt x="10535920" y="384175"/>
                </a:lnTo>
                <a:lnTo>
                  <a:pt x="0" y="384175"/>
                </a:lnTo>
                <a:lnTo>
                  <a:pt x="0" y="114300"/>
                </a:lnTo>
                <a:arcTo wR="114300" hR="114300" stAng="10800000" swAng="5400000"/>
                <a:close/>
              </a:path>
            </a:pathLst>
          </a:custGeom>
          <a:solidFill>
            <a:srgbClr val="6B3A18"/>
          </a:solidFill>
          <a:ln/>
        </p:spPr>
      </p:sp>
      <p:sp>
        <p:nvSpPr>
          <p:cNvPr id="7" name="Text 5"/>
          <p:cNvSpPr/>
          <p:nvPr/>
        </p:nvSpPr>
        <p:spPr>
          <a:xfrm>
            <a:off x="980440" y="2879089"/>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Visual</a:t>
            </a:r>
            <a:endParaRPr lang="en-US" sz="1300" dirty="0"/>
          </a:p>
        </p:txBody>
      </p:sp>
      <p:sp>
        <p:nvSpPr>
          <p:cNvPr id="8" name="Text 6"/>
          <p:cNvSpPr/>
          <p:nvPr/>
        </p:nvSpPr>
        <p:spPr>
          <a:xfrm>
            <a:off x="2669540" y="2879089"/>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Chart type</a:t>
            </a:r>
            <a:endParaRPr lang="en-US" sz="1300" dirty="0"/>
          </a:p>
        </p:txBody>
      </p:sp>
      <p:sp>
        <p:nvSpPr>
          <p:cNvPr id="9" name="Text 7"/>
          <p:cNvSpPr/>
          <p:nvPr/>
        </p:nvSpPr>
        <p:spPr>
          <a:xfrm>
            <a:off x="4358640" y="2879089"/>
            <a:ext cx="41859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Question it answers</a:t>
            </a:r>
            <a:endParaRPr lang="en-US" sz="1300" dirty="0"/>
          </a:p>
        </p:txBody>
      </p:sp>
      <p:sp>
        <p:nvSpPr>
          <p:cNvPr id="10" name="Text 8"/>
          <p:cNvSpPr/>
          <p:nvPr/>
        </p:nvSpPr>
        <p:spPr>
          <a:xfrm>
            <a:off x="8524240" y="2879089"/>
            <a:ext cx="28778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Measures</a:t>
            </a:r>
            <a:endParaRPr lang="en-US" sz="1300" dirty="0"/>
          </a:p>
        </p:txBody>
      </p:sp>
      <p:sp>
        <p:nvSpPr>
          <p:cNvPr id="11" name="Shape 9"/>
          <p:cNvSpPr/>
          <p:nvPr/>
        </p:nvSpPr>
        <p:spPr>
          <a:xfrm>
            <a:off x="828040" y="3174364"/>
            <a:ext cx="10535920" cy="590550"/>
          </a:xfrm>
          <a:prstGeom prst="rect">
            <a:avLst/>
          </a:prstGeom>
          <a:solidFill>
            <a:srgbClr val="FFFFFF"/>
          </a:solidFill>
          <a:ln/>
        </p:spPr>
      </p:sp>
      <p:sp>
        <p:nvSpPr>
          <p:cNvPr id="12" name="Text 10"/>
          <p:cNvSpPr/>
          <p:nvPr/>
        </p:nvSpPr>
        <p:spPr>
          <a:xfrm>
            <a:off x="980440" y="3263264"/>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KPI row</a:t>
            </a:r>
            <a:endParaRPr lang="en-US" sz="1300" dirty="0"/>
          </a:p>
        </p:txBody>
      </p:sp>
      <p:sp>
        <p:nvSpPr>
          <p:cNvPr id="13" name="Text 11"/>
          <p:cNvSpPr/>
          <p:nvPr/>
        </p:nvSpPr>
        <p:spPr>
          <a:xfrm>
            <a:off x="2669540" y="3263264"/>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Cards</a:t>
            </a:r>
            <a:endParaRPr lang="en-US" sz="1300" dirty="0"/>
          </a:p>
        </p:txBody>
      </p:sp>
      <p:sp>
        <p:nvSpPr>
          <p:cNvPr id="14" name="Text 12"/>
          <p:cNvSpPr/>
          <p:nvPr/>
        </p:nvSpPr>
        <p:spPr>
          <a:xfrm>
            <a:off x="4358640" y="3263264"/>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What are the headline numbers right now?</a:t>
            </a:r>
            <a:endParaRPr lang="en-US" sz="1300" dirty="0"/>
          </a:p>
        </p:txBody>
      </p:sp>
      <p:sp>
        <p:nvSpPr>
          <p:cNvPr id="15" name="Text 13"/>
          <p:cNvSpPr/>
          <p:nvPr/>
        </p:nvSpPr>
        <p:spPr>
          <a:xfrm>
            <a:off x="8524240" y="3263264"/>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EBITDA, Net Income, FCF, Net Debt / EBITDA, ROE</a:t>
            </a:r>
            <a:endParaRPr lang="en-US" sz="1300" dirty="0"/>
          </a:p>
        </p:txBody>
      </p:sp>
      <p:sp>
        <p:nvSpPr>
          <p:cNvPr id="16" name="Shape 14"/>
          <p:cNvSpPr/>
          <p:nvPr/>
        </p:nvSpPr>
        <p:spPr>
          <a:xfrm>
            <a:off x="828040" y="3764914"/>
            <a:ext cx="10535920" cy="384175"/>
          </a:xfrm>
          <a:prstGeom prst="rect">
            <a:avLst/>
          </a:prstGeom>
          <a:solidFill>
            <a:srgbClr val="FDF3E7"/>
          </a:solidFill>
          <a:ln/>
        </p:spPr>
      </p:sp>
      <p:sp>
        <p:nvSpPr>
          <p:cNvPr id="17" name="Text 15"/>
          <p:cNvSpPr/>
          <p:nvPr/>
        </p:nvSpPr>
        <p:spPr>
          <a:xfrm>
            <a:off x="980440" y="3853814"/>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Growth</a:t>
            </a:r>
            <a:endParaRPr lang="en-US" sz="1300" dirty="0"/>
          </a:p>
        </p:txBody>
      </p:sp>
      <p:sp>
        <p:nvSpPr>
          <p:cNvPr id="18" name="Text 16"/>
          <p:cNvSpPr/>
          <p:nvPr/>
        </p:nvSpPr>
        <p:spPr>
          <a:xfrm>
            <a:off x="2669540" y="3853814"/>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Clustered column</a:t>
            </a:r>
            <a:endParaRPr lang="en-US" sz="1300" dirty="0"/>
          </a:p>
        </p:txBody>
      </p:sp>
      <p:sp>
        <p:nvSpPr>
          <p:cNvPr id="19" name="Text 17"/>
          <p:cNvSpPr/>
          <p:nvPr/>
        </p:nvSpPr>
        <p:spPr>
          <a:xfrm>
            <a:off x="4358640" y="3853814"/>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the business growing, and is profit growing with it?</a:t>
            </a:r>
            <a:endParaRPr lang="en-US" sz="1300" dirty="0"/>
          </a:p>
        </p:txBody>
      </p:sp>
      <p:sp>
        <p:nvSpPr>
          <p:cNvPr id="20" name="Text 18"/>
          <p:cNvSpPr/>
          <p:nvPr/>
        </p:nvSpPr>
        <p:spPr>
          <a:xfrm>
            <a:off x="8524240" y="3853814"/>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EBITDA, Net Income</a:t>
            </a:r>
            <a:endParaRPr lang="en-US" sz="1300" dirty="0"/>
          </a:p>
        </p:txBody>
      </p:sp>
      <p:sp>
        <p:nvSpPr>
          <p:cNvPr id="21" name="Shape 19"/>
          <p:cNvSpPr/>
          <p:nvPr/>
        </p:nvSpPr>
        <p:spPr>
          <a:xfrm>
            <a:off x="828040" y="4149089"/>
            <a:ext cx="10535920" cy="384175"/>
          </a:xfrm>
          <a:prstGeom prst="rect">
            <a:avLst/>
          </a:prstGeom>
          <a:solidFill>
            <a:srgbClr val="FFFFFF"/>
          </a:solidFill>
          <a:ln/>
        </p:spPr>
      </p:sp>
      <p:sp>
        <p:nvSpPr>
          <p:cNvPr id="22" name="Text 20"/>
          <p:cNvSpPr/>
          <p:nvPr/>
        </p:nvSpPr>
        <p:spPr>
          <a:xfrm>
            <a:off x="980440" y="4237989"/>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Margins</a:t>
            </a:r>
            <a:endParaRPr lang="en-US" sz="1300" dirty="0"/>
          </a:p>
        </p:txBody>
      </p:sp>
      <p:sp>
        <p:nvSpPr>
          <p:cNvPr id="23" name="Text 21"/>
          <p:cNvSpPr/>
          <p:nvPr/>
        </p:nvSpPr>
        <p:spPr>
          <a:xfrm>
            <a:off x="2669540" y="4237989"/>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Line</a:t>
            </a:r>
            <a:endParaRPr lang="en-US" sz="1300" dirty="0"/>
          </a:p>
        </p:txBody>
      </p:sp>
      <p:sp>
        <p:nvSpPr>
          <p:cNvPr id="24" name="Text 22"/>
          <p:cNvSpPr/>
          <p:nvPr/>
        </p:nvSpPr>
        <p:spPr>
          <a:xfrm>
            <a:off x="4358640" y="4237989"/>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each pound of revenue becoming more profitable?</a:t>
            </a:r>
            <a:endParaRPr lang="en-US" sz="1300" dirty="0"/>
          </a:p>
        </p:txBody>
      </p:sp>
      <p:sp>
        <p:nvSpPr>
          <p:cNvPr id="25" name="Text 23"/>
          <p:cNvSpPr/>
          <p:nvPr/>
        </p:nvSpPr>
        <p:spPr>
          <a:xfrm>
            <a:off x="8524240" y="4237989"/>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Gross, EBITDA and Net margin %</a:t>
            </a:r>
            <a:endParaRPr lang="en-US" sz="1300" dirty="0"/>
          </a:p>
        </p:txBody>
      </p:sp>
      <p:sp>
        <p:nvSpPr>
          <p:cNvPr id="26" name="Shape 24"/>
          <p:cNvSpPr/>
          <p:nvPr/>
        </p:nvSpPr>
        <p:spPr>
          <a:xfrm>
            <a:off x="828040" y="4533264"/>
            <a:ext cx="10535920" cy="384175"/>
          </a:xfrm>
          <a:prstGeom prst="rect">
            <a:avLst/>
          </a:prstGeom>
          <a:solidFill>
            <a:srgbClr val="FDF3E7"/>
          </a:solidFill>
          <a:ln/>
        </p:spPr>
      </p:sp>
      <p:sp>
        <p:nvSpPr>
          <p:cNvPr id="27" name="Text 25"/>
          <p:cNvSpPr/>
          <p:nvPr/>
        </p:nvSpPr>
        <p:spPr>
          <a:xfrm>
            <a:off x="980440" y="4622164"/>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Profit vs cash</a:t>
            </a:r>
            <a:endParaRPr lang="en-US" sz="1300" dirty="0"/>
          </a:p>
        </p:txBody>
      </p:sp>
      <p:sp>
        <p:nvSpPr>
          <p:cNvPr id="28" name="Text 26"/>
          <p:cNvSpPr/>
          <p:nvPr/>
        </p:nvSpPr>
        <p:spPr>
          <a:xfrm>
            <a:off x="2669540" y="4622164"/>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Clustered column</a:t>
            </a:r>
            <a:endParaRPr lang="en-US" sz="1300" dirty="0"/>
          </a:p>
        </p:txBody>
      </p:sp>
      <p:sp>
        <p:nvSpPr>
          <p:cNvPr id="29" name="Text 27"/>
          <p:cNvSpPr/>
          <p:nvPr/>
        </p:nvSpPr>
        <p:spPr>
          <a:xfrm>
            <a:off x="4358640" y="4622164"/>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profit turning into real cash?</a:t>
            </a:r>
            <a:endParaRPr lang="en-US" sz="1300" dirty="0"/>
          </a:p>
        </p:txBody>
      </p:sp>
      <p:sp>
        <p:nvSpPr>
          <p:cNvPr id="30" name="Text 28"/>
          <p:cNvSpPr/>
          <p:nvPr/>
        </p:nvSpPr>
        <p:spPr>
          <a:xfrm>
            <a:off x="8524240" y="4622164"/>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Net Income, Operating Cash Flow, FCF</a:t>
            </a:r>
            <a:endParaRPr lang="en-US" sz="1300" dirty="0"/>
          </a:p>
        </p:txBody>
      </p:sp>
      <p:sp>
        <p:nvSpPr>
          <p:cNvPr id="31" name="Shape 29"/>
          <p:cNvSpPr/>
          <p:nvPr/>
        </p:nvSpPr>
        <p:spPr>
          <a:xfrm>
            <a:off x="828040" y="4917439"/>
            <a:ext cx="10535920" cy="384175"/>
          </a:xfrm>
          <a:prstGeom prst="rect">
            <a:avLst/>
          </a:prstGeom>
          <a:solidFill>
            <a:srgbClr val="FFFFFF"/>
          </a:solidFill>
          <a:ln/>
        </p:spPr>
      </p:sp>
      <p:sp>
        <p:nvSpPr>
          <p:cNvPr id="32" name="Text 30"/>
          <p:cNvSpPr/>
          <p:nvPr/>
        </p:nvSpPr>
        <p:spPr>
          <a:xfrm>
            <a:off x="980440" y="5006339"/>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Net debt</a:t>
            </a:r>
            <a:endParaRPr lang="en-US" sz="1300" dirty="0"/>
          </a:p>
        </p:txBody>
      </p:sp>
      <p:sp>
        <p:nvSpPr>
          <p:cNvPr id="33" name="Text 31"/>
          <p:cNvSpPr/>
          <p:nvPr/>
        </p:nvSpPr>
        <p:spPr>
          <a:xfrm>
            <a:off x="2669540" y="5006339"/>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Column</a:t>
            </a:r>
            <a:endParaRPr lang="en-US" sz="1300" dirty="0"/>
          </a:p>
        </p:txBody>
      </p:sp>
      <p:sp>
        <p:nvSpPr>
          <p:cNvPr id="34" name="Text 32"/>
          <p:cNvSpPr/>
          <p:nvPr/>
        </p:nvSpPr>
        <p:spPr>
          <a:xfrm>
            <a:off x="4358640" y="5006339"/>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the company borrowing more over time?</a:t>
            </a:r>
            <a:endParaRPr lang="en-US" sz="1300" dirty="0"/>
          </a:p>
        </p:txBody>
      </p:sp>
      <p:sp>
        <p:nvSpPr>
          <p:cNvPr id="35" name="Text 33"/>
          <p:cNvSpPr/>
          <p:nvPr/>
        </p:nvSpPr>
        <p:spPr>
          <a:xfrm>
            <a:off x="8524240" y="5006339"/>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Net Debt</a:t>
            </a:r>
            <a:endParaRPr lang="en-US" sz="1300" dirty="0"/>
          </a:p>
        </p:txBody>
      </p:sp>
      <p:sp>
        <p:nvSpPr>
          <p:cNvPr id="36" name="Text 34"/>
          <p:cNvSpPr/>
          <p:nvPr/>
        </p:nvSpPr>
        <p:spPr>
          <a:xfrm>
            <a:off x="812800" y="6238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EFDC"/>
        </a:solidFill>
        <a:effectLst/>
      </p:bgPr>
    </p:bg>
    <p:spTree>
      <p:nvGrpSpPr>
        <p:cNvPr id="1" name=""/>
        <p:cNvGrpSpPr/>
        <p:nvPr/>
      </p:nvGrpSpPr>
      <p:grpSpPr>
        <a:xfrm>
          <a:off x="0" y="0"/>
          <a:ext cx="0" cy="0"/>
          <a:chOff x="0" y="0"/>
          <a:chExt cx="0" cy="0"/>
        </a:xfrm>
      </p:grpSpPr>
      <p:pic>
        <p:nvPicPr>
          <p:cNvPr id="2" name="Image 0" descr="Profit and Loss dashboard"/>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2 · PROFIT &amp; LOSS</a:t>
            </a:r>
            <a:endParaRPr lang="en-US" sz="1400" dirty="0"/>
          </a:p>
        </p:txBody>
      </p:sp>
      <p:sp>
        <p:nvSpPr>
          <p:cNvPr id="3" name="Text 1"/>
          <p:cNvSpPr>
            <a:spLocks noGrp="1"/>
          </p:cNvSpPr>
          <p:nvPr>
            <p:ph type="title"/>
          </p:nvPr>
        </p:nvSpPr>
        <p:spPr>
          <a:xfrm>
            <a:off x="812800" y="131572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Each visual and its job</a:t>
            </a:r>
            <a:endParaRPr lang="en-US" sz="3400" dirty="0"/>
          </a:p>
        </p:txBody>
      </p:sp>
      <p:sp>
        <p:nvSpPr>
          <p:cNvPr id="4" name="Text 2"/>
          <p:cNvSpPr/>
          <p:nvPr/>
        </p:nvSpPr>
        <p:spPr>
          <a:xfrm>
            <a:off x="812800" y="2044700"/>
            <a:ext cx="10883392"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4A2A12"/>
                </a:solidFill>
                <a:latin typeface="Segoe UI" pitchFamily="34" charset="0"/>
                <a:ea typeface="Segoe UI" pitchFamily="34" charset="-122"/>
                <a:cs typeface="Segoe UI" pitchFamily="34" charset="-120"/>
              </a:rPr>
              <a:t>Is the company growing profitably?</a:t>
            </a:r>
            <a:r>
              <a:rPr lang="en-US" sz="1500" dirty="0">
                <a:solidFill>
                  <a:srgbClr val="4A2A12"/>
                </a:solidFill>
                <a:latin typeface="Segoe UI" pitchFamily="34" charset="0"/>
                <a:ea typeface="Segoe UI" pitchFamily="34" charset="-122"/>
                <a:cs typeface="Segoe UI" pitchFamily="34" charset="-120"/>
              </a:rPr>
              <a:t> Follows revenue down to net income and shows which costs grow faster than sales.</a:t>
            </a:r>
            <a:endParaRPr lang="en-US" sz="1500" dirty="0"/>
          </a:p>
        </p:txBody>
      </p:sp>
      <p:sp>
        <p:nvSpPr>
          <p:cNvPr id="5" name="Shape 3"/>
          <p:cNvSpPr/>
          <p:nvPr/>
        </p:nvSpPr>
        <p:spPr>
          <a:xfrm>
            <a:off x="822325" y="2546350"/>
            <a:ext cx="10547350" cy="2729230"/>
          </a:xfrm>
          <a:prstGeom prst="roundRect">
            <a:avLst>
              <a:gd name="adj" fmla="val 5235"/>
            </a:avLst>
          </a:prstGeom>
          <a:noFill/>
          <a:ln w="19050">
            <a:solidFill>
              <a:srgbClr val="D8621C"/>
            </a:solidFill>
            <a:prstDash val="solid"/>
          </a:ln>
        </p:spPr>
      </p:sp>
      <p:sp>
        <p:nvSpPr>
          <p:cNvPr id="6" name="Shape 4"/>
          <p:cNvSpPr/>
          <p:nvPr/>
        </p:nvSpPr>
        <p:spPr>
          <a:xfrm>
            <a:off x="828040" y="2552064"/>
            <a:ext cx="10535920" cy="384175"/>
          </a:xfrm>
          <a:custGeom>
            <a:avLst/>
            <a:gdLst/>
            <a:ahLst/>
            <a:cxnLst/>
            <a:rect l="l" t="t" r="r" b="b"/>
            <a:pathLst>
              <a:path w="10535920" h="384175">
                <a:moveTo>
                  <a:pt x="114300" y="0"/>
                </a:moveTo>
                <a:lnTo>
                  <a:pt x="10421620" y="0"/>
                </a:lnTo>
                <a:arcTo wR="114300" hR="114300" stAng="16200000" swAng="5400000"/>
                <a:lnTo>
                  <a:pt x="10535920" y="384175"/>
                </a:lnTo>
                <a:lnTo>
                  <a:pt x="0" y="384175"/>
                </a:lnTo>
                <a:lnTo>
                  <a:pt x="0" y="114300"/>
                </a:lnTo>
                <a:arcTo wR="114300" hR="114300" stAng="10800000" swAng="5400000"/>
                <a:close/>
              </a:path>
            </a:pathLst>
          </a:custGeom>
          <a:solidFill>
            <a:srgbClr val="6B3A18"/>
          </a:solidFill>
          <a:ln/>
        </p:spPr>
      </p:sp>
      <p:sp>
        <p:nvSpPr>
          <p:cNvPr id="7" name="Text 5"/>
          <p:cNvSpPr/>
          <p:nvPr/>
        </p:nvSpPr>
        <p:spPr>
          <a:xfrm>
            <a:off x="980440" y="2640964"/>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Visual</a:t>
            </a:r>
            <a:endParaRPr lang="en-US" sz="1300" dirty="0"/>
          </a:p>
        </p:txBody>
      </p:sp>
      <p:sp>
        <p:nvSpPr>
          <p:cNvPr id="8" name="Text 6"/>
          <p:cNvSpPr/>
          <p:nvPr/>
        </p:nvSpPr>
        <p:spPr>
          <a:xfrm>
            <a:off x="2669540" y="2640964"/>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Chart type</a:t>
            </a:r>
            <a:endParaRPr lang="en-US" sz="1300" dirty="0"/>
          </a:p>
        </p:txBody>
      </p:sp>
      <p:sp>
        <p:nvSpPr>
          <p:cNvPr id="9" name="Text 7"/>
          <p:cNvSpPr/>
          <p:nvPr/>
        </p:nvSpPr>
        <p:spPr>
          <a:xfrm>
            <a:off x="4358640" y="2640964"/>
            <a:ext cx="41859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Question it answers</a:t>
            </a:r>
            <a:endParaRPr lang="en-US" sz="1300" dirty="0"/>
          </a:p>
        </p:txBody>
      </p:sp>
      <p:sp>
        <p:nvSpPr>
          <p:cNvPr id="10" name="Text 8"/>
          <p:cNvSpPr/>
          <p:nvPr/>
        </p:nvSpPr>
        <p:spPr>
          <a:xfrm>
            <a:off x="8524240" y="2640964"/>
            <a:ext cx="28778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Measures</a:t>
            </a:r>
            <a:endParaRPr lang="en-US" sz="1300" dirty="0"/>
          </a:p>
        </p:txBody>
      </p:sp>
      <p:sp>
        <p:nvSpPr>
          <p:cNvPr id="11" name="Shape 9"/>
          <p:cNvSpPr/>
          <p:nvPr/>
        </p:nvSpPr>
        <p:spPr>
          <a:xfrm>
            <a:off x="828040" y="2936239"/>
            <a:ext cx="10535920" cy="590550"/>
          </a:xfrm>
          <a:prstGeom prst="rect">
            <a:avLst/>
          </a:prstGeom>
          <a:solidFill>
            <a:srgbClr val="FFFFFF"/>
          </a:solidFill>
          <a:ln/>
        </p:spPr>
      </p:sp>
      <p:sp>
        <p:nvSpPr>
          <p:cNvPr id="12" name="Text 10"/>
          <p:cNvSpPr/>
          <p:nvPr/>
        </p:nvSpPr>
        <p:spPr>
          <a:xfrm>
            <a:off x="980440" y="3025139"/>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KPI row</a:t>
            </a:r>
            <a:endParaRPr lang="en-US" sz="1300" dirty="0"/>
          </a:p>
        </p:txBody>
      </p:sp>
      <p:sp>
        <p:nvSpPr>
          <p:cNvPr id="13" name="Text 11"/>
          <p:cNvSpPr/>
          <p:nvPr/>
        </p:nvSpPr>
        <p:spPr>
          <a:xfrm>
            <a:off x="2669540" y="3025139"/>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Cards</a:t>
            </a:r>
            <a:endParaRPr lang="en-US" sz="1300" dirty="0"/>
          </a:p>
        </p:txBody>
      </p:sp>
      <p:sp>
        <p:nvSpPr>
          <p:cNvPr id="14" name="Text 12"/>
          <p:cNvSpPr/>
          <p:nvPr/>
        </p:nvSpPr>
        <p:spPr>
          <a:xfrm>
            <a:off x="4358640" y="3025139"/>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Are revenue and costs growing, and at what margin?</a:t>
            </a:r>
            <a:endParaRPr lang="en-US" sz="1300" dirty="0"/>
          </a:p>
        </p:txBody>
      </p:sp>
      <p:sp>
        <p:nvSpPr>
          <p:cNvPr id="15" name="Text 13"/>
          <p:cNvSpPr/>
          <p:nvPr/>
        </p:nvSpPr>
        <p:spPr>
          <a:xfrm>
            <a:off x="8524240" y="3025139"/>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YoY / QoQ %, Total Cost, Margins</a:t>
            </a:r>
            <a:endParaRPr lang="en-US" sz="1300" dirty="0"/>
          </a:p>
        </p:txBody>
      </p:sp>
      <p:sp>
        <p:nvSpPr>
          <p:cNvPr id="16" name="Shape 14"/>
          <p:cNvSpPr/>
          <p:nvPr/>
        </p:nvSpPr>
        <p:spPr>
          <a:xfrm>
            <a:off x="828040" y="3526789"/>
            <a:ext cx="10535920" cy="384175"/>
          </a:xfrm>
          <a:prstGeom prst="rect">
            <a:avLst/>
          </a:prstGeom>
          <a:solidFill>
            <a:srgbClr val="FDF3E7"/>
          </a:solidFill>
          <a:ln/>
        </p:spPr>
      </p:sp>
      <p:sp>
        <p:nvSpPr>
          <p:cNvPr id="17" name="Text 15"/>
          <p:cNvSpPr/>
          <p:nvPr/>
        </p:nvSpPr>
        <p:spPr>
          <a:xfrm>
            <a:off x="980440" y="3615689"/>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Income statement</a:t>
            </a:r>
            <a:endParaRPr lang="en-US" sz="1300" dirty="0"/>
          </a:p>
        </p:txBody>
      </p:sp>
      <p:sp>
        <p:nvSpPr>
          <p:cNvPr id="18" name="Text 16"/>
          <p:cNvSpPr/>
          <p:nvPr/>
        </p:nvSpPr>
        <p:spPr>
          <a:xfrm>
            <a:off x="2669540" y="3615689"/>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Matrix</a:t>
            </a:r>
            <a:endParaRPr lang="en-US" sz="1300" dirty="0"/>
          </a:p>
        </p:txBody>
      </p:sp>
      <p:sp>
        <p:nvSpPr>
          <p:cNvPr id="19" name="Text 17"/>
          <p:cNvSpPr/>
          <p:nvPr/>
        </p:nvSpPr>
        <p:spPr>
          <a:xfrm>
            <a:off x="4358640" y="3615689"/>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What happened, line by line, period by period?</a:t>
            </a:r>
            <a:endParaRPr lang="en-US" sz="1300" dirty="0"/>
          </a:p>
        </p:txBody>
      </p:sp>
      <p:sp>
        <p:nvSpPr>
          <p:cNvPr id="20" name="Text 18"/>
          <p:cNvSpPr/>
          <p:nvPr/>
        </p:nvSpPr>
        <p:spPr>
          <a:xfrm>
            <a:off x="8524240" y="3615689"/>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Financial Term × period, Value</a:t>
            </a:r>
            <a:endParaRPr lang="en-US" sz="1300" dirty="0"/>
          </a:p>
        </p:txBody>
      </p:sp>
      <p:sp>
        <p:nvSpPr>
          <p:cNvPr id="21" name="Shape 19"/>
          <p:cNvSpPr/>
          <p:nvPr/>
        </p:nvSpPr>
        <p:spPr>
          <a:xfrm>
            <a:off x="828040" y="3910964"/>
            <a:ext cx="10535920" cy="590550"/>
          </a:xfrm>
          <a:prstGeom prst="rect">
            <a:avLst/>
          </a:prstGeom>
          <a:solidFill>
            <a:srgbClr val="FFFFFF"/>
          </a:solidFill>
          <a:ln/>
        </p:spPr>
      </p:sp>
      <p:sp>
        <p:nvSpPr>
          <p:cNvPr id="22" name="Text 20"/>
          <p:cNvSpPr/>
          <p:nvPr/>
        </p:nvSpPr>
        <p:spPr>
          <a:xfrm>
            <a:off x="980440" y="3999864"/>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to net income</a:t>
            </a:r>
            <a:endParaRPr lang="en-US" sz="1300" dirty="0"/>
          </a:p>
        </p:txBody>
      </p:sp>
      <p:sp>
        <p:nvSpPr>
          <p:cNvPr id="23" name="Text 21"/>
          <p:cNvSpPr/>
          <p:nvPr/>
        </p:nvSpPr>
        <p:spPr>
          <a:xfrm>
            <a:off x="2669540" y="3999864"/>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Waterfall</a:t>
            </a:r>
            <a:endParaRPr lang="en-US" sz="1300" dirty="0"/>
          </a:p>
        </p:txBody>
      </p:sp>
      <p:sp>
        <p:nvSpPr>
          <p:cNvPr id="24" name="Text 22"/>
          <p:cNvSpPr/>
          <p:nvPr/>
        </p:nvSpPr>
        <p:spPr>
          <a:xfrm>
            <a:off x="4358640" y="3999864"/>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Where does revenue go before it becomes profit?</a:t>
            </a:r>
            <a:endParaRPr lang="en-US" sz="1300" dirty="0"/>
          </a:p>
        </p:txBody>
      </p:sp>
      <p:sp>
        <p:nvSpPr>
          <p:cNvPr id="25" name="Text 23"/>
          <p:cNvSpPr/>
          <p:nvPr/>
        </p:nvSpPr>
        <p:spPr>
          <a:xfrm>
            <a:off x="8524240" y="3999864"/>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COGS, OPEX, Interest, Tax</a:t>
            </a:r>
            <a:endParaRPr lang="en-US" sz="1300" dirty="0"/>
          </a:p>
        </p:txBody>
      </p:sp>
      <p:sp>
        <p:nvSpPr>
          <p:cNvPr id="26" name="Shape 24"/>
          <p:cNvSpPr/>
          <p:nvPr/>
        </p:nvSpPr>
        <p:spPr>
          <a:xfrm>
            <a:off x="828040" y="4501517"/>
            <a:ext cx="10535920" cy="384175"/>
          </a:xfrm>
          <a:prstGeom prst="rect">
            <a:avLst/>
          </a:prstGeom>
          <a:solidFill>
            <a:srgbClr val="FDF3E7"/>
          </a:solidFill>
          <a:ln/>
        </p:spPr>
      </p:sp>
      <p:sp>
        <p:nvSpPr>
          <p:cNvPr id="27" name="Text 25"/>
          <p:cNvSpPr/>
          <p:nvPr/>
        </p:nvSpPr>
        <p:spPr>
          <a:xfrm>
            <a:off x="980440" y="45904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Cost structure</a:t>
            </a:r>
            <a:endParaRPr lang="en-US" sz="1300" dirty="0"/>
          </a:p>
        </p:txBody>
      </p:sp>
      <p:sp>
        <p:nvSpPr>
          <p:cNvPr id="28" name="Text 26"/>
          <p:cNvSpPr/>
          <p:nvPr/>
        </p:nvSpPr>
        <p:spPr>
          <a:xfrm>
            <a:off x="2669540" y="45904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Line</a:t>
            </a:r>
            <a:endParaRPr lang="en-US" sz="1300" dirty="0"/>
          </a:p>
        </p:txBody>
      </p:sp>
      <p:sp>
        <p:nvSpPr>
          <p:cNvPr id="29" name="Text 27"/>
          <p:cNvSpPr/>
          <p:nvPr/>
        </p:nvSpPr>
        <p:spPr>
          <a:xfrm>
            <a:off x="4358640" y="4590417"/>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Are costs growing faster than revenue?</a:t>
            </a:r>
            <a:endParaRPr lang="en-US" sz="1300" dirty="0"/>
          </a:p>
        </p:txBody>
      </p:sp>
      <p:sp>
        <p:nvSpPr>
          <p:cNvPr id="30" name="Text 28"/>
          <p:cNvSpPr/>
          <p:nvPr/>
        </p:nvSpPr>
        <p:spPr>
          <a:xfrm>
            <a:off x="8524240" y="4590417"/>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COGS %, OPEX %, Net margin %</a:t>
            </a:r>
            <a:endParaRPr lang="en-US" sz="1300" dirty="0"/>
          </a:p>
        </p:txBody>
      </p:sp>
      <p:sp>
        <p:nvSpPr>
          <p:cNvPr id="31" name="Shape 29"/>
          <p:cNvSpPr/>
          <p:nvPr/>
        </p:nvSpPr>
        <p:spPr>
          <a:xfrm>
            <a:off x="828040" y="4885692"/>
            <a:ext cx="10535920" cy="384175"/>
          </a:xfrm>
          <a:prstGeom prst="rect">
            <a:avLst/>
          </a:prstGeom>
          <a:solidFill>
            <a:srgbClr val="FFFFFF"/>
          </a:solidFill>
          <a:ln/>
        </p:spPr>
      </p:sp>
      <p:sp>
        <p:nvSpPr>
          <p:cNvPr id="32" name="Text 30"/>
          <p:cNvSpPr/>
          <p:nvPr/>
        </p:nvSpPr>
        <p:spPr>
          <a:xfrm>
            <a:off x="980440" y="49745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split</a:t>
            </a:r>
            <a:endParaRPr lang="en-US" sz="1300" dirty="0"/>
          </a:p>
        </p:txBody>
      </p:sp>
      <p:sp>
        <p:nvSpPr>
          <p:cNvPr id="33" name="Text 31"/>
          <p:cNvSpPr/>
          <p:nvPr/>
        </p:nvSpPr>
        <p:spPr>
          <a:xfrm>
            <a:off x="2669540" y="49745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100% bar</a:t>
            </a:r>
            <a:endParaRPr lang="en-US" sz="1300" dirty="0"/>
          </a:p>
        </p:txBody>
      </p:sp>
      <p:sp>
        <p:nvSpPr>
          <p:cNvPr id="34" name="Text 32"/>
          <p:cNvSpPr/>
          <p:nvPr/>
        </p:nvSpPr>
        <p:spPr>
          <a:xfrm>
            <a:off x="4358640" y="49745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Where does each pound of revenue go?</a:t>
            </a:r>
            <a:endParaRPr lang="en-US" sz="1300" dirty="0"/>
          </a:p>
        </p:txBody>
      </p:sp>
      <p:sp>
        <p:nvSpPr>
          <p:cNvPr id="35" name="Text 33"/>
          <p:cNvSpPr/>
          <p:nvPr/>
        </p:nvSpPr>
        <p:spPr>
          <a:xfrm>
            <a:off x="8524240" y="49745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COGS, OPEX, Operating income</a:t>
            </a:r>
            <a:endParaRPr lang="en-US" sz="1300" dirty="0"/>
          </a:p>
        </p:txBody>
      </p:sp>
      <p:sp>
        <p:nvSpPr>
          <p:cNvPr id="36" name="Text 34"/>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EFDC"/>
        </a:solidFill>
        <a:effectLst/>
      </p:bgPr>
    </p:bg>
    <p:spTree>
      <p:nvGrpSpPr>
        <p:cNvPr id="1" name=""/>
        <p:cNvGrpSpPr/>
        <p:nvPr/>
      </p:nvGrpSpPr>
      <p:grpSpPr>
        <a:xfrm>
          <a:off x="0" y="0"/>
          <a:ext cx="0" cy="0"/>
          <a:chOff x="0" y="0"/>
          <a:chExt cx="0" cy="0"/>
        </a:xfrm>
      </p:grpSpPr>
      <p:pic>
        <p:nvPicPr>
          <p:cNvPr id="2" name="Image 0" descr="Balance Sheet dashboard"/>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3 · BALANCE SHEET</a:t>
            </a:r>
            <a:endParaRPr lang="en-US" sz="1400" dirty="0"/>
          </a:p>
        </p:txBody>
      </p:sp>
      <p:sp>
        <p:nvSpPr>
          <p:cNvPr id="3" name="Text 1"/>
          <p:cNvSpPr>
            <a:spLocks noGrp="1"/>
          </p:cNvSpPr>
          <p:nvPr>
            <p:ph type="title"/>
          </p:nvPr>
        </p:nvSpPr>
        <p:spPr>
          <a:xfrm>
            <a:off x="812800" y="131572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Each visual and its job</a:t>
            </a:r>
            <a:endParaRPr lang="en-US" sz="3400" dirty="0"/>
          </a:p>
        </p:txBody>
      </p:sp>
      <p:sp>
        <p:nvSpPr>
          <p:cNvPr id="4" name="Text 2"/>
          <p:cNvSpPr/>
          <p:nvPr/>
        </p:nvSpPr>
        <p:spPr>
          <a:xfrm>
            <a:off x="812800" y="2044700"/>
            <a:ext cx="1088339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4A2A12"/>
                </a:solidFill>
                <a:latin typeface="Segoe UI" pitchFamily="34" charset="0"/>
                <a:ea typeface="Segoe UI" pitchFamily="34" charset="-122"/>
                <a:cs typeface="Segoe UI" pitchFamily="34" charset="-120"/>
              </a:rPr>
              <a:t>What does the company own, and how is it funded?</a:t>
            </a:r>
            <a:r>
              <a:rPr lang="en-US" sz="1500" dirty="0">
                <a:solidFill>
                  <a:srgbClr val="4A2A12"/>
                </a:solidFill>
                <a:latin typeface="Segoe UI" pitchFamily="34" charset="0"/>
                <a:ea typeface="Segoe UI" pitchFamily="34" charset="-122"/>
                <a:cs typeface="Segoe UI" pitchFamily="34" charset="-120"/>
              </a:rPr>
              <a:t> Shows the size of the company and whether growth is paid for with debt or with shareholders’ money.</a:t>
            </a:r>
            <a:endParaRPr lang="en-US" sz="1500" dirty="0"/>
          </a:p>
        </p:txBody>
      </p:sp>
      <p:sp>
        <p:nvSpPr>
          <p:cNvPr id="5" name="Shape 3"/>
          <p:cNvSpPr/>
          <p:nvPr/>
        </p:nvSpPr>
        <p:spPr>
          <a:xfrm>
            <a:off x="822325" y="2784475"/>
            <a:ext cx="10547350" cy="2757805"/>
          </a:xfrm>
          <a:prstGeom prst="roundRect">
            <a:avLst>
              <a:gd name="adj" fmla="val 5181"/>
            </a:avLst>
          </a:prstGeom>
          <a:noFill/>
          <a:ln w="19050">
            <a:solidFill>
              <a:srgbClr val="D8621C"/>
            </a:solidFill>
            <a:prstDash val="solid"/>
          </a:ln>
        </p:spPr>
      </p:sp>
      <p:sp>
        <p:nvSpPr>
          <p:cNvPr id="6" name="Shape 4"/>
          <p:cNvSpPr/>
          <p:nvPr/>
        </p:nvSpPr>
        <p:spPr>
          <a:xfrm>
            <a:off x="828040" y="2790192"/>
            <a:ext cx="10535920" cy="384175"/>
          </a:xfrm>
          <a:custGeom>
            <a:avLst/>
            <a:gdLst/>
            <a:ahLst/>
            <a:cxnLst/>
            <a:rect l="l" t="t" r="r" b="b"/>
            <a:pathLst>
              <a:path w="10535920" h="384175">
                <a:moveTo>
                  <a:pt x="114300" y="0"/>
                </a:moveTo>
                <a:lnTo>
                  <a:pt x="10421620" y="0"/>
                </a:lnTo>
                <a:arcTo wR="114300" hR="114300" stAng="16200000" swAng="5400000"/>
                <a:lnTo>
                  <a:pt x="10535920" y="384175"/>
                </a:lnTo>
                <a:lnTo>
                  <a:pt x="0" y="384175"/>
                </a:lnTo>
                <a:lnTo>
                  <a:pt x="0" y="114300"/>
                </a:lnTo>
                <a:arcTo wR="114300" hR="114300" stAng="10800000" swAng="5400000"/>
                <a:close/>
              </a:path>
            </a:pathLst>
          </a:custGeom>
          <a:solidFill>
            <a:srgbClr val="6B3A18"/>
          </a:solidFill>
          <a:ln/>
        </p:spPr>
      </p:sp>
      <p:sp>
        <p:nvSpPr>
          <p:cNvPr id="7" name="Text 5"/>
          <p:cNvSpPr/>
          <p:nvPr/>
        </p:nvSpPr>
        <p:spPr>
          <a:xfrm>
            <a:off x="980440" y="28790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Visual</a:t>
            </a:r>
            <a:endParaRPr lang="en-US" sz="1300" dirty="0"/>
          </a:p>
        </p:txBody>
      </p:sp>
      <p:sp>
        <p:nvSpPr>
          <p:cNvPr id="8" name="Text 6"/>
          <p:cNvSpPr/>
          <p:nvPr/>
        </p:nvSpPr>
        <p:spPr>
          <a:xfrm>
            <a:off x="2669540" y="28790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Chart type</a:t>
            </a:r>
            <a:endParaRPr lang="en-US" sz="1300" dirty="0"/>
          </a:p>
        </p:txBody>
      </p:sp>
      <p:sp>
        <p:nvSpPr>
          <p:cNvPr id="9" name="Text 7"/>
          <p:cNvSpPr/>
          <p:nvPr/>
        </p:nvSpPr>
        <p:spPr>
          <a:xfrm>
            <a:off x="4358640" y="28790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Question it answers</a:t>
            </a:r>
            <a:endParaRPr lang="en-US" sz="1300" dirty="0"/>
          </a:p>
        </p:txBody>
      </p:sp>
      <p:sp>
        <p:nvSpPr>
          <p:cNvPr id="10" name="Text 8"/>
          <p:cNvSpPr/>
          <p:nvPr/>
        </p:nvSpPr>
        <p:spPr>
          <a:xfrm>
            <a:off x="8524240" y="28790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Measures</a:t>
            </a:r>
            <a:endParaRPr lang="en-US" sz="1300" dirty="0"/>
          </a:p>
        </p:txBody>
      </p:sp>
      <p:sp>
        <p:nvSpPr>
          <p:cNvPr id="11" name="Shape 9"/>
          <p:cNvSpPr/>
          <p:nvPr/>
        </p:nvSpPr>
        <p:spPr>
          <a:xfrm>
            <a:off x="828040" y="3174367"/>
            <a:ext cx="10535920" cy="590550"/>
          </a:xfrm>
          <a:prstGeom prst="rect">
            <a:avLst/>
          </a:prstGeom>
          <a:solidFill>
            <a:srgbClr val="FFFFFF"/>
          </a:solidFill>
          <a:ln/>
        </p:spPr>
      </p:sp>
      <p:sp>
        <p:nvSpPr>
          <p:cNvPr id="12" name="Text 10"/>
          <p:cNvSpPr/>
          <p:nvPr/>
        </p:nvSpPr>
        <p:spPr>
          <a:xfrm>
            <a:off x="980440" y="32632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KPI row</a:t>
            </a:r>
            <a:endParaRPr lang="en-US" sz="1300" dirty="0"/>
          </a:p>
        </p:txBody>
      </p:sp>
      <p:sp>
        <p:nvSpPr>
          <p:cNvPr id="13" name="Text 11"/>
          <p:cNvSpPr/>
          <p:nvPr/>
        </p:nvSpPr>
        <p:spPr>
          <a:xfrm>
            <a:off x="2669540" y="32632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Cards</a:t>
            </a:r>
            <a:endParaRPr lang="en-US" sz="1300" dirty="0"/>
          </a:p>
        </p:txBody>
      </p:sp>
      <p:sp>
        <p:nvSpPr>
          <p:cNvPr id="14" name="Text 12"/>
          <p:cNvSpPr/>
          <p:nvPr/>
        </p:nvSpPr>
        <p:spPr>
          <a:xfrm>
            <a:off x="4358640" y="3263267"/>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How big is the company and how leveraged?</a:t>
            </a:r>
            <a:endParaRPr lang="en-US" sz="1300" dirty="0"/>
          </a:p>
        </p:txBody>
      </p:sp>
      <p:sp>
        <p:nvSpPr>
          <p:cNvPr id="15" name="Text 13"/>
          <p:cNvSpPr/>
          <p:nvPr/>
        </p:nvSpPr>
        <p:spPr>
          <a:xfrm>
            <a:off x="8524240" y="3263267"/>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Total Assets, Liabilities, Equity, D/E, D/A</a:t>
            </a:r>
            <a:endParaRPr lang="en-US" sz="1300" dirty="0"/>
          </a:p>
        </p:txBody>
      </p:sp>
      <p:sp>
        <p:nvSpPr>
          <p:cNvPr id="16" name="Shape 14"/>
          <p:cNvSpPr/>
          <p:nvPr/>
        </p:nvSpPr>
        <p:spPr>
          <a:xfrm>
            <a:off x="828040" y="3764917"/>
            <a:ext cx="10535920" cy="590550"/>
          </a:xfrm>
          <a:prstGeom prst="rect">
            <a:avLst/>
          </a:prstGeom>
          <a:solidFill>
            <a:srgbClr val="FDF3E7"/>
          </a:solidFill>
          <a:ln/>
        </p:spPr>
      </p:sp>
      <p:sp>
        <p:nvSpPr>
          <p:cNvPr id="17" name="Text 15"/>
          <p:cNvSpPr/>
          <p:nvPr/>
        </p:nvSpPr>
        <p:spPr>
          <a:xfrm>
            <a:off x="980440" y="385381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Funding</a:t>
            </a:r>
            <a:endParaRPr lang="en-US" sz="1300" dirty="0"/>
          </a:p>
        </p:txBody>
      </p:sp>
      <p:sp>
        <p:nvSpPr>
          <p:cNvPr id="18" name="Text 16"/>
          <p:cNvSpPr/>
          <p:nvPr/>
        </p:nvSpPr>
        <p:spPr>
          <a:xfrm>
            <a:off x="2669540" y="385381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Stacked column</a:t>
            </a:r>
            <a:endParaRPr lang="en-US" sz="1300" dirty="0"/>
          </a:p>
        </p:txBody>
      </p:sp>
      <p:sp>
        <p:nvSpPr>
          <p:cNvPr id="19" name="Text 17"/>
          <p:cNvSpPr/>
          <p:nvPr/>
        </p:nvSpPr>
        <p:spPr>
          <a:xfrm>
            <a:off x="4358640" y="3853817"/>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growth funded by debt or by equity?</a:t>
            </a:r>
            <a:endParaRPr lang="en-US" sz="1300" dirty="0"/>
          </a:p>
        </p:txBody>
      </p:sp>
      <p:sp>
        <p:nvSpPr>
          <p:cNvPr id="20" name="Text 18"/>
          <p:cNvSpPr/>
          <p:nvPr/>
        </p:nvSpPr>
        <p:spPr>
          <a:xfrm>
            <a:off x="8524240" y="3853817"/>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Short-term liabilities, long-term liabilities, Equity</a:t>
            </a:r>
            <a:endParaRPr lang="en-US" sz="1300" dirty="0"/>
          </a:p>
        </p:txBody>
      </p:sp>
      <p:sp>
        <p:nvSpPr>
          <p:cNvPr id="21" name="Shape 19"/>
          <p:cNvSpPr/>
          <p:nvPr/>
        </p:nvSpPr>
        <p:spPr>
          <a:xfrm>
            <a:off x="828040" y="4355467"/>
            <a:ext cx="10535920" cy="590550"/>
          </a:xfrm>
          <a:prstGeom prst="rect">
            <a:avLst/>
          </a:prstGeom>
          <a:solidFill>
            <a:srgbClr val="FFFFFF"/>
          </a:solidFill>
          <a:ln/>
        </p:spPr>
      </p:sp>
      <p:sp>
        <p:nvSpPr>
          <p:cNvPr id="22" name="Text 20"/>
          <p:cNvSpPr/>
          <p:nvPr/>
        </p:nvSpPr>
        <p:spPr>
          <a:xfrm>
            <a:off x="980440" y="44443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What it owns</a:t>
            </a:r>
            <a:endParaRPr lang="en-US" sz="1300" dirty="0"/>
          </a:p>
        </p:txBody>
      </p:sp>
      <p:sp>
        <p:nvSpPr>
          <p:cNvPr id="23" name="Text 21"/>
          <p:cNvSpPr/>
          <p:nvPr/>
        </p:nvSpPr>
        <p:spPr>
          <a:xfrm>
            <a:off x="2669540" y="44443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100% bar</a:t>
            </a:r>
            <a:endParaRPr lang="en-US" sz="1300" dirty="0"/>
          </a:p>
        </p:txBody>
      </p:sp>
      <p:sp>
        <p:nvSpPr>
          <p:cNvPr id="24" name="Text 22"/>
          <p:cNvSpPr/>
          <p:nvPr/>
        </p:nvSpPr>
        <p:spPr>
          <a:xfrm>
            <a:off x="4358640" y="4444367"/>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Where is the money invested?</a:t>
            </a:r>
            <a:endParaRPr lang="en-US" sz="1300" dirty="0"/>
          </a:p>
        </p:txBody>
      </p:sp>
      <p:sp>
        <p:nvSpPr>
          <p:cNvPr id="25" name="Text 23"/>
          <p:cNvSpPr/>
          <p:nvPr/>
        </p:nvSpPr>
        <p:spPr>
          <a:xfrm>
            <a:off x="8524240" y="4444367"/>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PP&amp;E, Inventory, Receivables, Cash, Other</a:t>
            </a:r>
            <a:endParaRPr lang="en-US" sz="1300" dirty="0"/>
          </a:p>
        </p:txBody>
      </p:sp>
      <p:sp>
        <p:nvSpPr>
          <p:cNvPr id="26" name="Shape 24"/>
          <p:cNvSpPr/>
          <p:nvPr/>
        </p:nvSpPr>
        <p:spPr>
          <a:xfrm>
            <a:off x="828040" y="4946017"/>
            <a:ext cx="10535920" cy="590550"/>
          </a:xfrm>
          <a:prstGeom prst="rect">
            <a:avLst/>
          </a:prstGeom>
          <a:solidFill>
            <a:srgbClr val="FDF3E7"/>
          </a:solidFill>
          <a:ln/>
        </p:spPr>
      </p:sp>
      <p:sp>
        <p:nvSpPr>
          <p:cNvPr id="27" name="Text 25"/>
          <p:cNvSpPr/>
          <p:nvPr/>
        </p:nvSpPr>
        <p:spPr>
          <a:xfrm>
            <a:off x="980440" y="503491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What it owes</a:t>
            </a:r>
            <a:endParaRPr lang="en-US" sz="1300" dirty="0"/>
          </a:p>
        </p:txBody>
      </p:sp>
      <p:sp>
        <p:nvSpPr>
          <p:cNvPr id="28" name="Text 26"/>
          <p:cNvSpPr/>
          <p:nvPr/>
        </p:nvSpPr>
        <p:spPr>
          <a:xfrm>
            <a:off x="2669540" y="503491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100% bar</a:t>
            </a:r>
            <a:endParaRPr lang="en-US" sz="1300" dirty="0"/>
          </a:p>
        </p:txBody>
      </p:sp>
      <p:sp>
        <p:nvSpPr>
          <p:cNvPr id="29" name="Text 27"/>
          <p:cNvSpPr/>
          <p:nvPr/>
        </p:nvSpPr>
        <p:spPr>
          <a:xfrm>
            <a:off x="4358640" y="5034917"/>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What does it owe, and how soon?</a:t>
            </a:r>
            <a:endParaRPr lang="en-US" sz="1300" dirty="0"/>
          </a:p>
        </p:txBody>
      </p:sp>
      <p:sp>
        <p:nvSpPr>
          <p:cNvPr id="30" name="Text 28"/>
          <p:cNvSpPr/>
          <p:nvPr/>
        </p:nvSpPr>
        <p:spPr>
          <a:xfrm>
            <a:off x="8524240" y="5034917"/>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Short-term debt, Payables, Long-term debt, Other</a:t>
            </a:r>
            <a:endParaRPr lang="en-US" sz="1300" dirty="0"/>
          </a:p>
        </p:txBody>
      </p:sp>
      <p:sp>
        <p:nvSpPr>
          <p:cNvPr id="31" name="Text 29"/>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EFDC"/>
        </a:solidFill>
        <a:effectLst/>
      </p:bgPr>
    </p:bg>
    <p:spTree>
      <p:nvGrpSpPr>
        <p:cNvPr id="1" name=""/>
        <p:cNvGrpSpPr/>
        <p:nvPr/>
      </p:nvGrpSpPr>
      <p:grpSpPr>
        <a:xfrm>
          <a:off x="0" y="0"/>
          <a:ext cx="0" cy="0"/>
          <a:chOff x="0" y="0"/>
          <a:chExt cx="0" cy="0"/>
        </a:xfrm>
      </p:grpSpPr>
      <p:pic>
        <p:nvPicPr>
          <p:cNvPr id="2" name="Image 0" descr="Liquidity and Leverage dashboard"/>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4 · LIQUIDITY &amp; LEVERAGE</a:t>
            </a:r>
            <a:endParaRPr lang="en-US" sz="1400" dirty="0"/>
          </a:p>
        </p:txBody>
      </p:sp>
      <p:sp>
        <p:nvSpPr>
          <p:cNvPr id="3" name="Text 1"/>
          <p:cNvSpPr>
            <a:spLocks noGrp="1"/>
          </p:cNvSpPr>
          <p:nvPr>
            <p:ph type="title"/>
          </p:nvPr>
        </p:nvSpPr>
        <p:spPr>
          <a:xfrm>
            <a:off x="812800" y="131572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Each visual and its job</a:t>
            </a:r>
            <a:endParaRPr lang="en-US" sz="3400" dirty="0"/>
          </a:p>
        </p:txBody>
      </p:sp>
      <p:sp>
        <p:nvSpPr>
          <p:cNvPr id="4" name="Text 2"/>
          <p:cNvSpPr/>
          <p:nvPr/>
        </p:nvSpPr>
        <p:spPr>
          <a:xfrm>
            <a:off x="812800" y="2044700"/>
            <a:ext cx="1137920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4A2A12"/>
                </a:solidFill>
                <a:latin typeface="Segoe UI" pitchFamily="34" charset="0"/>
                <a:ea typeface="Segoe UI" pitchFamily="34" charset="-122"/>
                <a:cs typeface="Segoe UI" pitchFamily="34" charset="-120"/>
              </a:rPr>
              <a:t>Can the company meet its obligations?</a:t>
            </a:r>
            <a:r>
              <a:rPr lang="en-US" sz="1500" dirty="0">
                <a:solidFill>
                  <a:srgbClr val="4A2A12"/>
                </a:solidFill>
                <a:latin typeface="Segoe UI" pitchFamily="34" charset="0"/>
                <a:ea typeface="Segoe UI" pitchFamily="34" charset="-122"/>
                <a:cs typeface="Segoe UI" pitchFamily="34" charset="-120"/>
              </a:rPr>
              <a:t> Short-term: can it pay this year’s bills. Long-term: can it carry and service its debt.</a:t>
            </a:r>
            <a:endParaRPr lang="en-US" sz="1500" dirty="0"/>
          </a:p>
        </p:txBody>
      </p:sp>
      <p:sp>
        <p:nvSpPr>
          <p:cNvPr id="5" name="Shape 3"/>
          <p:cNvSpPr/>
          <p:nvPr/>
        </p:nvSpPr>
        <p:spPr>
          <a:xfrm>
            <a:off x="822325" y="2546350"/>
            <a:ext cx="10547350" cy="2522855"/>
          </a:xfrm>
          <a:prstGeom prst="roundRect">
            <a:avLst>
              <a:gd name="adj" fmla="val 5663"/>
            </a:avLst>
          </a:prstGeom>
          <a:noFill/>
          <a:ln w="19050">
            <a:solidFill>
              <a:srgbClr val="D8621C"/>
            </a:solidFill>
            <a:prstDash val="solid"/>
          </a:ln>
        </p:spPr>
      </p:sp>
      <p:sp>
        <p:nvSpPr>
          <p:cNvPr id="6" name="Shape 4"/>
          <p:cNvSpPr/>
          <p:nvPr/>
        </p:nvSpPr>
        <p:spPr>
          <a:xfrm>
            <a:off x="828040" y="2552067"/>
            <a:ext cx="10535920" cy="384175"/>
          </a:xfrm>
          <a:custGeom>
            <a:avLst/>
            <a:gdLst/>
            <a:ahLst/>
            <a:cxnLst/>
            <a:rect l="l" t="t" r="r" b="b"/>
            <a:pathLst>
              <a:path w="10535920" h="384175">
                <a:moveTo>
                  <a:pt x="114300" y="0"/>
                </a:moveTo>
                <a:lnTo>
                  <a:pt x="10421620" y="0"/>
                </a:lnTo>
                <a:arcTo wR="114300" hR="114300" stAng="16200000" swAng="5400000"/>
                <a:lnTo>
                  <a:pt x="10535920" y="384175"/>
                </a:lnTo>
                <a:lnTo>
                  <a:pt x="0" y="384175"/>
                </a:lnTo>
                <a:lnTo>
                  <a:pt x="0" y="114300"/>
                </a:lnTo>
                <a:arcTo wR="114300" hR="114300" stAng="10800000" swAng="5400000"/>
                <a:close/>
              </a:path>
            </a:pathLst>
          </a:custGeom>
          <a:solidFill>
            <a:srgbClr val="6B3A18"/>
          </a:solidFill>
          <a:ln/>
        </p:spPr>
      </p:sp>
      <p:sp>
        <p:nvSpPr>
          <p:cNvPr id="7" name="Text 5"/>
          <p:cNvSpPr/>
          <p:nvPr/>
        </p:nvSpPr>
        <p:spPr>
          <a:xfrm>
            <a:off x="980440" y="2640967"/>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Visual</a:t>
            </a:r>
            <a:endParaRPr lang="en-US" sz="1300" dirty="0"/>
          </a:p>
        </p:txBody>
      </p:sp>
      <p:sp>
        <p:nvSpPr>
          <p:cNvPr id="8" name="Text 6"/>
          <p:cNvSpPr/>
          <p:nvPr/>
        </p:nvSpPr>
        <p:spPr>
          <a:xfrm>
            <a:off x="2669540" y="2640967"/>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Chart type</a:t>
            </a:r>
            <a:endParaRPr lang="en-US" sz="1300" dirty="0"/>
          </a:p>
        </p:txBody>
      </p:sp>
      <p:sp>
        <p:nvSpPr>
          <p:cNvPr id="9" name="Text 7"/>
          <p:cNvSpPr/>
          <p:nvPr/>
        </p:nvSpPr>
        <p:spPr>
          <a:xfrm>
            <a:off x="4358640" y="2640967"/>
            <a:ext cx="41859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Question it answers</a:t>
            </a:r>
            <a:endParaRPr lang="en-US" sz="1300" dirty="0"/>
          </a:p>
        </p:txBody>
      </p:sp>
      <p:sp>
        <p:nvSpPr>
          <p:cNvPr id="10" name="Text 8"/>
          <p:cNvSpPr/>
          <p:nvPr/>
        </p:nvSpPr>
        <p:spPr>
          <a:xfrm>
            <a:off x="8524240" y="2640967"/>
            <a:ext cx="28778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Measures</a:t>
            </a:r>
            <a:endParaRPr lang="en-US" sz="1300" dirty="0"/>
          </a:p>
        </p:txBody>
      </p:sp>
      <p:sp>
        <p:nvSpPr>
          <p:cNvPr id="11" name="Shape 9"/>
          <p:cNvSpPr/>
          <p:nvPr/>
        </p:nvSpPr>
        <p:spPr>
          <a:xfrm>
            <a:off x="828040" y="2936242"/>
            <a:ext cx="10535920" cy="590550"/>
          </a:xfrm>
          <a:prstGeom prst="rect">
            <a:avLst/>
          </a:prstGeom>
          <a:solidFill>
            <a:srgbClr val="FFFFFF"/>
          </a:solidFill>
          <a:ln/>
        </p:spPr>
      </p:sp>
      <p:sp>
        <p:nvSpPr>
          <p:cNvPr id="12" name="Text 10"/>
          <p:cNvSpPr/>
          <p:nvPr/>
        </p:nvSpPr>
        <p:spPr>
          <a:xfrm>
            <a:off x="980440" y="3025142"/>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KPI row</a:t>
            </a:r>
            <a:endParaRPr lang="en-US" sz="1300" dirty="0"/>
          </a:p>
        </p:txBody>
      </p:sp>
      <p:sp>
        <p:nvSpPr>
          <p:cNvPr id="13" name="Text 11"/>
          <p:cNvSpPr/>
          <p:nvPr/>
        </p:nvSpPr>
        <p:spPr>
          <a:xfrm>
            <a:off x="2669540" y="3025142"/>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Cards</a:t>
            </a:r>
            <a:endParaRPr lang="en-US" sz="1300" dirty="0"/>
          </a:p>
        </p:txBody>
      </p:sp>
      <p:sp>
        <p:nvSpPr>
          <p:cNvPr id="14" name="Text 12"/>
          <p:cNvSpPr/>
          <p:nvPr/>
        </p:nvSpPr>
        <p:spPr>
          <a:xfrm>
            <a:off x="4358640" y="3025142"/>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any ratio in the danger zone?</a:t>
            </a:r>
            <a:endParaRPr lang="en-US" sz="1300" dirty="0"/>
          </a:p>
        </p:txBody>
      </p:sp>
      <p:sp>
        <p:nvSpPr>
          <p:cNvPr id="15" name="Text 13"/>
          <p:cNvSpPr/>
          <p:nvPr/>
        </p:nvSpPr>
        <p:spPr>
          <a:xfrm>
            <a:off x="8524240" y="3025142"/>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Current, Quick, Cash ratio, Net Debt / EBITDA, Coverage</a:t>
            </a:r>
            <a:endParaRPr lang="en-US" sz="1300" dirty="0"/>
          </a:p>
        </p:txBody>
      </p:sp>
      <p:sp>
        <p:nvSpPr>
          <p:cNvPr id="16" name="Shape 14"/>
          <p:cNvSpPr/>
          <p:nvPr/>
        </p:nvSpPr>
        <p:spPr>
          <a:xfrm>
            <a:off x="828040" y="3526792"/>
            <a:ext cx="10535920" cy="384175"/>
          </a:xfrm>
          <a:prstGeom prst="rect">
            <a:avLst/>
          </a:prstGeom>
          <a:solidFill>
            <a:srgbClr val="FDF3E7"/>
          </a:solidFill>
          <a:ln/>
        </p:spPr>
      </p:sp>
      <p:sp>
        <p:nvSpPr>
          <p:cNvPr id="17" name="Text 15"/>
          <p:cNvSpPr/>
          <p:nvPr/>
        </p:nvSpPr>
        <p:spPr>
          <a:xfrm>
            <a:off x="980440" y="36156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Short-term bills</a:t>
            </a:r>
            <a:endParaRPr lang="en-US" sz="1300" dirty="0"/>
          </a:p>
        </p:txBody>
      </p:sp>
      <p:sp>
        <p:nvSpPr>
          <p:cNvPr id="18" name="Text 16"/>
          <p:cNvSpPr/>
          <p:nvPr/>
        </p:nvSpPr>
        <p:spPr>
          <a:xfrm>
            <a:off x="2669540" y="36156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Line + 1.0 line</a:t>
            </a:r>
            <a:endParaRPr lang="en-US" sz="1300" dirty="0"/>
          </a:p>
        </p:txBody>
      </p:sp>
      <p:sp>
        <p:nvSpPr>
          <p:cNvPr id="19" name="Text 17"/>
          <p:cNvSpPr/>
          <p:nvPr/>
        </p:nvSpPr>
        <p:spPr>
          <a:xfrm>
            <a:off x="4358640" y="36156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Can it pay bills due within a year?</a:t>
            </a:r>
            <a:endParaRPr lang="en-US" sz="1300" dirty="0"/>
          </a:p>
        </p:txBody>
      </p:sp>
      <p:sp>
        <p:nvSpPr>
          <p:cNvPr id="20" name="Text 18"/>
          <p:cNvSpPr/>
          <p:nvPr/>
        </p:nvSpPr>
        <p:spPr>
          <a:xfrm>
            <a:off x="8524240" y="36156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Current, Quick, Cash ratio</a:t>
            </a:r>
            <a:endParaRPr lang="en-US" sz="1300" dirty="0"/>
          </a:p>
        </p:txBody>
      </p:sp>
      <p:sp>
        <p:nvSpPr>
          <p:cNvPr id="21" name="Shape 19"/>
          <p:cNvSpPr/>
          <p:nvPr/>
        </p:nvSpPr>
        <p:spPr>
          <a:xfrm>
            <a:off x="828040" y="3910967"/>
            <a:ext cx="10535920" cy="384175"/>
          </a:xfrm>
          <a:prstGeom prst="rect">
            <a:avLst/>
          </a:prstGeom>
          <a:solidFill>
            <a:srgbClr val="FFFFFF"/>
          </a:solidFill>
          <a:ln/>
        </p:spPr>
      </p:sp>
      <p:sp>
        <p:nvSpPr>
          <p:cNvPr id="22" name="Text 20"/>
          <p:cNvSpPr/>
          <p:nvPr/>
        </p:nvSpPr>
        <p:spPr>
          <a:xfrm>
            <a:off x="980440" y="399986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Debt vs equity</a:t>
            </a:r>
            <a:endParaRPr lang="en-US" sz="1300" dirty="0"/>
          </a:p>
        </p:txBody>
      </p:sp>
      <p:sp>
        <p:nvSpPr>
          <p:cNvPr id="23" name="Text 21"/>
          <p:cNvSpPr/>
          <p:nvPr/>
        </p:nvSpPr>
        <p:spPr>
          <a:xfrm>
            <a:off x="2669540" y="399986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Clustered column</a:t>
            </a:r>
            <a:endParaRPr lang="en-US" sz="1300" dirty="0"/>
          </a:p>
        </p:txBody>
      </p:sp>
      <p:sp>
        <p:nvSpPr>
          <p:cNvPr id="24" name="Text 22"/>
          <p:cNvSpPr/>
          <p:nvPr/>
        </p:nvSpPr>
        <p:spPr>
          <a:xfrm>
            <a:off x="4358640" y="3999867"/>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leverage rising?</a:t>
            </a:r>
            <a:endParaRPr lang="en-US" sz="1300" dirty="0"/>
          </a:p>
        </p:txBody>
      </p:sp>
      <p:sp>
        <p:nvSpPr>
          <p:cNvPr id="25" name="Text 23"/>
          <p:cNvSpPr/>
          <p:nvPr/>
        </p:nvSpPr>
        <p:spPr>
          <a:xfrm>
            <a:off x="8524240" y="3999867"/>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Total Debt, Total Equity</a:t>
            </a:r>
            <a:endParaRPr lang="en-US" sz="1300" dirty="0"/>
          </a:p>
        </p:txBody>
      </p:sp>
      <p:sp>
        <p:nvSpPr>
          <p:cNvPr id="26" name="Shape 24"/>
          <p:cNvSpPr/>
          <p:nvPr/>
        </p:nvSpPr>
        <p:spPr>
          <a:xfrm>
            <a:off x="828040" y="4295142"/>
            <a:ext cx="10535920" cy="384175"/>
          </a:xfrm>
          <a:prstGeom prst="rect">
            <a:avLst/>
          </a:prstGeom>
          <a:solidFill>
            <a:srgbClr val="FDF3E7"/>
          </a:solidFill>
          <a:ln/>
        </p:spPr>
      </p:sp>
      <p:sp>
        <p:nvSpPr>
          <p:cNvPr id="27" name="Text 25"/>
          <p:cNvSpPr/>
          <p:nvPr/>
        </p:nvSpPr>
        <p:spPr>
          <a:xfrm>
            <a:off x="980440" y="438404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Debt service</a:t>
            </a:r>
            <a:endParaRPr lang="en-US" sz="1300" dirty="0"/>
          </a:p>
        </p:txBody>
      </p:sp>
      <p:sp>
        <p:nvSpPr>
          <p:cNvPr id="28" name="Text 26"/>
          <p:cNvSpPr/>
          <p:nvPr/>
        </p:nvSpPr>
        <p:spPr>
          <a:xfrm>
            <a:off x="2669540" y="438404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Column</a:t>
            </a:r>
            <a:endParaRPr lang="en-US" sz="1300" dirty="0"/>
          </a:p>
        </p:txBody>
      </p:sp>
      <p:sp>
        <p:nvSpPr>
          <p:cNvPr id="29" name="Text 27"/>
          <p:cNvSpPr/>
          <p:nvPr/>
        </p:nvSpPr>
        <p:spPr>
          <a:xfrm>
            <a:off x="4358640" y="4384042"/>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Can profit cover the interest bill? Below 3x is a warning.</a:t>
            </a:r>
            <a:endParaRPr lang="en-US" sz="1300" dirty="0"/>
          </a:p>
        </p:txBody>
      </p:sp>
      <p:sp>
        <p:nvSpPr>
          <p:cNvPr id="30" name="Text 28"/>
          <p:cNvSpPr/>
          <p:nvPr/>
        </p:nvSpPr>
        <p:spPr>
          <a:xfrm>
            <a:off x="8524240" y="4384042"/>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Interest Coverage</a:t>
            </a:r>
            <a:endParaRPr lang="en-US" sz="1300" dirty="0"/>
          </a:p>
        </p:txBody>
      </p:sp>
      <p:sp>
        <p:nvSpPr>
          <p:cNvPr id="31" name="Shape 29"/>
          <p:cNvSpPr/>
          <p:nvPr/>
        </p:nvSpPr>
        <p:spPr>
          <a:xfrm>
            <a:off x="828040" y="4679317"/>
            <a:ext cx="10535920" cy="384175"/>
          </a:xfrm>
          <a:prstGeom prst="rect">
            <a:avLst/>
          </a:prstGeom>
          <a:solidFill>
            <a:srgbClr val="FFFFFF"/>
          </a:solidFill>
          <a:ln/>
        </p:spPr>
      </p:sp>
      <p:sp>
        <p:nvSpPr>
          <p:cNvPr id="32" name="Text 30"/>
          <p:cNvSpPr/>
          <p:nvPr/>
        </p:nvSpPr>
        <p:spPr>
          <a:xfrm>
            <a:off x="980440" y="47682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Leverage trend</a:t>
            </a:r>
            <a:endParaRPr lang="en-US" sz="1300" dirty="0"/>
          </a:p>
        </p:txBody>
      </p:sp>
      <p:sp>
        <p:nvSpPr>
          <p:cNvPr id="33" name="Text 31"/>
          <p:cNvSpPr/>
          <p:nvPr/>
        </p:nvSpPr>
        <p:spPr>
          <a:xfrm>
            <a:off x="2669540" y="47682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Column</a:t>
            </a:r>
            <a:endParaRPr lang="en-US" sz="1300" dirty="0"/>
          </a:p>
        </p:txBody>
      </p:sp>
      <p:sp>
        <p:nvSpPr>
          <p:cNvPr id="34" name="Text 32"/>
          <p:cNvSpPr/>
          <p:nvPr/>
        </p:nvSpPr>
        <p:spPr>
          <a:xfrm>
            <a:off x="4358640" y="4768217"/>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How many years of EBITDA would repay net debt?</a:t>
            </a:r>
            <a:endParaRPr lang="en-US" sz="1300" dirty="0"/>
          </a:p>
        </p:txBody>
      </p:sp>
      <p:sp>
        <p:nvSpPr>
          <p:cNvPr id="35" name="Text 33"/>
          <p:cNvSpPr/>
          <p:nvPr/>
        </p:nvSpPr>
        <p:spPr>
          <a:xfrm>
            <a:off x="8524240" y="4768217"/>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Net Debt / EBITDA</a:t>
            </a:r>
            <a:endParaRPr lang="en-US" sz="1300" dirty="0"/>
          </a:p>
        </p:txBody>
      </p:sp>
      <p:sp>
        <p:nvSpPr>
          <p:cNvPr id="36" name="Text 34"/>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EFDC"/>
        </a:solidFill>
        <a:effectLst/>
      </p:bgPr>
    </p:bg>
    <p:spTree>
      <p:nvGrpSpPr>
        <p:cNvPr id="1" name=""/>
        <p:cNvGrpSpPr/>
        <p:nvPr/>
      </p:nvGrpSpPr>
      <p:grpSpPr>
        <a:xfrm>
          <a:off x="0" y="0"/>
          <a:ext cx="0" cy="0"/>
          <a:chOff x="0" y="0"/>
          <a:chExt cx="0" cy="0"/>
        </a:xfrm>
      </p:grpSpPr>
      <p:pic>
        <p:nvPicPr>
          <p:cNvPr id="2" name="Image 0" descr="Working Capital dashboard"/>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5 · WORKING CAPITAL</a:t>
            </a:r>
            <a:endParaRPr lang="en-US" sz="1400" dirty="0"/>
          </a:p>
        </p:txBody>
      </p:sp>
      <p:sp>
        <p:nvSpPr>
          <p:cNvPr id="3" name="Text 1"/>
          <p:cNvSpPr>
            <a:spLocks noGrp="1"/>
          </p:cNvSpPr>
          <p:nvPr>
            <p:ph type="title"/>
          </p:nvPr>
        </p:nvSpPr>
        <p:spPr>
          <a:xfrm>
            <a:off x="812800" y="1315721"/>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Each visual and its job</a:t>
            </a:r>
            <a:endParaRPr lang="en-US" sz="3400" dirty="0"/>
          </a:p>
        </p:txBody>
      </p:sp>
      <p:sp>
        <p:nvSpPr>
          <p:cNvPr id="4" name="Text 2"/>
          <p:cNvSpPr/>
          <p:nvPr/>
        </p:nvSpPr>
        <p:spPr>
          <a:xfrm>
            <a:off x="812800" y="2044700"/>
            <a:ext cx="1088339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4A2A12"/>
                </a:solidFill>
                <a:latin typeface="Segoe UI" pitchFamily="34" charset="0"/>
                <a:ea typeface="Segoe UI" pitchFamily="34" charset="-122"/>
                <a:cs typeface="Segoe UI" pitchFamily="34" charset="-120"/>
              </a:rPr>
              <a:t>How efficiently does the company use its operating assets?</a:t>
            </a:r>
            <a:r>
              <a:rPr lang="en-US" sz="1500" dirty="0">
                <a:solidFill>
                  <a:srgbClr val="4A2A12"/>
                </a:solidFill>
                <a:latin typeface="Segoe UI" pitchFamily="34" charset="0"/>
                <a:ea typeface="Segoe UI" pitchFamily="34" charset="-122"/>
                <a:cs typeface="Segoe UI" pitchFamily="34" charset="-120"/>
              </a:rPr>
              <a:t> Shows how much cash is tied up in running the business and how long it takes to come back.</a:t>
            </a:r>
            <a:endParaRPr lang="en-US" sz="1500" dirty="0"/>
          </a:p>
        </p:txBody>
      </p:sp>
      <p:sp>
        <p:nvSpPr>
          <p:cNvPr id="5" name="Shape 3"/>
          <p:cNvSpPr/>
          <p:nvPr/>
        </p:nvSpPr>
        <p:spPr>
          <a:xfrm>
            <a:off x="822325" y="2784475"/>
            <a:ext cx="10547350" cy="2345055"/>
          </a:xfrm>
          <a:prstGeom prst="roundRect">
            <a:avLst>
              <a:gd name="adj" fmla="val 6093"/>
            </a:avLst>
          </a:prstGeom>
          <a:noFill/>
          <a:ln w="19050">
            <a:solidFill>
              <a:srgbClr val="D8621C"/>
            </a:solidFill>
            <a:prstDash val="solid"/>
          </a:ln>
        </p:spPr>
      </p:sp>
      <p:sp>
        <p:nvSpPr>
          <p:cNvPr id="6" name="Shape 4"/>
          <p:cNvSpPr/>
          <p:nvPr/>
        </p:nvSpPr>
        <p:spPr>
          <a:xfrm>
            <a:off x="828040" y="2790192"/>
            <a:ext cx="10535920" cy="384175"/>
          </a:xfrm>
          <a:custGeom>
            <a:avLst/>
            <a:gdLst/>
            <a:ahLst/>
            <a:cxnLst/>
            <a:rect l="l" t="t" r="r" b="b"/>
            <a:pathLst>
              <a:path w="10535920" h="384175">
                <a:moveTo>
                  <a:pt x="114300" y="0"/>
                </a:moveTo>
                <a:lnTo>
                  <a:pt x="10421620" y="0"/>
                </a:lnTo>
                <a:arcTo wR="114300" hR="114300" stAng="16200000" swAng="5400000"/>
                <a:lnTo>
                  <a:pt x="10535920" y="384175"/>
                </a:lnTo>
                <a:lnTo>
                  <a:pt x="0" y="384175"/>
                </a:lnTo>
                <a:lnTo>
                  <a:pt x="0" y="114300"/>
                </a:lnTo>
                <a:arcTo wR="114300" hR="114300" stAng="10800000" swAng="5400000"/>
                <a:close/>
              </a:path>
            </a:pathLst>
          </a:custGeom>
          <a:solidFill>
            <a:srgbClr val="6B3A18"/>
          </a:solidFill>
          <a:ln/>
        </p:spPr>
      </p:sp>
      <p:sp>
        <p:nvSpPr>
          <p:cNvPr id="7" name="Text 5"/>
          <p:cNvSpPr/>
          <p:nvPr/>
        </p:nvSpPr>
        <p:spPr>
          <a:xfrm>
            <a:off x="980440" y="28790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Visual</a:t>
            </a:r>
            <a:endParaRPr lang="en-US" sz="1300" dirty="0"/>
          </a:p>
        </p:txBody>
      </p:sp>
      <p:sp>
        <p:nvSpPr>
          <p:cNvPr id="8" name="Text 6"/>
          <p:cNvSpPr/>
          <p:nvPr/>
        </p:nvSpPr>
        <p:spPr>
          <a:xfrm>
            <a:off x="2669540" y="28790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Chart type</a:t>
            </a:r>
            <a:endParaRPr lang="en-US" sz="1300" dirty="0"/>
          </a:p>
        </p:txBody>
      </p:sp>
      <p:sp>
        <p:nvSpPr>
          <p:cNvPr id="9" name="Text 7"/>
          <p:cNvSpPr/>
          <p:nvPr/>
        </p:nvSpPr>
        <p:spPr>
          <a:xfrm>
            <a:off x="4358640" y="28790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Question it answers</a:t>
            </a:r>
            <a:endParaRPr lang="en-US" sz="1300" dirty="0"/>
          </a:p>
        </p:txBody>
      </p:sp>
      <p:sp>
        <p:nvSpPr>
          <p:cNvPr id="10" name="Text 8"/>
          <p:cNvSpPr/>
          <p:nvPr/>
        </p:nvSpPr>
        <p:spPr>
          <a:xfrm>
            <a:off x="8524240" y="28790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Measures</a:t>
            </a:r>
            <a:endParaRPr lang="en-US" sz="1300" dirty="0"/>
          </a:p>
        </p:txBody>
      </p:sp>
      <p:sp>
        <p:nvSpPr>
          <p:cNvPr id="11" name="Shape 9"/>
          <p:cNvSpPr/>
          <p:nvPr/>
        </p:nvSpPr>
        <p:spPr>
          <a:xfrm>
            <a:off x="828040" y="3174367"/>
            <a:ext cx="10535920" cy="590550"/>
          </a:xfrm>
          <a:prstGeom prst="rect">
            <a:avLst/>
          </a:prstGeom>
          <a:solidFill>
            <a:srgbClr val="FFFFFF"/>
          </a:solidFill>
          <a:ln/>
        </p:spPr>
      </p:sp>
      <p:sp>
        <p:nvSpPr>
          <p:cNvPr id="12" name="Text 10"/>
          <p:cNvSpPr/>
          <p:nvPr/>
        </p:nvSpPr>
        <p:spPr>
          <a:xfrm>
            <a:off x="980440" y="32632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Equations</a:t>
            </a:r>
            <a:endParaRPr lang="en-US" sz="1300" dirty="0"/>
          </a:p>
        </p:txBody>
      </p:sp>
      <p:sp>
        <p:nvSpPr>
          <p:cNvPr id="13" name="Text 11"/>
          <p:cNvSpPr/>
          <p:nvPr/>
        </p:nvSpPr>
        <p:spPr>
          <a:xfrm>
            <a:off x="2669540" y="32632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Cards</a:t>
            </a:r>
            <a:endParaRPr lang="en-US" sz="1300" dirty="0"/>
          </a:p>
        </p:txBody>
      </p:sp>
      <p:sp>
        <p:nvSpPr>
          <p:cNvPr id="14" name="Text 12"/>
          <p:cNvSpPr/>
          <p:nvPr/>
        </p:nvSpPr>
        <p:spPr>
          <a:xfrm>
            <a:off x="4358640" y="3263267"/>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How much cash is tied up, and for how many days?</a:t>
            </a:r>
            <a:endParaRPr lang="en-US" sz="1300" dirty="0"/>
          </a:p>
        </p:txBody>
      </p:sp>
      <p:sp>
        <p:nvSpPr>
          <p:cNvPr id="15" name="Text 13"/>
          <p:cNvSpPr/>
          <p:nvPr/>
        </p:nvSpPr>
        <p:spPr>
          <a:xfrm>
            <a:off x="8524240" y="3263267"/>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AR + Inventory − AP; DSO + DIO − DPO</a:t>
            </a:r>
            <a:endParaRPr lang="en-US" sz="1300" dirty="0"/>
          </a:p>
        </p:txBody>
      </p:sp>
      <p:sp>
        <p:nvSpPr>
          <p:cNvPr id="16" name="Shape 14"/>
          <p:cNvSpPr/>
          <p:nvPr/>
        </p:nvSpPr>
        <p:spPr>
          <a:xfrm>
            <a:off x="828040" y="3764917"/>
            <a:ext cx="10535920" cy="384175"/>
          </a:xfrm>
          <a:prstGeom prst="rect">
            <a:avLst/>
          </a:prstGeom>
          <a:solidFill>
            <a:srgbClr val="FDF3E7"/>
          </a:solidFill>
          <a:ln/>
        </p:spPr>
      </p:sp>
      <p:sp>
        <p:nvSpPr>
          <p:cNvPr id="17" name="Text 15"/>
          <p:cNvSpPr/>
          <p:nvPr/>
        </p:nvSpPr>
        <p:spPr>
          <a:xfrm>
            <a:off x="980440" y="38538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Cash cycle</a:t>
            </a:r>
            <a:endParaRPr lang="en-US" sz="1300" dirty="0"/>
          </a:p>
        </p:txBody>
      </p:sp>
      <p:sp>
        <p:nvSpPr>
          <p:cNvPr id="18" name="Text 16"/>
          <p:cNvSpPr/>
          <p:nvPr/>
        </p:nvSpPr>
        <p:spPr>
          <a:xfrm>
            <a:off x="2669540" y="38538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Clustered column</a:t>
            </a:r>
            <a:endParaRPr lang="en-US" sz="1300" dirty="0"/>
          </a:p>
        </p:txBody>
      </p:sp>
      <p:sp>
        <p:nvSpPr>
          <p:cNvPr id="19" name="Text 17"/>
          <p:cNvSpPr/>
          <p:nvPr/>
        </p:nvSpPr>
        <p:spPr>
          <a:xfrm>
            <a:off x="4358640" y="3853817"/>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Is the cash cycle getting longer?</a:t>
            </a:r>
            <a:endParaRPr lang="en-US" sz="1300" dirty="0"/>
          </a:p>
        </p:txBody>
      </p:sp>
      <p:sp>
        <p:nvSpPr>
          <p:cNvPr id="20" name="Text 18"/>
          <p:cNvSpPr/>
          <p:nvPr/>
        </p:nvSpPr>
        <p:spPr>
          <a:xfrm>
            <a:off x="8524240" y="3853817"/>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DSO, DIO, DPO</a:t>
            </a:r>
            <a:endParaRPr lang="en-US" sz="1300" dirty="0"/>
          </a:p>
        </p:txBody>
      </p:sp>
      <p:sp>
        <p:nvSpPr>
          <p:cNvPr id="21" name="Shape 19"/>
          <p:cNvSpPr/>
          <p:nvPr/>
        </p:nvSpPr>
        <p:spPr>
          <a:xfrm>
            <a:off x="828040" y="4149092"/>
            <a:ext cx="10535920" cy="384175"/>
          </a:xfrm>
          <a:prstGeom prst="rect">
            <a:avLst/>
          </a:prstGeom>
          <a:solidFill>
            <a:srgbClr val="FFFFFF"/>
          </a:solidFill>
          <a:ln/>
        </p:spPr>
      </p:sp>
      <p:sp>
        <p:nvSpPr>
          <p:cNvPr id="22" name="Text 20"/>
          <p:cNvSpPr/>
          <p:nvPr/>
        </p:nvSpPr>
        <p:spPr>
          <a:xfrm>
            <a:off x="980440" y="4237992"/>
            <a:ext cx="16891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Working capital items</a:t>
            </a:r>
            <a:endParaRPr lang="en-US" sz="1300" dirty="0"/>
          </a:p>
        </p:txBody>
      </p:sp>
      <p:sp>
        <p:nvSpPr>
          <p:cNvPr id="23" name="Text 21"/>
          <p:cNvSpPr/>
          <p:nvPr/>
        </p:nvSpPr>
        <p:spPr>
          <a:xfrm>
            <a:off x="2669540" y="42379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Clustered column</a:t>
            </a:r>
            <a:endParaRPr lang="en-US" sz="1300" dirty="0"/>
          </a:p>
        </p:txBody>
      </p:sp>
      <p:sp>
        <p:nvSpPr>
          <p:cNvPr id="24" name="Text 22"/>
          <p:cNvSpPr/>
          <p:nvPr/>
        </p:nvSpPr>
        <p:spPr>
          <a:xfrm>
            <a:off x="4358640" y="42379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Which item drives the change?</a:t>
            </a:r>
            <a:endParaRPr lang="en-US" sz="1300" dirty="0"/>
          </a:p>
        </p:txBody>
      </p:sp>
      <p:sp>
        <p:nvSpPr>
          <p:cNvPr id="25" name="Text 23"/>
          <p:cNvSpPr/>
          <p:nvPr/>
        </p:nvSpPr>
        <p:spPr>
          <a:xfrm>
            <a:off x="8524240" y="42379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Receivables, Inventory, Payables</a:t>
            </a:r>
            <a:endParaRPr lang="en-US" sz="1300" dirty="0"/>
          </a:p>
        </p:txBody>
      </p:sp>
      <p:sp>
        <p:nvSpPr>
          <p:cNvPr id="26" name="Shape 24"/>
          <p:cNvSpPr/>
          <p:nvPr/>
        </p:nvSpPr>
        <p:spPr>
          <a:xfrm>
            <a:off x="828040" y="4533267"/>
            <a:ext cx="10535920" cy="590550"/>
          </a:xfrm>
          <a:prstGeom prst="rect">
            <a:avLst/>
          </a:prstGeom>
          <a:solidFill>
            <a:srgbClr val="FDF3E7"/>
          </a:solidFill>
          <a:ln/>
        </p:spPr>
      </p:sp>
      <p:sp>
        <p:nvSpPr>
          <p:cNvPr id="27" name="Text 25"/>
          <p:cNvSpPr/>
          <p:nvPr/>
        </p:nvSpPr>
        <p:spPr>
          <a:xfrm>
            <a:off x="980440" y="46221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Turnover</a:t>
            </a:r>
            <a:endParaRPr lang="en-US" sz="1300" dirty="0"/>
          </a:p>
        </p:txBody>
      </p:sp>
      <p:sp>
        <p:nvSpPr>
          <p:cNvPr id="28" name="Text 26"/>
          <p:cNvSpPr/>
          <p:nvPr/>
        </p:nvSpPr>
        <p:spPr>
          <a:xfrm>
            <a:off x="2669540" y="4622167"/>
            <a:ext cx="163830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Cards</a:t>
            </a:r>
            <a:endParaRPr lang="en-US" sz="1300" dirty="0"/>
          </a:p>
        </p:txBody>
      </p:sp>
      <p:sp>
        <p:nvSpPr>
          <p:cNvPr id="29" name="Text 27"/>
          <p:cNvSpPr/>
          <p:nvPr/>
        </p:nvSpPr>
        <p:spPr>
          <a:xfrm>
            <a:off x="4358640" y="4622167"/>
            <a:ext cx="41859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How hard are the assets working?</a:t>
            </a:r>
            <a:endParaRPr lang="en-US" sz="1300" dirty="0"/>
          </a:p>
        </p:txBody>
      </p:sp>
      <p:sp>
        <p:nvSpPr>
          <p:cNvPr id="30" name="Text 28"/>
          <p:cNvSpPr/>
          <p:nvPr/>
        </p:nvSpPr>
        <p:spPr>
          <a:xfrm>
            <a:off x="8524240" y="4622167"/>
            <a:ext cx="287782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Asset, Inventory, Receivables, PP&amp;E turnover</a:t>
            </a:r>
            <a:endParaRPr lang="en-US" sz="1300" dirty="0"/>
          </a:p>
        </p:txBody>
      </p:sp>
      <p:sp>
        <p:nvSpPr>
          <p:cNvPr id="31" name="Text 29"/>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EFDC"/>
        </a:solidFill>
        <a:effectLst/>
      </p:bgPr>
    </p:bg>
    <p:spTree>
      <p:nvGrpSpPr>
        <p:cNvPr id="1" name=""/>
        <p:cNvGrpSpPr/>
        <p:nvPr/>
      </p:nvGrpSpPr>
      <p:grpSpPr>
        <a:xfrm>
          <a:off x="0" y="0"/>
          <a:ext cx="0" cy="0"/>
          <a:chOff x="0" y="0"/>
          <a:chExt cx="0" cy="0"/>
        </a:xfrm>
      </p:grpSpPr>
      <p:pic>
        <p:nvPicPr>
          <p:cNvPr id="2" name="Image 0" descr="Compare Companies dashboard"/>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PAGE 6 · COMPARE COMPANIES</a:t>
            </a:r>
            <a:endParaRPr lang="en-US" sz="1400" dirty="0"/>
          </a:p>
        </p:txBody>
      </p:sp>
      <p:sp>
        <p:nvSpPr>
          <p:cNvPr id="3" name="Text 1"/>
          <p:cNvSpPr>
            <a:spLocks noGrp="1"/>
          </p:cNvSpPr>
          <p:nvPr>
            <p:ph type="title"/>
          </p:nvPr>
        </p:nvSpPr>
        <p:spPr>
          <a:xfrm>
            <a:off x="812800" y="1315727"/>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Each visual and its job</a:t>
            </a:r>
            <a:endParaRPr lang="en-US" sz="3400" dirty="0"/>
          </a:p>
        </p:txBody>
      </p:sp>
      <p:sp>
        <p:nvSpPr>
          <p:cNvPr id="4" name="Text 2"/>
          <p:cNvSpPr/>
          <p:nvPr/>
        </p:nvSpPr>
        <p:spPr>
          <a:xfrm>
            <a:off x="812800" y="2044700"/>
            <a:ext cx="1088339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4A2A12"/>
                </a:solidFill>
                <a:latin typeface="Segoe UI" pitchFamily="34" charset="0"/>
                <a:ea typeface="Segoe UI" pitchFamily="34" charset="-122"/>
                <a:cs typeface="Segoe UI" pitchFamily="34" charset="-120"/>
              </a:rPr>
              <a:t>How does the company stack up against its peers?</a:t>
            </a:r>
            <a:r>
              <a:rPr lang="en-US" sz="1500" dirty="0">
                <a:solidFill>
                  <a:srgbClr val="4A2A12"/>
                </a:solidFill>
                <a:latin typeface="Segoe UI" pitchFamily="34" charset="0"/>
                <a:ea typeface="Segoe UI" pitchFamily="34" charset="-122"/>
                <a:cs typeface="Segoe UI" pitchFamily="34" charset="-120"/>
              </a:rPr>
              <a:t> Puts the selected companies side by side on the same ratios for the same period.</a:t>
            </a:r>
            <a:endParaRPr lang="en-US" sz="1500" dirty="0"/>
          </a:p>
        </p:txBody>
      </p:sp>
      <p:sp>
        <p:nvSpPr>
          <p:cNvPr id="5" name="Shape 3"/>
          <p:cNvSpPr/>
          <p:nvPr/>
        </p:nvSpPr>
        <p:spPr>
          <a:xfrm>
            <a:off x="822325" y="2784475"/>
            <a:ext cx="10547350" cy="1932305"/>
          </a:xfrm>
          <a:prstGeom prst="roundRect">
            <a:avLst>
              <a:gd name="adj" fmla="val 7394"/>
            </a:avLst>
          </a:prstGeom>
          <a:noFill/>
          <a:ln w="19050">
            <a:solidFill>
              <a:srgbClr val="D8621C"/>
            </a:solidFill>
            <a:prstDash val="solid"/>
          </a:ln>
        </p:spPr>
      </p:sp>
      <p:sp>
        <p:nvSpPr>
          <p:cNvPr id="6" name="Shape 4"/>
          <p:cNvSpPr/>
          <p:nvPr/>
        </p:nvSpPr>
        <p:spPr>
          <a:xfrm>
            <a:off x="828040" y="2790192"/>
            <a:ext cx="10535920" cy="384175"/>
          </a:xfrm>
          <a:custGeom>
            <a:avLst/>
            <a:gdLst/>
            <a:ahLst/>
            <a:cxnLst/>
            <a:rect l="l" t="t" r="r" b="b"/>
            <a:pathLst>
              <a:path w="10535920" h="384175">
                <a:moveTo>
                  <a:pt x="114300" y="0"/>
                </a:moveTo>
                <a:lnTo>
                  <a:pt x="10421620" y="0"/>
                </a:lnTo>
                <a:arcTo wR="114300" hR="114300" stAng="16200000" swAng="5400000"/>
                <a:lnTo>
                  <a:pt x="10535920" y="384175"/>
                </a:lnTo>
                <a:lnTo>
                  <a:pt x="0" y="384175"/>
                </a:lnTo>
                <a:lnTo>
                  <a:pt x="0" y="114300"/>
                </a:lnTo>
                <a:arcTo wR="114300" hR="114300" stAng="10800000" swAng="5400000"/>
                <a:close/>
              </a:path>
            </a:pathLst>
          </a:custGeom>
          <a:solidFill>
            <a:srgbClr val="6B3A18"/>
          </a:solidFill>
          <a:ln/>
        </p:spPr>
      </p:sp>
      <p:sp>
        <p:nvSpPr>
          <p:cNvPr id="7" name="Text 5"/>
          <p:cNvSpPr/>
          <p:nvPr/>
        </p:nvSpPr>
        <p:spPr>
          <a:xfrm>
            <a:off x="980440" y="28790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Visual</a:t>
            </a:r>
            <a:endParaRPr lang="en-US" sz="1300" dirty="0"/>
          </a:p>
        </p:txBody>
      </p:sp>
      <p:sp>
        <p:nvSpPr>
          <p:cNvPr id="8" name="Text 6"/>
          <p:cNvSpPr/>
          <p:nvPr/>
        </p:nvSpPr>
        <p:spPr>
          <a:xfrm>
            <a:off x="2669540" y="28790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Chart type</a:t>
            </a:r>
            <a:endParaRPr lang="en-US" sz="1300" dirty="0"/>
          </a:p>
        </p:txBody>
      </p:sp>
      <p:sp>
        <p:nvSpPr>
          <p:cNvPr id="9" name="Text 7"/>
          <p:cNvSpPr/>
          <p:nvPr/>
        </p:nvSpPr>
        <p:spPr>
          <a:xfrm>
            <a:off x="4358640" y="28790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Question it answers</a:t>
            </a:r>
            <a:endParaRPr lang="en-US" sz="1300" dirty="0"/>
          </a:p>
        </p:txBody>
      </p:sp>
      <p:sp>
        <p:nvSpPr>
          <p:cNvPr id="10" name="Text 8"/>
          <p:cNvSpPr/>
          <p:nvPr/>
        </p:nvSpPr>
        <p:spPr>
          <a:xfrm>
            <a:off x="8524240" y="28790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FFFFFF"/>
                </a:solidFill>
                <a:latin typeface="Segoe UI" pitchFamily="34" charset="0"/>
                <a:ea typeface="Segoe UI" pitchFamily="34" charset="-122"/>
                <a:cs typeface="Segoe UI" pitchFamily="34" charset="-120"/>
              </a:rPr>
              <a:t>Measures</a:t>
            </a:r>
            <a:endParaRPr lang="en-US" sz="1300" dirty="0"/>
          </a:p>
        </p:txBody>
      </p:sp>
      <p:sp>
        <p:nvSpPr>
          <p:cNvPr id="11" name="Shape 9"/>
          <p:cNvSpPr/>
          <p:nvPr/>
        </p:nvSpPr>
        <p:spPr>
          <a:xfrm>
            <a:off x="828040" y="3174367"/>
            <a:ext cx="10535920" cy="384175"/>
          </a:xfrm>
          <a:prstGeom prst="rect">
            <a:avLst/>
          </a:prstGeom>
          <a:solidFill>
            <a:srgbClr val="FFFFFF"/>
          </a:solidFill>
          <a:ln/>
        </p:spPr>
      </p:sp>
      <p:sp>
        <p:nvSpPr>
          <p:cNvPr id="12" name="Text 10"/>
          <p:cNvSpPr/>
          <p:nvPr/>
        </p:nvSpPr>
        <p:spPr>
          <a:xfrm>
            <a:off x="980440" y="326326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Company picker</a:t>
            </a:r>
            <a:endParaRPr lang="en-US" sz="1300" dirty="0"/>
          </a:p>
        </p:txBody>
      </p:sp>
      <p:sp>
        <p:nvSpPr>
          <p:cNvPr id="13" name="Text 11"/>
          <p:cNvSpPr/>
          <p:nvPr/>
        </p:nvSpPr>
        <p:spPr>
          <a:xfrm>
            <a:off x="2669540" y="326326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Slicer chips</a:t>
            </a:r>
            <a:endParaRPr lang="en-US" sz="1300" dirty="0"/>
          </a:p>
        </p:txBody>
      </p:sp>
      <p:sp>
        <p:nvSpPr>
          <p:cNvPr id="14" name="Text 12"/>
          <p:cNvSpPr/>
          <p:nvPr/>
        </p:nvSpPr>
        <p:spPr>
          <a:xfrm>
            <a:off x="4358640" y="3263267"/>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Which companies are we comparing?</a:t>
            </a:r>
            <a:endParaRPr lang="en-US" sz="1300" dirty="0"/>
          </a:p>
        </p:txBody>
      </p:sp>
      <p:sp>
        <p:nvSpPr>
          <p:cNvPr id="15" name="Text 13"/>
          <p:cNvSpPr/>
          <p:nvPr/>
        </p:nvSpPr>
        <p:spPr>
          <a:xfrm>
            <a:off x="8524240" y="3263267"/>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DimCompany (multi-select)</a:t>
            </a:r>
            <a:endParaRPr lang="en-US" sz="1300" dirty="0"/>
          </a:p>
        </p:txBody>
      </p:sp>
      <p:sp>
        <p:nvSpPr>
          <p:cNvPr id="16" name="Shape 14"/>
          <p:cNvSpPr/>
          <p:nvPr/>
        </p:nvSpPr>
        <p:spPr>
          <a:xfrm>
            <a:off x="828040" y="3558542"/>
            <a:ext cx="10535920" cy="384175"/>
          </a:xfrm>
          <a:prstGeom prst="rect">
            <a:avLst/>
          </a:prstGeom>
          <a:solidFill>
            <a:srgbClr val="FDF3E7"/>
          </a:solidFill>
          <a:ln/>
        </p:spPr>
      </p:sp>
      <p:sp>
        <p:nvSpPr>
          <p:cNvPr id="17" name="Text 15"/>
          <p:cNvSpPr/>
          <p:nvPr/>
        </p:nvSpPr>
        <p:spPr>
          <a:xfrm>
            <a:off x="980440" y="364744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Ratio table</a:t>
            </a:r>
            <a:endParaRPr lang="en-US" sz="1300" dirty="0"/>
          </a:p>
        </p:txBody>
      </p:sp>
      <p:sp>
        <p:nvSpPr>
          <p:cNvPr id="18" name="Text 16"/>
          <p:cNvSpPr/>
          <p:nvPr/>
        </p:nvSpPr>
        <p:spPr>
          <a:xfrm>
            <a:off x="2669540" y="364744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Table</a:t>
            </a:r>
            <a:endParaRPr lang="en-US" sz="1300" dirty="0"/>
          </a:p>
        </p:txBody>
      </p:sp>
      <p:sp>
        <p:nvSpPr>
          <p:cNvPr id="19" name="Text 17"/>
          <p:cNvSpPr/>
          <p:nvPr/>
        </p:nvSpPr>
        <p:spPr>
          <a:xfrm>
            <a:off x="4358640" y="3647442"/>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How does each company rank on the same metrics?</a:t>
            </a:r>
            <a:endParaRPr lang="en-US" sz="1300" dirty="0"/>
          </a:p>
        </p:txBody>
      </p:sp>
      <p:sp>
        <p:nvSpPr>
          <p:cNvPr id="20" name="Text 18"/>
          <p:cNvSpPr/>
          <p:nvPr/>
        </p:nvSpPr>
        <p:spPr>
          <a:xfrm>
            <a:off x="8524240" y="3647442"/>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YoY, margins, ROE, D/E, CCC</a:t>
            </a:r>
            <a:endParaRPr lang="en-US" sz="1300" dirty="0"/>
          </a:p>
        </p:txBody>
      </p:sp>
      <p:sp>
        <p:nvSpPr>
          <p:cNvPr id="21" name="Shape 19"/>
          <p:cNvSpPr/>
          <p:nvPr/>
        </p:nvSpPr>
        <p:spPr>
          <a:xfrm>
            <a:off x="828040" y="3942717"/>
            <a:ext cx="10535920" cy="384175"/>
          </a:xfrm>
          <a:prstGeom prst="rect">
            <a:avLst/>
          </a:prstGeom>
          <a:solidFill>
            <a:srgbClr val="FFFFFF"/>
          </a:solidFill>
          <a:ln/>
        </p:spPr>
      </p:sp>
      <p:sp>
        <p:nvSpPr>
          <p:cNvPr id="22" name="Text 20"/>
          <p:cNvSpPr/>
          <p:nvPr/>
        </p:nvSpPr>
        <p:spPr>
          <a:xfrm>
            <a:off x="980440" y="40316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Return vs leverage</a:t>
            </a:r>
            <a:endParaRPr lang="en-US" sz="1300" dirty="0"/>
          </a:p>
        </p:txBody>
      </p:sp>
      <p:sp>
        <p:nvSpPr>
          <p:cNvPr id="23" name="Text 21"/>
          <p:cNvSpPr/>
          <p:nvPr/>
        </p:nvSpPr>
        <p:spPr>
          <a:xfrm>
            <a:off x="2669540" y="4031617"/>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Scatter</a:t>
            </a:r>
            <a:endParaRPr lang="en-US" sz="1300" dirty="0"/>
          </a:p>
        </p:txBody>
      </p:sp>
      <p:sp>
        <p:nvSpPr>
          <p:cNvPr id="24" name="Text 22"/>
          <p:cNvSpPr/>
          <p:nvPr/>
        </p:nvSpPr>
        <p:spPr>
          <a:xfrm>
            <a:off x="4358640" y="4031617"/>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Who earns high returns without heavy debt?</a:t>
            </a:r>
            <a:endParaRPr lang="en-US" sz="1300" dirty="0"/>
          </a:p>
        </p:txBody>
      </p:sp>
      <p:sp>
        <p:nvSpPr>
          <p:cNvPr id="25" name="Text 23"/>
          <p:cNvSpPr/>
          <p:nvPr/>
        </p:nvSpPr>
        <p:spPr>
          <a:xfrm>
            <a:off x="8524240" y="4031617"/>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ROE (y) vs Debt / Equity (x)</a:t>
            </a:r>
            <a:endParaRPr lang="en-US" sz="1300" dirty="0"/>
          </a:p>
        </p:txBody>
      </p:sp>
      <p:sp>
        <p:nvSpPr>
          <p:cNvPr id="26" name="Shape 24"/>
          <p:cNvSpPr/>
          <p:nvPr/>
        </p:nvSpPr>
        <p:spPr>
          <a:xfrm>
            <a:off x="828040" y="4326892"/>
            <a:ext cx="10535920" cy="384175"/>
          </a:xfrm>
          <a:prstGeom prst="rect">
            <a:avLst/>
          </a:prstGeom>
          <a:solidFill>
            <a:srgbClr val="FDF3E7"/>
          </a:solidFill>
          <a:ln/>
        </p:spPr>
      </p:sp>
      <p:sp>
        <p:nvSpPr>
          <p:cNvPr id="27" name="Text 25"/>
          <p:cNvSpPr/>
          <p:nvPr/>
        </p:nvSpPr>
        <p:spPr>
          <a:xfrm>
            <a:off x="980440" y="44157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Growth ranking</a:t>
            </a:r>
            <a:endParaRPr lang="en-US" sz="1300" dirty="0"/>
          </a:p>
        </p:txBody>
      </p:sp>
      <p:sp>
        <p:nvSpPr>
          <p:cNvPr id="28" name="Text 26"/>
          <p:cNvSpPr/>
          <p:nvPr/>
        </p:nvSpPr>
        <p:spPr>
          <a:xfrm>
            <a:off x="2669540" y="4415792"/>
            <a:ext cx="163830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Bar</a:t>
            </a:r>
            <a:endParaRPr lang="en-US" sz="1300" dirty="0"/>
          </a:p>
        </p:txBody>
      </p:sp>
      <p:sp>
        <p:nvSpPr>
          <p:cNvPr id="29" name="Text 27"/>
          <p:cNvSpPr/>
          <p:nvPr/>
        </p:nvSpPr>
        <p:spPr>
          <a:xfrm>
            <a:off x="4358640" y="4415792"/>
            <a:ext cx="41859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Who is growing fastest?</a:t>
            </a:r>
            <a:endParaRPr lang="en-US" sz="1300" dirty="0"/>
          </a:p>
        </p:txBody>
      </p:sp>
      <p:sp>
        <p:nvSpPr>
          <p:cNvPr id="30" name="Text 28"/>
          <p:cNvSpPr/>
          <p:nvPr/>
        </p:nvSpPr>
        <p:spPr>
          <a:xfrm>
            <a:off x="8524240" y="4415792"/>
            <a:ext cx="287782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4A2A12"/>
                </a:solidFill>
                <a:latin typeface="Segoe UI" pitchFamily="34" charset="0"/>
                <a:ea typeface="Segoe UI" pitchFamily="34" charset="-122"/>
                <a:cs typeface="Segoe UI" pitchFamily="34" charset="-120"/>
              </a:rPr>
              <a:t>Revenue YoY %</a:t>
            </a:r>
            <a:endParaRPr lang="en-US" sz="1300" dirty="0"/>
          </a:p>
        </p:txBody>
      </p:sp>
      <p:sp>
        <p:nvSpPr>
          <p:cNvPr id="31" name="Text 29"/>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EF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8621C"/>
                </a:solidFill>
                <a:latin typeface="Segoe UI" pitchFamily="34" charset="0"/>
                <a:ea typeface="Segoe UI" pitchFamily="34" charset="-122"/>
                <a:cs typeface="Segoe UI" pitchFamily="34" charset="-120"/>
              </a:rPr>
              <a:t>NEXT</a:t>
            </a:r>
            <a:endParaRPr lang="en-US" sz="1400" dirty="0"/>
          </a:p>
        </p:txBody>
      </p:sp>
      <p:sp>
        <p:nvSpPr>
          <p:cNvPr id="3" name="Text 1"/>
          <p:cNvSpPr>
            <a:spLocks noGrp="1"/>
          </p:cNvSpPr>
          <p:nvPr>
            <p:ph type="title"/>
          </p:nvPr>
        </p:nvSpPr>
        <p:spPr>
          <a:xfrm>
            <a:off x="812800" y="1315727"/>
            <a:ext cx="108833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4A2A12"/>
                </a:solidFill>
                <a:latin typeface="Segoe UI" pitchFamily="34" charset="0"/>
                <a:ea typeface="Segoe UI" pitchFamily="34" charset="-122"/>
                <a:cs typeface="Segoe UI" pitchFamily="34" charset="-120"/>
              </a:rPr>
              <a:t>From brief to Power BI</a:t>
            </a:r>
            <a:endParaRPr lang="en-US" sz="3400" dirty="0"/>
          </a:p>
        </p:txBody>
      </p:sp>
      <p:sp>
        <p:nvSpPr>
          <p:cNvPr id="4" name="Shape 2"/>
          <p:cNvSpPr/>
          <p:nvPr/>
        </p:nvSpPr>
        <p:spPr>
          <a:xfrm>
            <a:off x="822325" y="2054225"/>
            <a:ext cx="2508250" cy="1835150"/>
          </a:xfrm>
          <a:prstGeom prst="roundRect">
            <a:avLst>
              <a:gd name="adj" fmla="val 9170"/>
            </a:avLst>
          </a:prstGeom>
          <a:solidFill>
            <a:srgbClr val="FFFFFF"/>
          </a:solidFill>
          <a:ln w="19050">
            <a:solidFill>
              <a:srgbClr val="D8621C"/>
            </a:solidFill>
            <a:prstDash val="solid"/>
          </a:ln>
        </p:spPr>
      </p:sp>
      <p:sp>
        <p:nvSpPr>
          <p:cNvPr id="5" name="Text 3"/>
          <p:cNvSpPr/>
          <p:nvPr/>
        </p:nvSpPr>
        <p:spPr>
          <a:xfrm>
            <a:off x="1005840" y="2237742"/>
            <a:ext cx="220545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8621C"/>
                </a:solidFill>
                <a:latin typeface="Segoe UI" pitchFamily="34" charset="0"/>
                <a:ea typeface="Segoe UI" pitchFamily="34" charset="-122"/>
                <a:cs typeface="Segoe UI" pitchFamily="34" charset="-120"/>
              </a:rPr>
              <a:t>1</a:t>
            </a:r>
            <a:endParaRPr lang="en-US" sz="3200" dirty="0"/>
          </a:p>
        </p:txBody>
      </p:sp>
      <p:sp>
        <p:nvSpPr>
          <p:cNvPr id="6" name="Text 4"/>
          <p:cNvSpPr/>
          <p:nvPr/>
        </p:nvSpPr>
        <p:spPr>
          <a:xfrm>
            <a:off x="1005840" y="2882900"/>
            <a:ext cx="220545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4A2A12"/>
                </a:solidFill>
                <a:latin typeface="Segoe UI" pitchFamily="34" charset="0"/>
                <a:ea typeface="Segoe UI" pitchFamily="34" charset="-122"/>
                <a:cs typeface="Segoe UI" pitchFamily="34" charset="-120"/>
              </a:rPr>
              <a:t>Apply the theme</a:t>
            </a:r>
            <a:endParaRPr lang="en-US" sz="1700" dirty="0"/>
          </a:p>
        </p:txBody>
      </p:sp>
      <p:sp>
        <p:nvSpPr>
          <p:cNvPr id="7" name="Text 5"/>
          <p:cNvSpPr/>
          <p:nvPr/>
        </p:nvSpPr>
        <p:spPr>
          <a:xfrm>
            <a:off x="1005840" y="3261358"/>
            <a:ext cx="2205457"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4A2A12"/>
                </a:solidFill>
                <a:latin typeface="Segoe UI" pitchFamily="34" charset="0"/>
                <a:ea typeface="Segoe UI" pitchFamily="34" charset="-122"/>
                <a:cs typeface="Segoe UI" pitchFamily="34" charset="-120"/>
              </a:rPr>
              <a:t>View › Themes › EGX_Financials_theme.json</a:t>
            </a:r>
            <a:endParaRPr lang="en-US" sz="1400" dirty="0"/>
          </a:p>
        </p:txBody>
      </p:sp>
      <p:sp>
        <p:nvSpPr>
          <p:cNvPr id="8" name="Shape 6"/>
          <p:cNvSpPr/>
          <p:nvPr/>
        </p:nvSpPr>
        <p:spPr>
          <a:xfrm>
            <a:off x="3502025" y="2054225"/>
            <a:ext cx="2508250" cy="1835150"/>
          </a:xfrm>
          <a:prstGeom prst="roundRect">
            <a:avLst>
              <a:gd name="adj" fmla="val 9170"/>
            </a:avLst>
          </a:prstGeom>
          <a:solidFill>
            <a:srgbClr val="FFFFFF"/>
          </a:solidFill>
          <a:ln w="19050">
            <a:solidFill>
              <a:srgbClr val="D8621C"/>
            </a:solidFill>
            <a:prstDash val="solid"/>
          </a:ln>
        </p:spPr>
      </p:sp>
      <p:sp>
        <p:nvSpPr>
          <p:cNvPr id="9" name="Text 7"/>
          <p:cNvSpPr/>
          <p:nvPr/>
        </p:nvSpPr>
        <p:spPr>
          <a:xfrm>
            <a:off x="3685540" y="2237742"/>
            <a:ext cx="220545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8621C"/>
                </a:solidFill>
                <a:latin typeface="Segoe UI" pitchFamily="34" charset="0"/>
                <a:ea typeface="Segoe UI" pitchFamily="34" charset="-122"/>
                <a:cs typeface="Segoe UI" pitchFamily="34" charset="-120"/>
              </a:rPr>
              <a:t>2</a:t>
            </a:r>
            <a:endParaRPr lang="en-US" sz="3200" dirty="0"/>
          </a:p>
        </p:txBody>
      </p:sp>
      <p:sp>
        <p:nvSpPr>
          <p:cNvPr id="10" name="Text 8"/>
          <p:cNvSpPr/>
          <p:nvPr/>
        </p:nvSpPr>
        <p:spPr>
          <a:xfrm>
            <a:off x="3685540" y="2882900"/>
            <a:ext cx="220545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4A2A12"/>
                </a:solidFill>
                <a:latin typeface="Segoe UI" pitchFamily="34" charset="0"/>
                <a:ea typeface="Segoe UI" pitchFamily="34" charset="-122"/>
                <a:cs typeface="Segoe UI" pitchFamily="34" charset="-120"/>
              </a:rPr>
              <a:t>Set backgrounds</a:t>
            </a:r>
            <a:endParaRPr lang="en-US" sz="1700" dirty="0"/>
          </a:p>
        </p:txBody>
      </p:sp>
      <p:sp>
        <p:nvSpPr>
          <p:cNvPr id="11" name="Text 9"/>
          <p:cNvSpPr/>
          <p:nvPr/>
        </p:nvSpPr>
        <p:spPr>
          <a:xfrm>
            <a:off x="3685540" y="3261358"/>
            <a:ext cx="2205457"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4A2A12"/>
                </a:solidFill>
                <a:latin typeface="Segoe UI" pitchFamily="34" charset="0"/>
                <a:ea typeface="Segoe UI" pitchFamily="34" charset="-122"/>
                <a:cs typeface="Segoe UI" pitchFamily="34" charset="-120"/>
              </a:rPr>
              <a:t>One 1280×720 image per page</a:t>
            </a:r>
            <a:endParaRPr lang="en-US" sz="1400" dirty="0"/>
          </a:p>
        </p:txBody>
      </p:sp>
      <p:sp>
        <p:nvSpPr>
          <p:cNvPr id="12" name="Shape 10"/>
          <p:cNvSpPr/>
          <p:nvPr/>
        </p:nvSpPr>
        <p:spPr>
          <a:xfrm>
            <a:off x="6181725" y="2054225"/>
            <a:ext cx="2508250" cy="1835150"/>
          </a:xfrm>
          <a:prstGeom prst="roundRect">
            <a:avLst>
              <a:gd name="adj" fmla="val 9170"/>
            </a:avLst>
          </a:prstGeom>
          <a:solidFill>
            <a:srgbClr val="FFFFFF"/>
          </a:solidFill>
          <a:ln w="19050">
            <a:solidFill>
              <a:srgbClr val="D8621C"/>
            </a:solidFill>
            <a:prstDash val="solid"/>
          </a:ln>
        </p:spPr>
      </p:sp>
      <p:sp>
        <p:nvSpPr>
          <p:cNvPr id="13" name="Text 11"/>
          <p:cNvSpPr/>
          <p:nvPr/>
        </p:nvSpPr>
        <p:spPr>
          <a:xfrm>
            <a:off x="6365240" y="2237742"/>
            <a:ext cx="220545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8621C"/>
                </a:solidFill>
                <a:latin typeface="Segoe UI" pitchFamily="34" charset="0"/>
                <a:ea typeface="Segoe UI" pitchFamily="34" charset="-122"/>
                <a:cs typeface="Segoe UI" pitchFamily="34" charset="-120"/>
              </a:rPr>
              <a:t>3</a:t>
            </a:r>
            <a:endParaRPr lang="en-US" sz="3200" dirty="0"/>
          </a:p>
        </p:txBody>
      </p:sp>
      <p:sp>
        <p:nvSpPr>
          <p:cNvPr id="14" name="Text 12"/>
          <p:cNvSpPr/>
          <p:nvPr/>
        </p:nvSpPr>
        <p:spPr>
          <a:xfrm>
            <a:off x="6365240" y="2882900"/>
            <a:ext cx="220545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4A2A12"/>
                </a:solidFill>
                <a:latin typeface="Segoe UI" pitchFamily="34" charset="0"/>
                <a:ea typeface="Segoe UI" pitchFamily="34" charset="-122"/>
                <a:cs typeface="Segoe UI" pitchFamily="34" charset="-120"/>
              </a:rPr>
              <a:t>Place visuals</a:t>
            </a:r>
            <a:endParaRPr lang="en-US" sz="1700" dirty="0"/>
          </a:p>
        </p:txBody>
      </p:sp>
      <p:sp>
        <p:nvSpPr>
          <p:cNvPr id="15" name="Text 13"/>
          <p:cNvSpPr/>
          <p:nvPr/>
        </p:nvSpPr>
        <p:spPr>
          <a:xfrm>
            <a:off x="6365240" y="3261358"/>
            <a:ext cx="2205457"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4A2A12"/>
                </a:solidFill>
                <a:latin typeface="Segoe UI" pitchFamily="34" charset="0"/>
                <a:ea typeface="Segoe UI" pitchFamily="34" charset="-122"/>
                <a:cs typeface="Segoe UI" pitchFamily="34" charset="-120"/>
              </a:rPr>
              <a:t>On the white cards, as in these mockups</a:t>
            </a:r>
            <a:endParaRPr lang="en-US" sz="1400" dirty="0"/>
          </a:p>
        </p:txBody>
      </p:sp>
      <p:sp>
        <p:nvSpPr>
          <p:cNvPr id="16" name="Shape 14"/>
          <p:cNvSpPr/>
          <p:nvPr/>
        </p:nvSpPr>
        <p:spPr>
          <a:xfrm>
            <a:off x="8861425" y="2054225"/>
            <a:ext cx="2508250" cy="1835150"/>
          </a:xfrm>
          <a:prstGeom prst="roundRect">
            <a:avLst>
              <a:gd name="adj" fmla="val 9170"/>
            </a:avLst>
          </a:prstGeom>
          <a:solidFill>
            <a:srgbClr val="FFFFFF"/>
          </a:solidFill>
          <a:ln w="19050">
            <a:solidFill>
              <a:srgbClr val="D8621C"/>
            </a:solidFill>
            <a:prstDash val="solid"/>
          </a:ln>
        </p:spPr>
      </p:sp>
      <p:sp>
        <p:nvSpPr>
          <p:cNvPr id="17" name="Text 15"/>
          <p:cNvSpPr/>
          <p:nvPr/>
        </p:nvSpPr>
        <p:spPr>
          <a:xfrm>
            <a:off x="9044940" y="2237742"/>
            <a:ext cx="220545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8621C"/>
                </a:solidFill>
                <a:latin typeface="Segoe UI" pitchFamily="34" charset="0"/>
                <a:ea typeface="Segoe UI" pitchFamily="34" charset="-122"/>
                <a:cs typeface="Segoe UI" pitchFamily="34" charset="-120"/>
              </a:rPr>
              <a:t>4</a:t>
            </a:r>
            <a:endParaRPr lang="en-US" sz="3200" dirty="0"/>
          </a:p>
        </p:txBody>
      </p:sp>
      <p:sp>
        <p:nvSpPr>
          <p:cNvPr id="18" name="Text 16"/>
          <p:cNvSpPr/>
          <p:nvPr/>
        </p:nvSpPr>
        <p:spPr>
          <a:xfrm>
            <a:off x="9044940" y="2882900"/>
            <a:ext cx="220545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4A2A12"/>
                </a:solidFill>
                <a:latin typeface="Segoe UI" pitchFamily="34" charset="0"/>
                <a:ea typeface="Segoe UI" pitchFamily="34" charset="-122"/>
                <a:cs typeface="Segoe UI" pitchFamily="34" charset="-120"/>
              </a:rPr>
              <a:t>Check numbers</a:t>
            </a:r>
            <a:endParaRPr lang="en-US" sz="1700" dirty="0"/>
          </a:p>
        </p:txBody>
      </p:sp>
      <p:sp>
        <p:nvSpPr>
          <p:cNvPr id="19" name="Text 17"/>
          <p:cNvSpPr/>
          <p:nvPr/>
        </p:nvSpPr>
        <p:spPr>
          <a:xfrm>
            <a:off x="9044940" y="3261358"/>
            <a:ext cx="2205457"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4A2A12"/>
                </a:solidFill>
                <a:latin typeface="Segoe UI" pitchFamily="34" charset="0"/>
                <a:ea typeface="Segoe UI" pitchFamily="34" charset="-122"/>
                <a:cs typeface="Segoe UI" pitchFamily="34" charset="-120"/>
              </a:rPr>
              <a:t>Assets = Liabilities + Equity, every period</a:t>
            </a:r>
            <a:endParaRPr lang="en-US" sz="1400" dirty="0"/>
          </a:p>
        </p:txBody>
      </p:sp>
      <p:sp>
        <p:nvSpPr>
          <p:cNvPr id="20" name="Text 18"/>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44"/>
                </a:solidFill>
                <a:latin typeface="Segoe UI" pitchFamily="34" charset="0"/>
                <a:ea typeface="Segoe UI" pitchFamily="34" charset="-122"/>
                <a:cs typeface="Segoe UI" pitchFamily="34" charset="-120"/>
              </a:rPr>
              <a:t>Financial Performance Dashboard · Design brief · 17</a:t>
            </a:r>
            <a:endParaRPr lang="en-US" sz="1200" dirty="0"/>
          </a:p>
        </p:txBody>
      </p:sp>
    </p:spTree>
  </p:cSld>
  <p:clrMapOvr>
    <a:masterClrMapping/>
  </p:clrMapOvr>
</p:sld>
</file>

<file path=ppt/theme/theme1.xml><?xml version="1.0" encoding="utf-8"?>
<a:theme xmlns:a="http://schemas.openxmlformats.org/drawingml/2006/main" name="Financial Performance Dashboard">
  <a:themeElements>
    <a:clrScheme name="Financial Performance Dashboard">
      <a:dk1>
        <a:srgbClr val="4A2A12"/>
      </a:dk1>
      <a:lt1>
        <a:srgbClr val="FDEFDC"/>
      </a:lt1>
      <a:dk2>
        <a:srgbClr val="775B45"/>
      </a:dk2>
      <a:lt2>
        <a:srgbClr val="EBDBC8"/>
      </a:lt2>
      <a:accent1>
        <a:srgbClr val="D8621C"/>
      </a:accent1>
      <a:accent2>
        <a:srgbClr val="6B3A18"/>
      </a:accent2>
      <a:accent3>
        <a:srgbClr val="7A5A44"/>
      </a:accent3>
      <a:accent4>
        <a:srgbClr val="E8AE84"/>
      </a:accent4>
      <a:accent5>
        <a:srgbClr val="F4B04F"/>
      </a:accent5>
      <a:accent6>
        <a:srgbClr val="B6452C"/>
      </a:accent6>
      <a:hlink>
        <a:srgbClr val="0563C1"/>
      </a:hlink>
      <a:folHlink>
        <a:srgbClr val="954F72"/>
      </a:folHlink>
    </a:clrScheme>
    <a:fontScheme name="Financial Performance Dashboard">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1702</Words>
  <Application>Microsoft Office PowerPoint</Application>
  <PresentationFormat>Widescreen</PresentationFormat>
  <Paragraphs>283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Segoe UI</vt:lpstr>
      <vt:lpstr>Financial Performance Dashboard</vt:lpstr>
      <vt:lpstr>Financial Performance Dashboard</vt:lpstr>
      <vt:lpstr>Six pages, six questions</vt:lpstr>
      <vt:lpstr>One meaning per color, on every page</vt:lpstr>
      <vt:lpstr>Every page reads the same way</vt:lpstr>
      <vt:lpstr>PowerPoint Presentation</vt:lpstr>
      <vt:lpstr>Each visual and its job</vt:lpstr>
      <vt:lpstr>PowerPoint Presentation</vt:lpstr>
      <vt:lpstr>Each visual and its job</vt:lpstr>
      <vt:lpstr>PowerPoint Presentation</vt:lpstr>
      <vt:lpstr>Each visual and its job</vt:lpstr>
      <vt:lpstr>PowerPoint Presentation</vt:lpstr>
      <vt:lpstr>Each visual and its job</vt:lpstr>
      <vt:lpstr>PowerPoint Presentation</vt:lpstr>
      <vt:lpstr>Each visual and its job</vt:lpstr>
      <vt:lpstr>PowerPoint Presentation</vt:lpstr>
      <vt:lpstr>Each visual and its job</vt:lpstr>
      <vt:lpstr>From brief to Power BI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Performance Dashboard</dc:title>
  <dc:subject/>
  <dc:creator/>
  <cp:lastModifiedBy>Moawia Sabour</cp:lastModifiedBy>
  <cp:revision>2</cp:revision>
  <dcterms:created xsi:type="dcterms:W3CDTF">2026-10-23T18:36:35Z</dcterms:created>
  <dcterms:modified xsi:type="dcterms:W3CDTF">2026-10-23T18:45:20Z</dcterms:modified>
</cp:coreProperties>
</file>