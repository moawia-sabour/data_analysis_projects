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Inter" panose="02000503000000020004"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1EFE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335280"/>
          </a:xfrm>
          <a:prstGeom prst="rect">
            <a:avLst/>
          </a:prstGeom>
          <a:noFill/>
          <a:ln/>
        </p:spPr>
        <p:txBody>
          <a:bodyPr wrap="square" lIns="0" tIns="0" rIns="0" bIns="0" rtlCol="0" anchor="t"/>
          <a:lstStyle>
            <a:lvl1pPr algn="l" indent="0" marL="0">
              <a:lnSpc>
                <a:spcPct val="115000"/>
              </a:lnSpc>
              <a:buNone/>
              <a:defRPr lang="en-US" sz="2400" dirty="0">
                <a:solidFill>
                  <a:srgbClr val="111111"/>
                </a:solidFill>
                <a:latin typeface="Inter" pitchFamily="34" charset="0"/>
                <a:ea typeface="Inter" pitchFamily="34" charset="-122"/>
                <a:cs typeface="Inter"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17041"/>
            <a:ext cx="10566400" cy="4328159"/>
          </a:xfrm>
          <a:prstGeom prst="rect">
            <a:avLst/>
          </a:prstGeom>
          <a:noFill/>
          <a:ln/>
        </p:spPr>
        <p:txBody>
          <a:bodyPr wrap="square" lIns="0" tIns="0" rIns="0" bIns="0" rtlCol="0" anchor="t"/>
          <a:lstStyle>
            <a:lvl1pPr algn="l" indent="0" marL="0">
              <a:lnSpc>
                <a:spcPct val="140000"/>
              </a:lnSpc>
              <a:buNone/>
              <a:defRPr lang="en-US" sz="1600" dirty="0">
                <a:solidFill>
                  <a:srgbClr val="111111"/>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1EFE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335280"/>
          </a:xfrm>
          <a:prstGeom prst="rect">
            <a:avLst/>
          </a:prstGeom>
          <a:noFill/>
          <a:ln/>
        </p:spPr>
        <p:txBody>
          <a:bodyPr wrap="square" lIns="0" tIns="0" rIns="0" bIns="0" rtlCol="0" anchor="t"/>
          <a:lstStyle>
            <a:lvl1pPr algn="l" indent="0" marL="0">
              <a:lnSpc>
                <a:spcPct val="115000"/>
              </a:lnSpc>
              <a:buNone/>
              <a:defRPr lang="en-US" sz="2400" dirty="0">
                <a:solidFill>
                  <a:srgbClr val="111111"/>
                </a:solidFill>
                <a:latin typeface="Inter" pitchFamily="34" charset="0"/>
                <a:ea typeface="Inter" pitchFamily="34" charset="-122"/>
                <a:cs typeface="Inter"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17041"/>
            <a:ext cx="10566400" cy="4328159"/>
          </a:xfrm>
          <a:prstGeom prst="rect">
            <a:avLst/>
          </a:prstGeom>
          <a:noFill/>
          <a:ln/>
        </p:spPr>
        <p:txBody>
          <a:bodyPr wrap="square" lIns="0" tIns="0" rIns="0" bIns="0" rtlCol="0" anchor="t"/>
          <a:lstStyle>
            <a:lvl1pPr algn="l" indent="0" marL="0">
              <a:lnSpc>
                <a:spcPct val="140000"/>
              </a:lnSpc>
              <a:buNone/>
              <a:defRPr lang="en-US" sz="1600" dirty="0">
                <a:solidFill>
                  <a:srgbClr val="111111"/>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812800" y="609600"/>
            <a:ext cx="2667000" cy="952500"/>
          </a:xfrm>
          <a:prstGeom prst="roundRect">
            <a:avLst>
              <a:gd name="adj" fmla="val 13333"/>
            </a:avLst>
          </a:prstGeom>
          <a:solidFill>
            <a:srgbClr val="FFFFFF"/>
          </a:solidFill>
          <a:ln/>
        </p:spPr>
      </p:sp>
      <p:pic>
        <p:nvPicPr>
          <p:cNvPr id="3" name="Image 0" descr="Edita logo">    </p:cNvPr>
          <p:cNvPicPr>
            <a:picLocks noChangeAspect="1"/>
          </p:cNvPicPr>
          <p:nvPr/>
        </p:nvPicPr>
        <p:blipFill>
          <a:blip r:embed="rId1"/>
          <a:srcRect l="0" r="0" t="-20" b="-20"/>
          <a:stretch/>
        </p:blipFill>
        <p:spPr>
          <a:xfrm>
            <a:off x="1066800" y="688975"/>
            <a:ext cx="2159000" cy="793750"/>
          </a:xfrm>
          <a:prstGeom prst="rect">
            <a:avLst/>
          </a:prstGeom>
        </p:spPr>
      </p:pic>
      <p:sp>
        <p:nvSpPr>
          <p:cNvPr id="4" name="Text 1"/>
          <p:cNvSpPr/>
          <p:nvPr/>
        </p:nvSpPr>
        <p:spPr>
          <a:xfrm>
            <a:off x="812800" y="18161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730C"/>
                </a:solidFill>
                <a:latin typeface="Inter" pitchFamily="34" charset="0"/>
                <a:ea typeface="Inter" pitchFamily="34" charset="-122"/>
                <a:cs typeface="Inter" pitchFamily="34" charset="-120"/>
              </a:rPr>
              <a:t>EGX: EFID · POWER BI PROJECT</a:t>
            </a:r>
            <a:endParaRPr lang="en-US" sz="1400" dirty="0"/>
          </a:p>
        </p:txBody>
      </p:sp>
      <p:sp>
        <p:nvSpPr>
          <p:cNvPr id="5" name="Text 2"/>
          <p:cNvSpPr/>
          <p:nvPr>
            <p:ph type="title"/>
          </p:nvPr>
        </p:nvSpPr>
        <p:spPr>
          <a:xfrm>
            <a:off x="812800" y="2192020"/>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1EFED"/>
                </a:solidFill>
                <a:latin typeface="Inter" pitchFamily="34" charset="0"/>
                <a:ea typeface="Inter" pitchFamily="34" charset="-122"/>
                <a:cs typeface="Inter" pitchFamily="34" charset="-120"/>
              </a:rPr>
              <a:t>Financial Performance Dashboard</a:t>
            </a:r>
            <a:endParaRPr lang="en-US" sz="4800" dirty="0"/>
          </a:p>
        </p:txBody>
      </p:sp>
      <p:sp>
        <p:nvSpPr>
          <p:cNvPr id="6" name="Text 3"/>
          <p:cNvSpPr/>
          <p:nvPr/>
        </p:nvSpPr>
        <p:spPr>
          <a:xfrm>
            <a:off x="812800" y="295910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FCFCF"/>
                </a:solidFill>
                <a:latin typeface="Inter" pitchFamily="34" charset="0"/>
                <a:ea typeface="Inter" pitchFamily="34" charset="-122"/>
                <a:cs typeface="Inter" pitchFamily="34" charset="-120"/>
              </a:rPr>
              <a:t>Is Edita growing profitably, and is it sustainable?</a:t>
            </a:r>
            <a:endParaRPr lang="en-US" sz="1800" dirty="0"/>
          </a:p>
        </p:txBody>
      </p:sp>
      <p:sp>
        <p:nvSpPr>
          <p:cNvPr id="7" name="Text 4"/>
          <p:cNvSpPr/>
          <p:nvPr/>
        </p:nvSpPr>
        <p:spPr>
          <a:xfrm>
            <a:off x="812800" y="6238240"/>
            <a:ext cx="387543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Moawia Mohamed · Entry-Level Data Analyst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FE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30C"/>
                </a:solidFill>
                <a:latin typeface="Inter" pitchFamily="34" charset="0"/>
                <a:ea typeface="Inter" pitchFamily="34" charset="-122"/>
                <a:cs typeface="Inter" pitchFamily="34" charset="-120"/>
              </a:rPr>
              <a:t>THE PROBLEM AND WHAT I BUILT</a:t>
            </a:r>
            <a:endParaRPr lang="en-US" sz="1200" dirty="0"/>
          </a:p>
        </p:txBody>
      </p:sp>
      <p:sp>
        <p:nvSpPr>
          <p:cNvPr id="3" name="Text 1"/>
          <p:cNvSpPr/>
          <p:nvPr>
            <p:ph type="title"/>
          </p:nvPr>
        </p:nvSpPr>
        <p:spPr>
          <a:xfrm>
            <a:off x="812800" y="107696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11111"/>
                </a:solidFill>
                <a:latin typeface="Inter" pitchFamily="34" charset="0"/>
                <a:ea typeface="Inter" pitchFamily="34" charset="-122"/>
                <a:cs typeface="Inter" pitchFamily="34" charset="-120"/>
              </a:rPr>
              <a:t>Raw statements do not say if growth is sustainable</a:t>
            </a:r>
            <a:endParaRPr lang="en-US" sz="2800" dirty="0"/>
          </a:p>
        </p:txBody>
      </p:sp>
      <p:sp>
        <p:nvSpPr>
          <p:cNvPr id="4" name="Shape 2"/>
          <p:cNvSpPr/>
          <p:nvPr/>
        </p:nvSpPr>
        <p:spPr>
          <a:xfrm>
            <a:off x="819150" y="1728470"/>
            <a:ext cx="5168900" cy="1242060"/>
          </a:xfrm>
          <a:prstGeom prst="roundRect">
            <a:avLst>
              <a:gd name="adj" fmla="val 7669"/>
            </a:avLst>
          </a:prstGeom>
          <a:solidFill>
            <a:srgbClr val="FFFFFF"/>
          </a:solidFill>
          <a:ln w="12700">
            <a:solidFill>
              <a:srgbClr val="C0392B"/>
            </a:solidFill>
            <a:prstDash val="solid"/>
          </a:ln>
        </p:spPr>
      </p:sp>
      <p:sp>
        <p:nvSpPr>
          <p:cNvPr id="5" name="Text 3"/>
          <p:cNvSpPr/>
          <p:nvPr/>
        </p:nvSpPr>
        <p:spPr>
          <a:xfrm>
            <a:off x="1026160" y="1910080"/>
            <a:ext cx="48975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Problem solved</a:t>
            </a:r>
            <a:endParaRPr lang="en-US" sz="1300" dirty="0"/>
          </a:p>
        </p:txBody>
      </p:sp>
      <p:sp>
        <p:nvSpPr>
          <p:cNvPr id="6" name="Text 4"/>
          <p:cNvSpPr/>
          <p:nvPr/>
        </p:nvSpPr>
        <p:spPr>
          <a:xfrm>
            <a:off x="1026160" y="2171700"/>
            <a:ext cx="489752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Edita reports 20 quarters of income, balance sheet and cash flow data. On their own, the numbers do not show whether growth is profitable, funded safely, or turning into cash.</a:t>
            </a:r>
            <a:endParaRPr lang="en-US" sz="1200" dirty="0"/>
          </a:p>
        </p:txBody>
      </p:sp>
      <p:sp>
        <p:nvSpPr>
          <p:cNvPr id="7" name="Shape 5"/>
          <p:cNvSpPr/>
          <p:nvPr/>
        </p:nvSpPr>
        <p:spPr>
          <a:xfrm>
            <a:off x="819150" y="3110230"/>
            <a:ext cx="5168900" cy="830580"/>
          </a:xfrm>
          <a:prstGeom prst="roundRect">
            <a:avLst>
              <a:gd name="adj" fmla="val 11468"/>
            </a:avLst>
          </a:prstGeom>
          <a:solidFill>
            <a:srgbClr val="FFFFFF"/>
          </a:solidFill>
          <a:ln w="12700">
            <a:solidFill>
              <a:srgbClr val="E8730C"/>
            </a:solidFill>
            <a:prstDash val="solid"/>
          </a:ln>
        </p:spPr>
      </p:sp>
      <p:sp>
        <p:nvSpPr>
          <p:cNvPr id="8" name="Text 6"/>
          <p:cNvSpPr/>
          <p:nvPr/>
        </p:nvSpPr>
        <p:spPr>
          <a:xfrm>
            <a:off x="1026160" y="3291840"/>
            <a:ext cx="48975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Business question</a:t>
            </a:r>
            <a:endParaRPr lang="en-US" sz="1300" dirty="0"/>
          </a:p>
        </p:txBody>
      </p:sp>
      <p:sp>
        <p:nvSpPr>
          <p:cNvPr id="9" name="Text 7"/>
          <p:cNvSpPr/>
          <p:nvPr/>
        </p:nvSpPr>
        <p:spPr>
          <a:xfrm>
            <a:off x="1026160" y="3553460"/>
            <a:ext cx="489752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Is Edita growing profitably, and what could slow it down?</a:t>
            </a:r>
            <a:endParaRPr lang="en-US" sz="1200" dirty="0"/>
          </a:p>
        </p:txBody>
      </p:sp>
      <p:sp>
        <p:nvSpPr>
          <p:cNvPr id="10" name="Shape 8"/>
          <p:cNvSpPr/>
          <p:nvPr/>
        </p:nvSpPr>
        <p:spPr>
          <a:xfrm>
            <a:off x="6203950" y="1728470"/>
            <a:ext cx="5168900" cy="1242060"/>
          </a:xfrm>
          <a:prstGeom prst="roundRect">
            <a:avLst>
              <a:gd name="adj" fmla="val 7669"/>
            </a:avLst>
          </a:prstGeom>
          <a:solidFill>
            <a:srgbClr val="FFFFFF"/>
          </a:solidFill>
          <a:ln w="12700">
            <a:solidFill>
              <a:srgbClr val="D8D4D0"/>
            </a:solidFill>
            <a:prstDash val="solid"/>
          </a:ln>
        </p:spPr>
      </p:sp>
      <p:sp>
        <p:nvSpPr>
          <p:cNvPr id="11" name="Text 9"/>
          <p:cNvSpPr/>
          <p:nvPr/>
        </p:nvSpPr>
        <p:spPr>
          <a:xfrm>
            <a:off x="6410960" y="1910080"/>
            <a:ext cx="48975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What I built</a:t>
            </a:r>
            <a:endParaRPr lang="en-US" sz="1300" dirty="0"/>
          </a:p>
        </p:txBody>
      </p:sp>
      <p:sp>
        <p:nvSpPr>
          <p:cNvPr id="12" name="Text 10"/>
          <p:cNvSpPr/>
          <p:nvPr/>
        </p:nvSpPr>
        <p:spPr>
          <a:xfrm>
            <a:off x="6410960" y="2171700"/>
            <a:ext cx="489752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A Python ETL that collects quarterly statements from Stock Analysis into one Excel file (196 EGX companies, 215,925 rows), then an Edita extract for Power BI.</a:t>
            </a:r>
            <a:endParaRPr lang="en-US" sz="1200" dirty="0"/>
          </a:p>
        </p:txBody>
      </p:sp>
      <p:sp>
        <p:nvSpPr>
          <p:cNvPr id="13" name="Shape 11"/>
          <p:cNvSpPr/>
          <p:nvPr/>
        </p:nvSpPr>
        <p:spPr>
          <a:xfrm>
            <a:off x="6203950" y="3110230"/>
            <a:ext cx="5168900" cy="1036320"/>
          </a:xfrm>
          <a:prstGeom prst="roundRect">
            <a:avLst>
              <a:gd name="adj" fmla="val 9191"/>
            </a:avLst>
          </a:prstGeom>
          <a:solidFill>
            <a:srgbClr val="FFFFFF"/>
          </a:solidFill>
          <a:ln w="12700">
            <a:solidFill>
              <a:srgbClr val="D8D4D0"/>
            </a:solidFill>
            <a:prstDash val="solid"/>
          </a:ln>
        </p:spPr>
      </p:sp>
      <p:sp>
        <p:nvSpPr>
          <p:cNvPr id="14" name="Text 12"/>
          <p:cNvSpPr/>
          <p:nvPr/>
        </p:nvSpPr>
        <p:spPr>
          <a:xfrm>
            <a:off x="6410960" y="3291840"/>
            <a:ext cx="48975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Dashboard</a:t>
            </a:r>
            <a:endParaRPr lang="en-US" sz="1300" dirty="0"/>
          </a:p>
        </p:txBody>
      </p:sp>
      <p:sp>
        <p:nvSpPr>
          <p:cNvPr id="15" name="Text 13"/>
          <p:cNvSpPr/>
          <p:nvPr/>
        </p:nvSpPr>
        <p:spPr>
          <a:xfrm>
            <a:off x="6410960" y="3553460"/>
            <a:ext cx="48975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6 pages with DAX measures for growth, margins, funding, liquidity, working capital and risk.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FE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30C"/>
                </a:solidFill>
                <a:latin typeface="Inter" pitchFamily="34" charset="0"/>
                <a:ea typeface="Inter" pitchFamily="34" charset="-122"/>
                <a:cs typeface="Inter" pitchFamily="34" charset="-120"/>
              </a:rPr>
              <a:t>DASHBOARD PAGES</a:t>
            </a:r>
            <a:endParaRPr lang="en-US" sz="1200" dirty="0"/>
          </a:p>
        </p:txBody>
      </p:sp>
      <p:sp>
        <p:nvSpPr>
          <p:cNvPr id="3" name="Text 1"/>
          <p:cNvSpPr/>
          <p:nvPr>
            <p:ph type="title"/>
          </p:nvPr>
        </p:nvSpPr>
        <p:spPr>
          <a:xfrm>
            <a:off x="812800" y="10769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11111"/>
                </a:solidFill>
                <a:latin typeface="Inter" pitchFamily="34" charset="0"/>
                <a:ea typeface="Inter" pitchFamily="34" charset="-122"/>
                <a:cs typeface="Inter" pitchFamily="34" charset="-120"/>
              </a:rPr>
              <a:t>Six pages, one business question each</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32280"/>
          <a:ext cx="10556240" cy="4231640"/>
        </p:xfrm>
        <a:graphic>
          <a:graphicData uri="http://schemas.openxmlformats.org/drawingml/2006/table">
            <a:tbl>
              <a:tblPr/>
              <a:tblGrid>
                <a:gridCol w="3518747"/>
                <a:gridCol w="3518747"/>
                <a:gridCol w="3518747"/>
              </a:tblGrid>
              <a:tr h="462280">
                <a:tc>
                  <a:txBody>
                    <a:bodyPr/>
                    <a:lstStyle/>
                    <a:p>
                      <a:pPr indent="0" marL="0">
                        <a:lnSpc>
                          <a:spcPts val="1960"/>
                        </a:lnSpc>
                        <a:buNone/>
                      </a:pPr>
                      <a:r>
                        <a:rPr lang="en-US" sz="1400" b="1" dirty="0">
                          <a:solidFill>
                            <a:srgbClr val="F1EFED"/>
                          </a:solidFill>
                          <a:latin typeface="Inter" pitchFamily="34" charset="0"/>
                          <a:ea typeface="Inter" pitchFamily="34" charset="-122"/>
                          <a:cs typeface="Inter" pitchFamily="34" charset="-120"/>
                        </a:rPr>
                        <a:t>#</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c>
                  <a:txBody>
                    <a:bodyPr/>
                    <a:lstStyle/>
                    <a:p>
                      <a:pPr indent="0" marL="0">
                        <a:lnSpc>
                          <a:spcPts val="1960"/>
                        </a:lnSpc>
                        <a:buNone/>
                      </a:pPr>
                      <a:r>
                        <a:rPr lang="en-US" sz="1400" b="1" dirty="0">
                          <a:solidFill>
                            <a:srgbClr val="F1EFED"/>
                          </a:solidFill>
                          <a:latin typeface="Inter" pitchFamily="34" charset="0"/>
                          <a:ea typeface="Inter" pitchFamily="34" charset="-122"/>
                          <a:cs typeface="Inter" pitchFamily="34" charset="-120"/>
                        </a:rPr>
                        <a:t>Page</a:t>
                      </a:r>
                      <a:endParaRPr lang="en-US" sz="1400" dirty="0">
                        <a:latin typeface="Inter" charset="0"/>
                        <a:ea typeface="Inter" charset="0"/>
                        <a:cs typeface="Inter" charset="0"/>
                      </a:endParaRPr>
                    </a:p>
                  </a:txBody>
                  <a:tcPr marL="101600" marR="101600" marT="101600" marB="101600" anchor="t">
                    <a:lnL w="12700" cap="flat" cmpd="sng" algn="ctr">
                      <a:solidFill>
                        <a:srgbClr val="121211"/>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c>
                  <a:txBody>
                    <a:bodyPr/>
                    <a:lstStyle/>
                    <a:p>
                      <a:pPr indent="0" marL="0">
                        <a:lnSpc>
                          <a:spcPts val="1960"/>
                        </a:lnSpc>
                        <a:buNone/>
                      </a:pPr>
                      <a:r>
                        <a:rPr lang="en-US" sz="1400" b="1" dirty="0">
                          <a:solidFill>
                            <a:srgbClr val="F1EFED"/>
                          </a:solidFill>
                          <a:latin typeface="Inter" pitchFamily="34" charset="0"/>
                          <a:ea typeface="Inter" pitchFamily="34" charset="-122"/>
                          <a:cs typeface="Inter" pitchFamily="34" charset="-120"/>
                        </a:rPr>
                        <a:t>Question it answers</a:t>
                      </a:r>
                      <a:endParaRPr lang="en-US" sz="1400" dirty="0">
                        <a:latin typeface="Inter" charset="0"/>
                        <a:ea typeface="Inter" charset="0"/>
                        <a:cs typeface="Inter" charset="0"/>
                      </a:endParaRPr>
                    </a:p>
                  </a:txBody>
                  <a:tcPr marL="101600" marR="101600" marT="101600" marB="101600" anchor="t">
                    <a:lnL w="12700" cap="flat" cmpd="sng" algn="ctr">
                      <a:solidFill>
                        <a:srgbClr val="121211"/>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r>
              <a:tr h="711200">
                <a:tc>
                  <a:txBody>
                    <a:bodyPr/>
                    <a:lstStyle/>
                    <a:p>
                      <a:pPr indent="0" marL="0">
                        <a:lnSpc>
                          <a:spcPts val="1960"/>
                        </a:lnSpc>
                        <a:buNone/>
                      </a:pPr>
                      <a:r>
                        <a:rPr lang="en-US" sz="1400" dirty="0">
                          <a:solidFill>
                            <a:srgbClr val="E8730C"/>
                          </a:solidFill>
                          <a:latin typeface="Inter" pitchFamily="34" charset="0"/>
                          <a:ea typeface="Inter" pitchFamily="34" charset="-122"/>
                          <a:cs typeface="Inter" pitchFamily="34" charset="-120"/>
                        </a:rPr>
                        <a:t>1</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Inter" pitchFamily="34" charset="0"/>
                          <a:ea typeface="Inter" pitchFamily="34" charset="-122"/>
                          <a:cs typeface="Inter" pitchFamily="34" charset="-120"/>
                        </a:rPr>
                        <a:t>Overview</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c>
                  <a:txBody>
                    <a:bodyPr/>
                    <a:lstStyle/>
                    <a:p>
                      <a:pPr indent="0" marL="0">
                        <a:lnSpc>
                          <a:spcPts val="1960"/>
                        </a:lnSpc>
                        <a:buNone/>
                      </a:pPr>
                      <a:r>
                        <a:rPr lang="en-US" sz="1400" dirty="0">
                          <a:solidFill>
                            <a:srgbClr val="2B2B2B"/>
                          </a:solidFill>
                          <a:latin typeface="Inter" pitchFamily="34" charset="0"/>
                          <a:ea typeface="Inter" pitchFamily="34" charset="-122"/>
                          <a:cs typeface="Inter" pitchFamily="34" charset="-120"/>
                        </a:rPr>
                        <a:t>How is the company performing financially?</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r>
              <a:tr h="462280">
                <a:tc>
                  <a:txBody>
                    <a:bodyPr/>
                    <a:lstStyle/>
                    <a:p>
                      <a:pPr indent="0" marL="0">
                        <a:lnSpc>
                          <a:spcPts val="1960"/>
                        </a:lnSpc>
                        <a:buNone/>
                      </a:pPr>
                      <a:r>
                        <a:rPr lang="en-US" sz="1400" dirty="0">
                          <a:solidFill>
                            <a:srgbClr val="E8730C"/>
                          </a:solidFill>
                          <a:latin typeface="Inter" pitchFamily="34" charset="0"/>
                          <a:ea typeface="Inter" pitchFamily="34" charset="-122"/>
                          <a:cs typeface="Inter" pitchFamily="34" charset="-120"/>
                        </a:rPr>
                        <a:t>2</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Inter" pitchFamily="34" charset="0"/>
                          <a:ea typeface="Inter" pitchFamily="34" charset="-122"/>
                          <a:cs typeface="Inter" pitchFamily="34" charset="-120"/>
                        </a:rPr>
                        <a:t>Profit &amp; Loss</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c>
                  <a:txBody>
                    <a:bodyPr/>
                    <a:lstStyle/>
                    <a:p>
                      <a:pPr indent="0" marL="0">
                        <a:lnSpc>
                          <a:spcPts val="1960"/>
                        </a:lnSpc>
                        <a:buNone/>
                      </a:pPr>
                      <a:r>
                        <a:rPr lang="en-US" sz="1400" dirty="0">
                          <a:solidFill>
                            <a:srgbClr val="2B2B2B"/>
                          </a:solidFill>
                          <a:latin typeface="Inter" pitchFamily="34" charset="0"/>
                          <a:ea typeface="Inter" pitchFamily="34" charset="-122"/>
                          <a:cs typeface="Inter" pitchFamily="34" charset="-120"/>
                        </a:rPr>
                        <a:t>Is the company growing profitably?</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r>
              <a:tr h="711200">
                <a:tc>
                  <a:txBody>
                    <a:bodyPr/>
                    <a:lstStyle/>
                    <a:p>
                      <a:pPr indent="0" marL="0">
                        <a:lnSpc>
                          <a:spcPts val="1960"/>
                        </a:lnSpc>
                        <a:buNone/>
                      </a:pPr>
                      <a:r>
                        <a:rPr lang="en-US" sz="1400" dirty="0">
                          <a:solidFill>
                            <a:srgbClr val="E8730C"/>
                          </a:solidFill>
                          <a:latin typeface="Inter" pitchFamily="34" charset="0"/>
                          <a:ea typeface="Inter" pitchFamily="34" charset="-122"/>
                          <a:cs typeface="Inter" pitchFamily="34" charset="-120"/>
                        </a:rPr>
                        <a:t>3</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Inter" pitchFamily="34" charset="0"/>
                          <a:ea typeface="Inter" pitchFamily="34" charset="-122"/>
                          <a:cs typeface="Inter" pitchFamily="34" charset="-120"/>
                        </a:rPr>
                        <a:t>Balance Sheet</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c>
                  <a:txBody>
                    <a:bodyPr/>
                    <a:lstStyle/>
                    <a:p>
                      <a:pPr indent="0" marL="0">
                        <a:lnSpc>
                          <a:spcPts val="1960"/>
                        </a:lnSpc>
                        <a:buNone/>
                      </a:pPr>
                      <a:r>
                        <a:rPr lang="en-US" sz="1400" dirty="0">
                          <a:solidFill>
                            <a:srgbClr val="2B2B2B"/>
                          </a:solidFill>
                          <a:latin typeface="Inter" pitchFamily="34" charset="0"/>
                          <a:ea typeface="Inter" pitchFamily="34" charset="-122"/>
                          <a:cs typeface="Inter" pitchFamily="34" charset="-120"/>
                        </a:rPr>
                        <a:t>What does it own, and how is it funded?</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r>
              <a:tr h="462280">
                <a:tc>
                  <a:txBody>
                    <a:bodyPr/>
                    <a:lstStyle/>
                    <a:p>
                      <a:pPr indent="0" marL="0">
                        <a:lnSpc>
                          <a:spcPts val="1960"/>
                        </a:lnSpc>
                        <a:buNone/>
                      </a:pPr>
                      <a:r>
                        <a:rPr lang="en-US" sz="1400" dirty="0">
                          <a:solidFill>
                            <a:srgbClr val="E8730C"/>
                          </a:solidFill>
                          <a:latin typeface="Inter" pitchFamily="34" charset="0"/>
                          <a:ea typeface="Inter" pitchFamily="34" charset="-122"/>
                          <a:cs typeface="Inter" pitchFamily="34" charset="-120"/>
                        </a:rPr>
                        <a:t>4</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Inter" pitchFamily="34" charset="0"/>
                          <a:ea typeface="Inter" pitchFamily="34" charset="-122"/>
                          <a:cs typeface="Inter" pitchFamily="34" charset="-120"/>
                        </a:rPr>
                        <a:t>Liquidity &amp; Leverage</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c>
                  <a:txBody>
                    <a:bodyPr/>
                    <a:lstStyle/>
                    <a:p>
                      <a:pPr indent="0" marL="0">
                        <a:lnSpc>
                          <a:spcPts val="1960"/>
                        </a:lnSpc>
                        <a:buNone/>
                      </a:pPr>
                      <a:r>
                        <a:rPr lang="en-US" sz="1400" dirty="0">
                          <a:solidFill>
                            <a:srgbClr val="2B2B2B"/>
                          </a:solidFill>
                          <a:latin typeface="Inter" pitchFamily="34" charset="0"/>
                          <a:ea typeface="Inter" pitchFamily="34" charset="-122"/>
                          <a:cs typeface="Inter" pitchFamily="34" charset="-120"/>
                        </a:rPr>
                        <a:t>Can it meet its obligations?</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r>
              <a:tr h="711200">
                <a:tc>
                  <a:txBody>
                    <a:bodyPr/>
                    <a:lstStyle/>
                    <a:p>
                      <a:pPr indent="0" marL="0">
                        <a:lnSpc>
                          <a:spcPts val="1960"/>
                        </a:lnSpc>
                        <a:buNone/>
                      </a:pPr>
                      <a:r>
                        <a:rPr lang="en-US" sz="1400" dirty="0">
                          <a:solidFill>
                            <a:srgbClr val="E8730C"/>
                          </a:solidFill>
                          <a:latin typeface="Inter" pitchFamily="34" charset="0"/>
                          <a:ea typeface="Inter" pitchFamily="34" charset="-122"/>
                          <a:cs typeface="Inter" pitchFamily="34" charset="-120"/>
                        </a:rPr>
                        <a:t>5</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Inter" pitchFamily="34" charset="0"/>
                          <a:ea typeface="Inter" pitchFamily="34" charset="-122"/>
                          <a:cs typeface="Inter" pitchFamily="34" charset="-120"/>
                        </a:rPr>
                        <a:t>Working Capital</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c>
                  <a:txBody>
                    <a:bodyPr/>
                    <a:lstStyle/>
                    <a:p>
                      <a:pPr indent="0" marL="0">
                        <a:lnSpc>
                          <a:spcPts val="1960"/>
                        </a:lnSpc>
                        <a:buNone/>
                      </a:pPr>
                      <a:r>
                        <a:rPr lang="en-US" sz="1400" dirty="0">
                          <a:solidFill>
                            <a:srgbClr val="2B2B2B"/>
                          </a:solidFill>
                          <a:latin typeface="Inter" pitchFamily="34" charset="0"/>
                          <a:ea typeface="Inter" pitchFamily="34" charset="-122"/>
                          <a:cs typeface="Inter" pitchFamily="34" charset="-120"/>
                        </a:rPr>
                        <a:t>How efficiently does it use operating assets?</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r>
              <a:tr h="711200">
                <a:tc>
                  <a:txBody>
                    <a:bodyPr/>
                    <a:lstStyle/>
                    <a:p>
                      <a:pPr indent="0" marL="0">
                        <a:lnSpc>
                          <a:spcPts val="1960"/>
                        </a:lnSpc>
                        <a:buNone/>
                      </a:pPr>
                      <a:r>
                        <a:rPr lang="en-US" sz="1400" dirty="0">
                          <a:solidFill>
                            <a:srgbClr val="E8730C"/>
                          </a:solidFill>
                          <a:latin typeface="Inter" pitchFamily="34" charset="0"/>
                          <a:ea typeface="Inter" pitchFamily="34" charset="-122"/>
                          <a:cs typeface="Inter" pitchFamily="34" charset="-120"/>
                        </a:rPr>
                        <a:t>6</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Inter" pitchFamily="34" charset="0"/>
                          <a:ea typeface="Inter" pitchFamily="34" charset="-122"/>
                          <a:cs typeface="Inter" pitchFamily="34" charset="-120"/>
                        </a:rPr>
                        <a:t>Risks &amp; Takeaways</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c>
                  <a:txBody>
                    <a:bodyPr/>
                    <a:lstStyle/>
                    <a:p>
                      <a:pPr indent="0" marL="0">
                        <a:lnSpc>
                          <a:spcPts val="1960"/>
                        </a:lnSpc>
                        <a:buNone/>
                      </a:pPr>
                      <a:r>
                        <a:rPr lang="en-US" sz="1400" dirty="0">
                          <a:solidFill>
                            <a:srgbClr val="2B2B2B"/>
                          </a:solidFill>
                          <a:latin typeface="Inter" pitchFamily="34" charset="0"/>
                          <a:ea typeface="Inter" pitchFamily="34" charset="-122"/>
                          <a:cs typeface="Inter" pitchFamily="34" charset="-120"/>
                        </a:rPr>
                        <a:t>What problem did the analysis find, and what to do?</a:t>
                      </a:r>
                      <a:endParaRPr lang="en-US" sz="1400" dirty="0">
                        <a:latin typeface="Inter" charset="0"/>
                        <a:ea typeface="Inter" charset="0"/>
                        <a:cs typeface="Inter" charset="0"/>
                      </a:endParaRPr>
                    </a:p>
                  </a:txBody>
                  <a:tcPr marL="101600" marR="101600" marT="101600" marB="101600" anchor="t">
                    <a:lnL w="12700" cap="flat" cmpd="sng" algn="ctr">
                      <a:solidFill>
                        <a:srgbClr val="C0BFBD"/>
                      </a:solidFill>
                      <a:prstDash val="solid"/>
                      <a:round/>
                      <a:headEnd type="none" w="med" len="med"/>
                      <a:tailEnd type="none" w="med" len="med"/>
                    </a:lnL>
                    <a:lnR w="12700" cap="flat" cmpd="sng" algn="ctr">
                      <a:solidFill>
                        <a:srgbClr val="C0BFBD"/>
                      </a:solidFill>
                      <a:prstDash val="solid"/>
                      <a:round/>
                      <a:headEnd type="none" w="med" len="med"/>
                      <a:tailEnd type="none" w="med" len="med"/>
                    </a:lnR>
                    <a:lnT w="12700" cap="flat" cmpd="sng" algn="ctr">
                      <a:solidFill>
                        <a:srgbClr val="C0BFBD"/>
                      </a:solidFill>
                      <a:prstDash val="solid"/>
                      <a:round/>
                      <a:headEnd type="none" w="med" len="med"/>
                      <a:tailEnd type="none" w="med" len="med"/>
                    </a:lnT>
                    <a:lnB w="12700" cap="flat" cmpd="sng" algn="ctr">
                      <a:solidFill>
                        <a:srgbClr val="C0BFBD"/>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30C"/>
                </a:solidFill>
                <a:latin typeface="Inter" pitchFamily="34" charset="0"/>
                <a:ea typeface="Inter" pitchFamily="34" charset="-122"/>
                <a:cs typeface="Inter" pitchFamily="34" charset="-120"/>
              </a:rPr>
              <a:t>COLORS USED</a:t>
            </a:r>
            <a:endParaRPr lang="en-US" sz="1200" dirty="0"/>
          </a:p>
        </p:txBody>
      </p:sp>
      <p:sp>
        <p:nvSpPr>
          <p:cNvPr id="3" name="Text 1"/>
          <p:cNvSpPr/>
          <p:nvPr>
            <p:ph type="title"/>
          </p:nvPr>
        </p:nvSpPr>
        <p:spPr>
          <a:xfrm>
            <a:off x="812800" y="10769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1EFED"/>
                </a:solidFill>
                <a:latin typeface="Inter" pitchFamily="34" charset="0"/>
                <a:ea typeface="Inter" pitchFamily="34" charset="-122"/>
                <a:cs typeface="Inter" pitchFamily="34" charset="-120"/>
              </a:rPr>
              <a:t>One meaning per color</a:t>
            </a:r>
            <a:endParaRPr lang="en-US" sz="2800" dirty="0"/>
          </a:p>
        </p:txBody>
      </p:sp>
      <p:sp>
        <p:nvSpPr>
          <p:cNvPr id="4" name="Shape 2"/>
          <p:cNvSpPr/>
          <p:nvPr/>
        </p:nvSpPr>
        <p:spPr>
          <a:xfrm>
            <a:off x="812800" y="1722120"/>
            <a:ext cx="3403600" cy="1521460"/>
          </a:xfrm>
          <a:prstGeom prst="roundRect">
            <a:avLst>
              <a:gd name="adj" fmla="val 6678"/>
            </a:avLst>
          </a:prstGeom>
          <a:solidFill>
            <a:srgbClr val="2B2B2B"/>
          </a:solidFill>
          <a:ln/>
        </p:spPr>
      </p:sp>
      <p:sp>
        <p:nvSpPr>
          <p:cNvPr id="5" name="Shape 3"/>
          <p:cNvSpPr/>
          <p:nvPr/>
        </p:nvSpPr>
        <p:spPr>
          <a:xfrm>
            <a:off x="990600" y="1899920"/>
            <a:ext cx="3048000" cy="571500"/>
          </a:xfrm>
          <a:prstGeom prst="roundRect">
            <a:avLst>
              <a:gd name="adj" fmla="val 11111"/>
            </a:avLst>
          </a:prstGeom>
          <a:solidFill>
            <a:srgbClr val="111111"/>
          </a:solidFill>
          <a:ln/>
        </p:spPr>
      </p:sp>
      <p:sp>
        <p:nvSpPr>
          <p:cNvPr id="6" name="Text 4"/>
          <p:cNvSpPr/>
          <p:nvPr/>
        </p:nvSpPr>
        <p:spPr>
          <a:xfrm>
            <a:off x="990600" y="2547620"/>
            <a:ext cx="31394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1EFED"/>
                </a:solidFill>
                <a:latin typeface="Inter" pitchFamily="34" charset="0"/>
                <a:ea typeface="Inter" pitchFamily="34" charset="-122"/>
                <a:cs typeface="Inter" pitchFamily="34" charset="-120"/>
              </a:rPr>
              <a:t>Black #111111</a:t>
            </a:r>
            <a:endParaRPr lang="en-US" sz="1500" dirty="0"/>
          </a:p>
        </p:txBody>
      </p:sp>
      <p:sp>
        <p:nvSpPr>
          <p:cNvPr id="7" name="Text 5"/>
          <p:cNvSpPr/>
          <p:nvPr/>
        </p:nvSpPr>
        <p:spPr>
          <a:xfrm>
            <a:off x="990600" y="2852420"/>
            <a:ext cx="313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F"/>
                </a:solidFill>
                <a:latin typeface="Inter" pitchFamily="34" charset="0"/>
                <a:ea typeface="Inter" pitchFamily="34" charset="-122"/>
                <a:cs typeface="Inter" pitchFamily="34" charset="-120"/>
              </a:rPr>
              <a:t>Text and main series</a:t>
            </a:r>
            <a:endParaRPr lang="en-US" sz="1200" dirty="0"/>
          </a:p>
        </p:txBody>
      </p:sp>
      <p:sp>
        <p:nvSpPr>
          <p:cNvPr id="8" name="Shape 6"/>
          <p:cNvSpPr/>
          <p:nvPr/>
        </p:nvSpPr>
        <p:spPr>
          <a:xfrm>
            <a:off x="4394200" y="1722120"/>
            <a:ext cx="3403600" cy="1521460"/>
          </a:xfrm>
          <a:prstGeom prst="roundRect">
            <a:avLst>
              <a:gd name="adj" fmla="val 6678"/>
            </a:avLst>
          </a:prstGeom>
          <a:solidFill>
            <a:srgbClr val="2B2B2B"/>
          </a:solidFill>
          <a:ln/>
        </p:spPr>
      </p:sp>
      <p:sp>
        <p:nvSpPr>
          <p:cNvPr id="9" name="Shape 7"/>
          <p:cNvSpPr/>
          <p:nvPr/>
        </p:nvSpPr>
        <p:spPr>
          <a:xfrm>
            <a:off x="4572000" y="1899920"/>
            <a:ext cx="3048000" cy="571500"/>
          </a:xfrm>
          <a:prstGeom prst="roundRect">
            <a:avLst>
              <a:gd name="adj" fmla="val 11111"/>
            </a:avLst>
          </a:prstGeom>
          <a:solidFill>
            <a:srgbClr val="6B6B6B"/>
          </a:solidFill>
          <a:ln/>
        </p:spPr>
      </p:sp>
      <p:sp>
        <p:nvSpPr>
          <p:cNvPr id="10" name="Text 8"/>
          <p:cNvSpPr/>
          <p:nvPr/>
        </p:nvSpPr>
        <p:spPr>
          <a:xfrm>
            <a:off x="4572000" y="2547620"/>
            <a:ext cx="31394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1EFED"/>
                </a:solidFill>
                <a:latin typeface="Inter" pitchFamily="34" charset="0"/>
                <a:ea typeface="Inter" pitchFamily="34" charset="-122"/>
                <a:cs typeface="Inter" pitchFamily="34" charset="-120"/>
              </a:rPr>
              <a:t>Gray #6B6B6B</a:t>
            </a:r>
            <a:endParaRPr lang="en-US" sz="1500" dirty="0"/>
          </a:p>
        </p:txBody>
      </p:sp>
      <p:sp>
        <p:nvSpPr>
          <p:cNvPr id="11" name="Text 9"/>
          <p:cNvSpPr/>
          <p:nvPr/>
        </p:nvSpPr>
        <p:spPr>
          <a:xfrm>
            <a:off x="4572000" y="2852420"/>
            <a:ext cx="313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F"/>
                </a:solidFill>
                <a:latin typeface="Inter" pitchFamily="34" charset="0"/>
                <a:ea typeface="Inter" pitchFamily="34" charset="-122"/>
                <a:cs typeface="Inter" pitchFamily="34" charset="-120"/>
              </a:rPr>
              <a:t>Secondary series</a:t>
            </a:r>
            <a:endParaRPr lang="en-US" sz="1200" dirty="0"/>
          </a:p>
        </p:txBody>
      </p:sp>
      <p:sp>
        <p:nvSpPr>
          <p:cNvPr id="12" name="Shape 10"/>
          <p:cNvSpPr/>
          <p:nvPr/>
        </p:nvSpPr>
        <p:spPr>
          <a:xfrm>
            <a:off x="7975600" y="1722120"/>
            <a:ext cx="3403600" cy="1521460"/>
          </a:xfrm>
          <a:prstGeom prst="roundRect">
            <a:avLst>
              <a:gd name="adj" fmla="val 6678"/>
            </a:avLst>
          </a:prstGeom>
          <a:solidFill>
            <a:srgbClr val="2B2B2B"/>
          </a:solidFill>
          <a:ln/>
        </p:spPr>
      </p:sp>
      <p:sp>
        <p:nvSpPr>
          <p:cNvPr id="13" name="Shape 11"/>
          <p:cNvSpPr/>
          <p:nvPr/>
        </p:nvSpPr>
        <p:spPr>
          <a:xfrm>
            <a:off x="8153400" y="1899920"/>
            <a:ext cx="3048000" cy="571500"/>
          </a:xfrm>
          <a:prstGeom prst="roundRect">
            <a:avLst>
              <a:gd name="adj" fmla="val 11111"/>
            </a:avLst>
          </a:prstGeom>
          <a:solidFill>
            <a:srgbClr val="E8730C"/>
          </a:solidFill>
          <a:ln/>
        </p:spPr>
      </p:sp>
      <p:sp>
        <p:nvSpPr>
          <p:cNvPr id="14" name="Text 12"/>
          <p:cNvSpPr/>
          <p:nvPr/>
        </p:nvSpPr>
        <p:spPr>
          <a:xfrm>
            <a:off x="8153400" y="2547620"/>
            <a:ext cx="31394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1EFED"/>
                </a:solidFill>
                <a:latin typeface="Inter" pitchFamily="34" charset="0"/>
                <a:ea typeface="Inter" pitchFamily="34" charset="-122"/>
                <a:cs typeface="Inter" pitchFamily="34" charset="-120"/>
              </a:rPr>
              <a:t>Orange #E8730C</a:t>
            </a:r>
            <a:endParaRPr lang="en-US" sz="1500" dirty="0"/>
          </a:p>
        </p:txBody>
      </p:sp>
      <p:sp>
        <p:nvSpPr>
          <p:cNvPr id="15" name="Text 13"/>
          <p:cNvSpPr/>
          <p:nvPr/>
        </p:nvSpPr>
        <p:spPr>
          <a:xfrm>
            <a:off x="8153400" y="2852420"/>
            <a:ext cx="313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F"/>
                </a:solidFill>
                <a:latin typeface="Inter" pitchFamily="34" charset="0"/>
                <a:ea typeface="Inter" pitchFamily="34" charset="-122"/>
                <a:cs typeface="Inter" pitchFamily="34" charset="-120"/>
              </a:rPr>
              <a:t>Focus and key numbers</a:t>
            </a:r>
            <a:endParaRPr lang="en-US" sz="1200" dirty="0"/>
          </a:p>
        </p:txBody>
      </p:sp>
      <p:sp>
        <p:nvSpPr>
          <p:cNvPr id="16" name="Shape 14"/>
          <p:cNvSpPr/>
          <p:nvPr/>
        </p:nvSpPr>
        <p:spPr>
          <a:xfrm>
            <a:off x="812800" y="3421380"/>
            <a:ext cx="3403600" cy="1521460"/>
          </a:xfrm>
          <a:prstGeom prst="roundRect">
            <a:avLst>
              <a:gd name="adj" fmla="val 6678"/>
            </a:avLst>
          </a:prstGeom>
          <a:solidFill>
            <a:srgbClr val="2B2B2B"/>
          </a:solidFill>
          <a:ln/>
        </p:spPr>
      </p:sp>
      <p:sp>
        <p:nvSpPr>
          <p:cNvPr id="17" name="Shape 15"/>
          <p:cNvSpPr/>
          <p:nvPr/>
        </p:nvSpPr>
        <p:spPr>
          <a:xfrm>
            <a:off x="990600" y="3599180"/>
            <a:ext cx="3048000" cy="571500"/>
          </a:xfrm>
          <a:prstGeom prst="roundRect">
            <a:avLst>
              <a:gd name="adj" fmla="val 11111"/>
            </a:avLst>
          </a:prstGeom>
          <a:solidFill>
            <a:srgbClr val="C0392B"/>
          </a:solidFill>
          <a:ln/>
        </p:spPr>
      </p:sp>
      <p:sp>
        <p:nvSpPr>
          <p:cNvPr id="18" name="Text 16"/>
          <p:cNvSpPr/>
          <p:nvPr/>
        </p:nvSpPr>
        <p:spPr>
          <a:xfrm>
            <a:off x="990600" y="4246880"/>
            <a:ext cx="31394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1EFED"/>
                </a:solidFill>
                <a:latin typeface="Inter" pitchFamily="34" charset="0"/>
                <a:ea typeface="Inter" pitchFamily="34" charset="-122"/>
                <a:cs typeface="Inter" pitchFamily="34" charset="-120"/>
              </a:rPr>
              <a:t>Red #C0392B</a:t>
            </a:r>
            <a:endParaRPr lang="en-US" sz="1500" dirty="0"/>
          </a:p>
        </p:txBody>
      </p:sp>
      <p:sp>
        <p:nvSpPr>
          <p:cNvPr id="19" name="Text 17"/>
          <p:cNvSpPr/>
          <p:nvPr/>
        </p:nvSpPr>
        <p:spPr>
          <a:xfrm>
            <a:off x="990600" y="4551680"/>
            <a:ext cx="313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F"/>
                </a:solidFill>
                <a:latin typeface="Inter" pitchFamily="34" charset="0"/>
                <a:ea typeface="Inter" pitchFamily="34" charset="-122"/>
                <a:cs typeface="Inter" pitchFamily="34" charset="-120"/>
              </a:rPr>
              <a:t>Risks and warnings</a:t>
            </a:r>
            <a:endParaRPr lang="en-US" sz="1200" dirty="0"/>
          </a:p>
        </p:txBody>
      </p:sp>
      <p:sp>
        <p:nvSpPr>
          <p:cNvPr id="20" name="Shape 18"/>
          <p:cNvSpPr/>
          <p:nvPr/>
        </p:nvSpPr>
        <p:spPr>
          <a:xfrm>
            <a:off x="4394200" y="3421380"/>
            <a:ext cx="3403600" cy="1521460"/>
          </a:xfrm>
          <a:prstGeom prst="roundRect">
            <a:avLst>
              <a:gd name="adj" fmla="val 6678"/>
            </a:avLst>
          </a:prstGeom>
          <a:solidFill>
            <a:srgbClr val="2B2B2B"/>
          </a:solidFill>
          <a:ln/>
        </p:spPr>
      </p:sp>
      <p:sp>
        <p:nvSpPr>
          <p:cNvPr id="21" name="Shape 19"/>
          <p:cNvSpPr/>
          <p:nvPr/>
        </p:nvSpPr>
        <p:spPr>
          <a:xfrm>
            <a:off x="4572000" y="3599180"/>
            <a:ext cx="3048000" cy="571500"/>
          </a:xfrm>
          <a:prstGeom prst="roundRect">
            <a:avLst>
              <a:gd name="adj" fmla="val 11111"/>
            </a:avLst>
          </a:prstGeom>
          <a:solidFill>
            <a:srgbClr val="F6B26B"/>
          </a:solidFill>
          <a:ln/>
        </p:spPr>
      </p:sp>
      <p:sp>
        <p:nvSpPr>
          <p:cNvPr id="22" name="Text 20"/>
          <p:cNvSpPr/>
          <p:nvPr/>
        </p:nvSpPr>
        <p:spPr>
          <a:xfrm>
            <a:off x="4572000" y="4246880"/>
            <a:ext cx="31394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1EFED"/>
                </a:solidFill>
                <a:latin typeface="Inter" pitchFamily="34" charset="0"/>
                <a:ea typeface="Inter" pitchFamily="34" charset="-122"/>
                <a:cs typeface="Inter" pitchFamily="34" charset="-120"/>
              </a:rPr>
              <a:t>Light orange #F6B26B</a:t>
            </a:r>
            <a:endParaRPr lang="en-US" sz="1500" dirty="0"/>
          </a:p>
        </p:txBody>
      </p:sp>
      <p:sp>
        <p:nvSpPr>
          <p:cNvPr id="23" name="Text 21"/>
          <p:cNvSpPr/>
          <p:nvPr/>
        </p:nvSpPr>
        <p:spPr>
          <a:xfrm>
            <a:off x="4572000" y="4551680"/>
            <a:ext cx="313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F"/>
                </a:solidFill>
                <a:latin typeface="Inter" pitchFamily="34" charset="0"/>
                <a:ea typeface="Inter" pitchFamily="34" charset="-122"/>
                <a:cs typeface="Inter" pitchFamily="34" charset="-120"/>
              </a:rPr>
              <a:t>Cost shares</a:t>
            </a:r>
            <a:endParaRPr lang="en-US" sz="1200" dirty="0"/>
          </a:p>
        </p:txBody>
      </p:sp>
      <p:sp>
        <p:nvSpPr>
          <p:cNvPr id="24" name="Shape 22"/>
          <p:cNvSpPr/>
          <p:nvPr/>
        </p:nvSpPr>
        <p:spPr>
          <a:xfrm>
            <a:off x="7975600" y="3421380"/>
            <a:ext cx="3403600" cy="1521460"/>
          </a:xfrm>
          <a:prstGeom prst="roundRect">
            <a:avLst>
              <a:gd name="adj" fmla="val 6678"/>
            </a:avLst>
          </a:prstGeom>
          <a:solidFill>
            <a:srgbClr val="2B2B2B"/>
          </a:solidFill>
          <a:ln/>
        </p:spPr>
      </p:sp>
      <p:sp>
        <p:nvSpPr>
          <p:cNvPr id="25" name="Shape 23"/>
          <p:cNvSpPr/>
          <p:nvPr/>
        </p:nvSpPr>
        <p:spPr>
          <a:xfrm>
            <a:off x="8153400" y="3599180"/>
            <a:ext cx="3048000" cy="571500"/>
          </a:xfrm>
          <a:prstGeom prst="roundRect">
            <a:avLst>
              <a:gd name="adj" fmla="val 11111"/>
            </a:avLst>
          </a:prstGeom>
          <a:solidFill>
            <a:srgbClr val="CFCFCF"/>
          </a:solidFill>
          <a:ln/>
        </p:spPr>
      </p:sp>
      <p:sp>
        <p:nvSpPr>
          <p:cNvPr id="26" name="Text 24"/>
          <p:cNvSpPr/>
          <p:nvPr/>
        </p:nvSpPr>
        <p:spPr>
          <a:xfrm>
            <a:off x="8153400" y="4246880"/>
            <a:ext cx="31394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1EFED"/>
                </a:solidFill>
                <a:latin typeface="Inter" pitchFamily="34" charset="0"/>
                <a:ea typeface="Inter" pitchFamily="34" charset="-122"/>
                <a:cs typeface="Inter" pitchFamily="34" charset="-120"/>
              </a:rPr>
              <a:t>Light gray #CFCFCF</a:t>
            </a:r>
            <a:endParaRPr lang="en-US" sz="1500" dirty="0"/>
          </a:p>
        </p:txBody>
      </p:sp>
      <p:sp>
        <p:nvSpPr>
          <p:cNvPr id="27" name="Text 25"/>
          <p:cNvSpPr/>
          <p:nvPr/>
        </p:nvSpPr>
        <p:spPr>
          <a:xfrm>
            <a:off x="8153400" y="4551680"/>
            <a:ext cx="313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F"/>
                </a:solidFill>
                <a:latin typeface="Inter" pitchFamily="34" charset="0"/>
                <a:ea typeface="Inter" pitchFamily="34" charset="-122"/>
                <a:cs typeface="Inter" pitchFamily="34" charset="-120"/>
              </a:rPr>
              <a:t>Gridlines and thresholds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FE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30C"/>
                </a:solidFill>
                <a:latin typeface="Inter" pitchFamily="34" charset="0"/>
                <a:ea typeface="Inter" pitchFamily="34" charset="-122"/>
                <a:cs typeface="Inter" pitchFamily="34" charset="-120"/>
              </a:rPr>
              <a:t>PAGE LAYOUT</a:t>
            </a:r>
            <a:endParaRPr lang="en-US" sz="1200" dirty="0"/>
          </a:p>
        </p:txBody>
      </p:sp>
      <p:sp>
        <p:nvSpPr>
          <p:cNvPr id="3" name="Text 1"/>
          <p:cNvSpPr/>
          <p:nvPr>
            <p:ph type="title"/>
          </p:nvPr>
        </p:nvSpPr>
        <p:spPr>
          <a:xfrm>
            <a:off x="812800" y="10769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11111"/>
                </a:solidFill>
                <a:latin typeface="Inter" pitchFamily="34" charset="0"/>
                <a:ea typeface="Inter" pitchFamily="34" charset="-122"/>
                <a:cs typeface="Inter" pitchFamily="34" charset="-120"/>
              </a:rPr>
              <a:t>Every page follows the same story pattern</a:t>
            </a:r>
            <a:endParaRPr lang="en-US" sz="2800" dirty="0"/>
          </a:p>
        </p:txBody>
      </p:sp>
      <p:sp>
        <p:nvSpPr>
          <p:cNvPr id="4" name="Shape 2"/>
          <p:cNvSpPr/>
          <p:nvPr/>
        </p:nvSpPr>
        <p:spPr>
          <a:xfrm>
            <a:off x="819150" y="1728471"/>
            <a:ext cx="5194300" cy="1036320"/>
          </a:xfrm>
          <a:prstGeom prst="roundRect">
            <a:avLst>
              <a:gd name="adj" fmla="val 9191"/>
            </a:avLst>
          </a:prstGeom>
          <a:solidFill>
            <a:srgbClr val="FFFFFF"/>
          </a:solidFill>
          <a:ln w="12700">
            <a:solidFill>
              <a:srgbClr val="111111"/>
            </a:solidFill>
            <a:prstDash val="solid"/>
          </a:ln>
        </p:spPr>
      </p:sp>
      <p:sp>
        <p:nvSpPr>
          <p:cNvPr id="5" name="Text 3"/>
          <p:cNvSpPr/>
          <p:nvPr/>
        </p:nvSpPr>
        <p:spPr>
          <a:xfrm>
            <a:off x="1026160" y="1910082"/>
            <a:ext cx="4923688"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1 Header</a:t>
            </a:r>
            <a:endParaRPr lang="en-US" sz="1300" dirty="0"/>
          </a:p>
        </p:txBody>
      </p:sp>
      <p:sp>
        <p:nvSpPr>
          <p:cNvPr id="6" name="Text 4"/>
          <p:cNvSpPr/>
          <p:nvPr/>
        </p:nvSpPr>
        <p:spPr>
          <a:xfrm>
            <a:off x="1026160" y="2171700"/>
            <a:ext cx="4923688"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Black bar with the Edita logo, page names and one Year slicer (All, 2024, 2025, 2026).</a:t>
            </a:r>
            <a:endParaRPr lang="en-US" sz="1200" dirty="0"/>
          </a:p>
        </p:txBody>
      </p:sp>
      <p:sp>
        <p:nvSpPr>
          <p:cNvPr id="7" name="Shape 5"/>
          <p:cNvSpPr/>
          <p:nvPr/>
        </p:nvSpPr>
        <p:spPr>
          <a:xfrm>
            <a:off x="6178550" y="1728471"/>
            <a:ext cx="5194300" cy="1036320"/>
          </a:xfrm>
          <a:prstGeom prst="roundRect">
            <a:avLst>
              <a:gd name="adj" fmla="val 9191"/>
            </a:avLst>
          </a:prstGeom>
          <a:solidFill>
            <a:srgbClr val="FFFFFF"/>
          </a:solidFill>
          <a:ln w="12700">
            <a:solidFill>
              <a:srgbClr val="E8730C"/>
            </a:solidFill>
            <a:prstDash val="solid"/>
          </a:ln>
        </p:spPr>
      </p:sp>
      <p:sp>
        <p:nvSpPr>
          <p:cNvPr id="8" name="Text 6"/>
          <p:cNvSpPr/>
          <p:nvPr/>
        </p:nvSpPr>
        <p:spPr>
          <a:xfrm>
            <a:off x="6385560" y="1910082"/>
            <a:ext cx="4923688"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2 Headline</a:t>
            </a:r>
            <a:endParaRPr lang="en-US" sz="1300" dirty="0"/>
          </a:p>
        </p:txBody>
      </p:sp>
      <p:sp>
        <p:nvSpPr>
          <p:cNvPr id="9" name="Text 7"/>
          <p:cNvSpPr/>
          <p:nvPr/>
        </p:nvSpPr>
        <p:spPr>
          <a:xfrm>
            <a:off x="6385560" y="2171700"/>
            <a:ext cx="4923688"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Chapter number and a headline that states the finding, with the question below it.</a:t>
            </a:r>
            <a:endParaRPr lang="en-US" sz="1200" dirty="0"/>
          </a:p>
        </p:txBody>
      </p:sp>
      <p:sp>
        <p:nvSpPr>
          <p:cNvPr id="10" name="Shape 8"/>
          <p:cNvSpPr/>
          <p:nvPr/>
        </p:nvSpPr>
        <p:spPr>
          <a:xfrm>
            <a:off x="819150" y="2929889"/>
            <a:ext cx="5194300" cy="1036320"/>
          </a:xfrm>
          <a:prstGeom prst="roundRect">
            <a:avLst>
              <a:gd name="adj" fmla="val 9191"/>
            </a:avLst>
          </a:prstGeom>
          <a:solidFill>
            <a:srgbClr val="FFFFFF"/>
          </a:solidFill>
          <a:ln w="12700">
            <a:solidFill>
              <a:srgbClr val="111111"/>
            </a:solidFill>
            <a:prstDash val="solid"/>
          </a:ln>
        </p:spPr>
      </p:sp>
      <p:sp>
        <p:nvSpPr>
          <p:cNvPr id="11" name="Text 9"/>
          <p:cNvSpPr/>
          <p:nvPr/>
        </p:nvSpPr>
        <p:spPr>
          <a:xfrm>
            <a:off x="1026160" y="3111500"/>
            <a:ext cx="4923688"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3 KPI column</a:t>
            </a:r>
            <a:endParaRPr lang="en-US" sz="1300" dirty="0"/>
          </a:p>
        </p:txBody>
      </p:sp>
      <p:sp>
        <p:nvSpPr>
          <p:cNvPr id="12" name="Text 10"/>
          <p:cNvSpPr/>
          <p:nvPr/>
        </p:nvSpPr>
        <p:spPr>
          <a:xfrm>
            <a:off x="1026160" y="3373121"/>
            <a:ext cx="4923688"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Four cards on the left, each with an icon, one value in black and a short context line.</a:t>
            </a:r>
            <a:endParaRPr lang="en-US" sz="1200" dirty="0"/>
          </a:p>
        </p:txBody>
      </p:sp>
      <p:sp>
        <p:nvSpPr>
          <p:cNvPr id="13" name="Shape 11"/>
          <p:cNvSpPr/>
          <p:nvPr/>
        </p:nvSpPr>
        <p:spPr>
          <a:xfrm>
            <a:off x="6178550" y="2929889"/>
            <a:ext cx="5194300" cy="1036320"/>
          </a:xfrm>
          <a:prstGeom prst="roundRect">
            <a:avLst>
              <a:gd name="adj" fmla="val 9191"/>
            </a:avLst>
          </a:prstGeom>
          <a:solidFill>
            <a:srgbClr val="FFFFFF"/>
          </a:solidFill>
          <a:ln w="12700">
            <a:solidFill>
              <a:srgbClr val="E8730C"/>
            </a:solidFill>
            <a:prstDash val="solid"/>
          </a:ln>
        </p:spPr>
      </p:sp>
      <p:sp>
        <p:nvSpPr>
          <p:cNvPr id="14" name="Text 12"/>
          <p:cNvSpPr/>
          <p:nvPr/>
        </p:nvSpPr>
        <p:spPr>
          <a:xfrm>
            <a:off x="6385560" y="3111500"/>
            <a:ext cx="4923688"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4 Charts</a:t>
            </a:r>
            <a:endParaRPr lang="en-US" sz="1300" dirty="0"/>
          </a:p>
        </p:txBody>
      </p:sp>
      <p:sp>
        <p:nvSpPr>
          <p:cNvPr id="15" name="Text 13"/>
          <p:cNvSpPr/>
          <p:nvPr/>
        </p:nvSpPr>
        <p:spPr>
          <a:xfrm>
            <a:off x="6385560" y="3373121"/>
            <a:ext cx="4923688"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One main chart and two supporting charts; every title is a question.</a:t>
            </a:r>
            <a:endParaRPr lang="en-US" sz="1200" dirty="0"/>
          </a:p>
        </p:txBody>
      </p:sp>
      <p:sp>
        <p:nvSpPr>
          <p:cNvPr id="16" name="Shape 14"/>
          <p:cNvSpPr/>
          <p:nvPr/>
        </p:nvSpPr>
        <p:spPr>
          <a:xfrm>
            <a:off x="819150" y="4131311"/>
            <a:ext cx="5194300" cy="830580"/>
          </a:xfrm>
          <a:prstGeom prst="roundRect">
            <a:avLst>
              <a:gd name="adj" fmla="val 11468"/>
            </a:avLst>
          </a:prstGeom>
          <a:solidFill>
            <a:srgbClr val="FFFFFF"/>
          </a:solidFill>
          <a:ln w="12700">
            <a:solidFill>
              <a:srgbClr val="C0392B"/>
            </a:solidFill>
            <a:prstDash val="solid"/>
          </a:ln>
        </p:spPr>
      </p:sp>
      <p:sp>
        <p:nvSpPr>
          <p:cNvPr id="17" name="Text 15"/>
          <p:cNvSpPr/>
          <p:nvPr/>
        </p:nvSpPr>
        <p:spPr>
          <a:xfrm>
            <a:off x="1026160" y="4312921"/>
            <a:ext cx="4923688"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5 So what</a:t>
            </a:r>
            <a:endParaRPr lang="en-US" sz="1300" dirty="0"/>
          </a:p>
        </p:txBody>
      </p:sp>
      <p:sp>
        <p:nvSpPr>
          <p:cNvPr id="18" name="Text 16"/>
          <p:cNvSpPr/>
          <p:nvPr/>
        </p:nvSpPr>
        <p:spPr>
          <a:xfrm>
            <a:off x="1026160" y="4574539"/>
            <a:ext cx="4923688"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A closing strip with the conclusion. Risks use a red outline.</a:t>
            </a:r>
            <a:endParaRPr lang="en-US" sz="1200" dirty="0"/>
          </a:p>
        </p:txBody>
      </p:sp>
      <p:sp>
        <p:nvSpPr>
          <p:cNvPr id="19" name="Shape 17"/>
          <p:cNvSpPr/>
          <p:nvPr/>
        </p:nvSpPr>
        <p:spPr>
          <a:xfrm>
            <a:off x="6178550" y="4131311"/>
            <a:ext cx="5194300" cy="830580"/>
          </a:xfrm>
          <a:prstGeom prst="roundRect">
            <a:avLst>
              <a:gd name="adj" fmla="val 11468"/>
            </a:avLst>
          </a:prstGeom>
          <a:solidFill>
            <a:srgbClr val="FFFFFF"/>
          </a:solidFill>
          <a:ln w="12700">
            <a:solidFill>
              <a:srgbClr val="6B6B6B"/>
            </a:solidFill>
            <a:prstDash val="solid"/>
          </a:ln>
        </p:spPr>
      </p:sp>
      <p:sp>
        <p:nvSpPr>
          <p:cNvPr id="20" name="Text 18"/>
          <p:cNvSpPr/>
          <p:nvPr/>
        </p:nvSpPr>
        <p:spPr>
          <a:xfrm>
            <a:off x="6385560" y="4312921"/>
            <a:ext cx="4923688"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6 Reading rules</a:t>
            </a:r>
            <a:endParaRPr lang="en-US" sz="1300" dirty="0"/>
          </a:p>
        </p:txBody>
      </p:sp>
      <p:sp>
        <p:nvSpPr>
          <p:cNvPr id="21" name="Text 19"/>
          <p:cNvSpPr/>
          <p:nvPr/>
        </p:nvSpPr>
        <p:spPr>
          <a:xfrm>
            <a:off x="6385560" y="4574539"/>
            <a:ext cx="498094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One unit per number, partial years labeled, one meaning per color.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FE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30C"/>
                </a:solidFill>
                <a:latin typeface="Inter" pitchFamily="34" charset="0"/>
                <a:ea typeface="Inter" pitchFamily="34" charset="-122"/>
                <a:cs typeface="Inter" pitchFamily="34" charset="-120"/>
              </a:rPr>
              <a:t>PAGE 1 · OVERVIEW</a:t>
            </a:r>
            <a:endParaRPr lang="en-US" sz="1200" dirty="0"/>
          </a:p>
        </p:txBody>
      </p:sp>
      <p:sp>
        <p:nvSpPr>
          <p:cNvPr id="3" name="Text 1"/>
          <p:cNvSpPr/>
          <p:nvPr>
            <p:ph type="title"/>
          </p:nvPr>
        </p:nvSpPr>
        <p:spPr>
          <a:xfrm>
            <a:off x="812800" y="1076961"/>
            <a:ext cx="10883392" cy="360680"/>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11111"/>
                </a:solidFill>
                <a:latin typeface="Inter" pitchFamily="34" charset="0"/>
                <a:ea typeface="Inter" pitchFamily="34" charset="-122"/>
                <a:cs typeface="Inter" pitchFamily="34" charset="-120"/>
              </a:rPr>
              <a:t>Revenue is up 37% at a steady 17.7% margin</a:t>
            </a:r>
            <a:endParaRPr lang="en-US" sz="2400" dirty="0"/>
          </a:p>
        </p:txBody>
      </p:sp>
      <p:sp>
        <p:nvSpPr>
          <p:cNvPr id="4" name="Shape 2"/>
          <p:cNvSpPr/>
          <p:nvPr/>
        </p:nvSpPr>
        <p:spPr>
          <a:xfrm>
            <a:off x="812800" y="1666239"/>
            <a:ext cx="6350000" cy="3568700"/>
          </a:xfrm>
          <a:prstGeom prst="roundRect">
            <a:avLst>
              <a:gd name="adj" fmla="val 2135"/>
            </a:avLst>
          </a:prstGeom>
          <a:solidFill>
            <a:srgbClr val="FFFFFF"/>
          </a:solidFill>
          <a:ln/>
        </p:spPr>
      </p:sp>
      <p:pic>
        <p:nvPicPr>
          <p:cNvPr id="5" name="Image 0" descr="Dashboard page 1: Overview">    </p:cNvPr>
          <p:cNvPicPr>
            <a:picLocks noChangeAspect="1"/>
          </p:cNvPicPr>
          <p:nvPr/>
        </p:nvPicPr>
        <p:blipFill>
          <a:blip r:embed="rId1"/>
          <a:srcRect l="-202" r="-202" t="0" b="0"/>
          <a:stretch/>
        </p:blipFill>
        <p:spPr>
          <a:xfrm>
            <a:off x="825500" y="1678939"/>
            <a:ext cx="6324600" cy="3543300"/>
          </a:xfrm>
          <a:prstGeom prst="roundRect">
            <a:avLst>
              <a:gd name="adj" fmla="val 1792"/>
            </a:avLst>
          </a:prstGeom>
        </p:spPr>
      </p:pic>
      <p:sp>
        <p:nvSpPr>
          <p:cNvPr id="6" name="Shape 3"/>
          <p:cNvSpPr/>
          <p:nvPr/>
        </p:nvSpPr>
        <p:spPr>
          <a:xfrm>
            <a:off x="819150" y="1672589"/>
            <a:ext cx="6337300" cy="3556000"/>
          </a:xfrm>
          <a:prstGeom prst="roundRect">
            <a:avLst>
              <a:gd name="adj" fmla="val 1964"/>
            </a:avLst>
          </a:prstGeom>
          <a:noFill/>
          <a:ln w="12700">
            <a:solidFill>
              <a:srgbClr val="D8D4D0"/>
            </a:solidFill>
            <a:prstDash val="solid"/>
          </a:ln>
        </p:spPr>
      </p:sp>
      <p:sp>
        <p:nvSpPr>
          <p:cNvPr id="7" name="Shape 4"/>
          <p:cNvSpPr/>
          <p:nvPr/>
        </p:nvSpPr>
        <p:spPr>
          <a:xfrm>
            <a:off x="7473950" y="1672589"/>
            <a:ext cx="3898900" cy="1036320"/>
          </a:xfrm>
          <a:prstGeom prst="roundRect">
            <a:avLst>
              <a:gd name="adj" fmla="val 9191"/>
            </a:avLst>
          </a:prstGeom>
          <a:solidFill>
            <a:srgbClr val="FFFFFF"/>
          </a:solidFill>
          <a:ln w="12700">
            <a:solidFill>
              <a:srgbClr val="D8D4D0"/>
            </a:solidFill>
            <a:prstDash val="solid"/>
          </a:ln>
        </p:spPr>
      </p:sp>
      <p:sp>
        <p:nvSpPr>
          <p:cNvPr id="8" name="Text 5"/>
          <p:cNvSpPr/>
          <p:nvPr/>
        </p:nvSpPr>
        <p:spPr>
          <a:xfrm>
            <a:off x="7680960" y="1854200"/>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KPIs</a:t>
            </a:r>
            <a:endParaRPr lang="en-US" sz="1300" dirty="0"/>
          </a:p>
        </p:txBody>
      </p:sp>
      <p:sp>
        <p:nvSpPr>
          <p:cNvPr id="9" name="Text 6"/>
          <p:cNvSpPr/>
          <p:nvPr/>
        </p:nvSpPr>
        <p:spPr>
          <a:xfrm>
            <a:off x="7680960" y="2115821"/>
            <a:ext cx="35894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Revenue EGP 23.92B (+37.4%), operating margin 17.7%, net income EGP 3.39B, ROE 54%.</a:t>
            </a:r>
            <a:endParaRPr lang="en-US" sz="1200" dirty="0"/>
          </a:p>
        </p:txBody>
      </p:sp>
      <p:sp>
        <p:nvSpPr>
          <p:cNvPr id="10" name="Shape 7"/>
          <p:cNvSpPr/>
          <p:nvPr/>
        </p:nvSpPr>
        <p:spPr>
          <a:xfrm>
            <a:off x="7473950" y="2823211"/>
            <a:ext cx="3898900" cy="1242060"/>
          </a:xfrm>
          <a:prstGeom prst="roundRect">
            <a:avLst>
              <a:gd name="adj" fmla="val 7669"/>
            </a:avLst>
          </a:prstGeom>
          <a:solidFill>
            <a:srgbClr val="FFFFFF"/>
          </a:solidFill>
          <a:ln w="12700">
            <a:solidFill>
              <a:srgbClr val="D8D4D0"/>
            </a:solidFill>
            <a:prstDash val="solid"/>
          </a:ln>
        </p:spPr>
      </p:sp>
      <p:sp>
        <p:nvSpPr>
          <p:cNvPr id="11" name="Text 8"/>
          <p:cNvSpPr/>
          <p:nvPr/>
        </p:nvSpPr>
        <p:spPr>
          <a:xfrm>
            <a:off x="7680960" y="3004821"/>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Charts</a:t>
            </a:r>
            <a:endParaRPr lang="en-US" sz="1300" dirty="0"/>
          </a:p>
        </p:txBody>
      </p:sp>
      <p:sp>
        <p:nvSpPr>
          <p:cNvPr id="12" name="Text 9"/>
          <p:cNvSpPr/>
          <p:nvPr/>
        </p:nvSpPr>
        <p:spPr>
          <a:xfrm>
            <a:off x="7680960" y="3266439"/>
            <a:ext cx="358942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Columns for revenue, operating and net income; margin lines; net income against operating cash flow.</a:t>
            </a:r>
            <a:endParaRPr lang="en-US" sz="1200" dirty="0"/>
          </a:p>
        </p:txBody>
      </p:sp>
      <p:sp>
        <p:nvSpPr>
          <p:cNvPr id="13" name="Shape 10"/>
          <p:cNvSpPr/>
          <p:nvPr/>
        </p:nvSpPr>
        <p:spPr>
          <a:xfrm>
            <a:off x="7473950" y="4179571"/>
            <a:ext cx="3898900" cy="1242060"/>
          </a:xfrm>
          <a:prstGeom prst="roundRect">
            <a:avLst>
              <a:gd name="adj" fmla="val 7669"/>
            </a:avLst>
          </a:prstGeom>
          <a:solidFill>
            <a:srgbClr val="FFFFFF"/>
          </a:solidFill>
          <a:ln w="12700">
            <a:solidFill>
              <a:srgbClr val="E8730C"/>
            </a:solidFill>
            <a:prstDash val="solid"/>
          </a:ln>
        </p:spPr>
      </p:sp>
      <p:sp>
        <p:nvSpPr>
          <p:cNvPr id="14" name="Text 11"/>
          <p:cNvSpPr/>
          <p:nvPr/>
        </p:nvSpPr>
        <p:spPr>
          <a:xfrm>
            <a:off x="7680960" y="4361182"/>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What I learned</a:t>
            </a:r>
            <a:endParaRPr lang="en-US" sz="1300" dirty="0"/>
          </a:p>
        </p:txBody>
      </p:sp>
      <p:sp>
        <p:nvSpPr>
          <p:cNvPr id="15" name="Text 12"/>
          <p:cNvSpPr/>
          <p:nvPr/>
        </p:nvSpPr>
        <p:spPr>
          <a:xfrm>
            <a:off x="7680960" y="4622800"/>
            <a:ext cx="358942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Growth is profitable, but Q2 26 operating cash flow fell to EGP -124M while net income was EGP 796M.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FE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30C"/>
                </a:solidFill>
                <a:latin typeface="Inter" pitchFamily="34" charset="0"/>
                <a:ea typeface="Inter" pitchFamily="34" charset="-122"/>
                <a:cs typeface="Inter" pitchFamily="34" charset="-120"/>
              </a:rPr>
              <a:t>PAGE 2 · PROFIT &amp; LOSS</a:t>
            </a:r>
            <a:endParaRPr lang="en-US" sz="1200" dirty="0"/>
          </a:p>
        </p:txBody>
      </p:sp>
      <p:sp>
        <p:nvSpPr>
          <p:cNvPr id="3" name="Text 1"/>
          <p:cNvSpPr/>
          <p:nvPr>
            <p:ph type="title"/>
          </p:nvPr>
        </p:nvSpPr>
        <p:spPr>
          <a:xfrm>
            <a:off x="812800" y="1076961"/>
            <a:ext cx="10883392" cy="360680"/>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11111"/>
                </a:solidFill>
                <a:latin typeface="Inter" pitchFamily="34" charset="0"/>
                <a:ea typeface="Inter" pitchFamily="34" charset="-122"/>
                <a:cs typeface="Inter" pitchFamily="34" charset="-120"/>
              </a:rPr>
              <a:t>COGS takes 65% of revenue and costs grow with sales</a:t>
            </a:r>
            <a:endParaRPr lang="en-US" sz="2400" dirty="0"/>
          </a:p>
        </p:txBody>
      </p:sp>
      <p:sp>
        <p:nvSpPr>
          <p:cNvPr id="4" name="Shape 2"/>
          <p:cNvSpPr/>
          <p:nvPr/>
        </p:nvSpPr>
        <p:spPr>
          <a:xfrm>
            <a:off x="812800" y="1666239"/>
            <a:ext cx="6350000" cy="3568700"/>
          </a:xfrm>
          <a:prstGeom prst="roundRect">
            <a:avLst>
              <a:gd name="adj" fmla="val 2135"/>
            </a:avLst>
          </a:prstGeom>
          <a:solidFill>
            <a:srgbClr val="FFFFFF"/>
          </a:solidFill>
          <a:ln/>
        </p:spPr>
      </p:sp>
      <p:pic>
        <p:nvPicPr>
          <p:cNvPr id="5" name="Image 0" descr="Dashboard page 2: Profit &amp; Loss">    </p:cNvPr>
          <p:cNvPicPr>
            <a:picLocks noChangeAspect="1"/>
          </p:cNvPicPr>
          <p:nvPr/>
        </p:nvPicPr>
        <p:blipFill>
          <a:blip r:embed="rId1"/>
          <a:srcRect l="-202" r="-202" t="0" b="0"/>
          <a:stretch/>
        </p:blipFill>
        <p:spPr>
          <a:xfrm>
            <a:off x="825500" y="1678939"/>
            <a:ext cx="6324600" cy="3543300"/>
          </a:xfrm>
          <a:prstGeom prst="roundRect">
            <a:avLst>
              <a:gd name="adj" fmla="val 1792"/>
            </a:avLst>
          </a:prstGeom>
        </p:spPr>
      </p:pic>
      <p:sp>
        <p:nvSpPr>
          <p:cNvPr id="6" name="Shape 3"/>
          <p:cNvSpPr/>
          <p:nvPr/>
        </p:nvSpPr>
        <p:spPr>
          <a:xfrm>
            <a:off x="819150" y="1672589"/>
            <a:ext cx="6337300" cy="3556000"/>
          </a:xfrm>
          <a:prstGeom prst="roundRect">
            <a:avLst>
              <a:gd name="adj" fmla="val 1964"/>
            </a:avLst>
          </a:prstGeom>
          <a:noFill/>
          <a:ln w="12700">
            <a:solidFill>
              <a:srgbClr val="D8D4D0"/>
            </a:solidFill>
            <a:prstDash val="solid"/>
          </a:ln>
        </p:spPr>
      </p:sp>
      <p:sp>
        <p:nvSpPr>
          <p:cNvPr id="7" name="Shape 4"/>
          <p:cNvSpPr/>
          <p:nvPr/>
        </p:nvSpPr>
        <p:spPr>
          <a:xfrm>
            <a:off x="7473950" y="1672589"/>
            <a:ext cx="3898900" cy="1242060"/>
          </a:xfrm>
          <a:prstGeom prst="roundRect">
            <a:avLst>
              <a:gd name="adj" fmla="val 7669"/>
            </a:avLst>
          </a:prstGeom>
          <a:solidFill>
            <a:srgbClr val="FFFFFF"/>
          </a:solidFill>
          <a:ln w="12700">
            <a:solidFill>
              <a:srgbClr val="D8D4D0"/>
            </a:solidFill>
            <a:prstDash val="solid"/>
          </a:ln>
        </p:spPr>
      </p:sp>
      <p:sp>
        <p:nvSpPr>
          <p:cNvPr id="8" name="Text 5"/>
          <p:cNvSpPr/>
          <p:nvPr/>
        </p:nvSpPr>
        <p:spPr>
          <a:xfrm>
            <a:off x="7680960" y="1854200"/>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KPIs</a:t>
            </a:r>
            <a:endParaRPr lang="en-US" sz="1300" dirty="0"/>
          </a:p>
        </p:txBody>
      </p:sp>
      <p:sp>
        <p:nvSpPr>
          <p:cNvPr id="9" name="Text 6"/>
          <p:cNvSpPr/>
          <p:nvPr/>
        </p:nvSpPr>
        <p:spPr>
          <a:xfrm>
            <a:off x="7680960" y="2115821"/>
            <a:ext cx="358942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COGS 65.3% and OPEX 17.0% of revenue, operating income EGP 4.24B, EBITDA EGP 4.76B.</a:t>
            </a:r>
            <a:endParaRPr lang="en-US" sz="1200" dirty="0"/>
          </a:p>
        </p:txBody>
      </p:sp>
      <p:sp>
        <p:nvSpPr>
          <p:cNvPr id="10" name="Shape 7"/>
          <p:cNvSpPr/>
          <p:nvPr/>
        </p:nvSpPr>
        <p:spPr>
          <a:xfrm>
            <a:off x="7473950" y="3028950"/>
            <a:ext cx="3898900" cy="1242060"/>
          </a:xfrm>
          <a:prstGeom prst="roundRect">
            <a:avLst>
              <a:gd name="adj" fmla="val 7669"/>
            </a:avLst>
          </a:prstGeom>
          <a:solidFill>
            <a:srgbClr val="FFFFFF"/>
          </a:solidFill>
          <a:ln w="12700">
            <a:solidFill>
              <a:srgbClr val="D8D4D0"/>
            </a:solidFill>
            <a:prstDash val="solid"/>
          </a:ln>
        </p:spPr>
      </p:sp>
      <p:sp>
        <p:nvSpPr>
          <p:cNvPr id="11" name="Text 8"/>
          <p:cNvSpPr/>
          <p:nvPr/>
        </p:nvSpPr>
        <p:spPr>
          <a:xfrm>
            <a:off x="7680960" y="3210561"/>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Charts</a:t>
            </a:r>
            <a:endParaRPr lang="en-US" sz="1300" dirty="0"/>
          </a:p>
        </p:txBody>
      </p:sp>
      <p:sp>
        <p:nvSpPr>
          <p:cNvPr id="12" name="Text 9"/>
          <p:cNvSpPr/>
          <p:nvPr/>
        </p:nvSpPr>
        <p:spPr>
          <a:xfrm>
            <a:off x="7680960" y="3472182"/>
            <a:ext cx="358942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A waterfall from revenue to net income, cost shares by quarter, and revenue growth by quarter.</a:t>
            </a:r>
            <a:endParaRPr lang="en-US" sz="1200" dirty="0"/>
          </a:p>
        </p:txBody>
      </p:sp>
      <p:sp>
        <p:nvSpPr>
          <p:cNvPr id="13" name="Shape 10"/>
          <p:cNvSpPr/>
          <p:nvPr/>
        </p:nvSpPr>
        <p:spPr>
          <a:xfrm>
            <a:off x="7473950" y="4385311"/>
            <a:ext cx="3898900" cy="1036320"/>
          </a:xfrm>
          <a:prstGeom prst="roundRect">
            <a:avLst>
              <a:gd name="adj" fmla="val 9191"/>
            </a:avLst>
          </a:prstGeom>
          <a:solidFill>
            <a:srgbClr val="FFFFFF"/>
          </a:solidFill>
          <a:ln w="12700">
            <a:solidFill>
              <a:srgbClr val="E8730C"/>
            </a:solidFill>
            <a:prstDash val="solid"/>
          </a:ln>
        </p:spPr>
      </p:sp>
      <p:sp>
        <p:nvSpPr>
          <p:cNvPr id="14" name="Text 11"/>
          <p:cNvSpPr/>
          <p:nvPr/>
        </p:nvSpPr>
        <p:spPr>
          <a:xfrm>
            <a:off x="7680960" y="4566921"/>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What I learned</a:t>
            </a:r>
            <a:endParaRPr lang="en-US" sz="1300" dirty="0"/>
          </a:p>
        </p:txBody>
      </p:sp>
      <p:sp>
        <p:nvSpPr>
          <p:cNvPr id="15" name="Text 12"/>
          <p:cNvSpPr/>
          <p:nvPr/>
        </p:nvSpPr>
        <p:spPr>
          <a:xfrm>
            <a:off x="7680960" y="4828539"/>
            <a:ext cx="35894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OPEX moved only from 17.5% to 17.6% in 8 quarters, so gross margin is the lever to watch.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FE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30C"/>
                </a:solidFill>
                <a:latin typeface="Inter" pitchFamily="34" charset="0"/>
                <a:ea typeface="Inter" pitchFamily="34" charset="-122"/>
                <a:cs typeface="Inter" pitchFamily="34" charset="-120"/>
              </a:rPr>
              <a:t>PAGE 3 · BALANCE SHEET</a:t>
            </a:r>
            <a:endParaRPr lang="en-US" sz="1200" dirty="0"/>
          </a:p>
        </p:txBody>
      </p:sp>
      <p:sp>
        <p:nvSpPr>
          <p:cNvPr id="3" name="Text 1"/>
          <p:cNvSpPr/>
          <p:nvPr>
            <p:ph type="title"/>
          </p:nvPr>
        </p:nvSpPr>
        <p:spPr>
          <a:xfrm>
            <a:off x="812800" y="1076961"/>
            <a:ext cx="10883392" cy="360680"/>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11111"/>
                </a:solidFill>
                <a:latin typeface="Inter" pitchFamily="34" charset="0"/>
                <a:ea typeface="Inter" pitchFamily="34" charset="-122"/>
                <a:cs typeface="Inter" pitchFamily="34" charset="-120"/>
              </a:rPr>
              <a:t>PP&amp;E and inventory hold 56% of assets</a:t>
            </a:r>
            <a:endParaRPr lang="en-US" sz="2400" dirty="0"/>
          </a:p>
        </p:txBody>
      </p:sp>
      <p:sp>
        <p:nvSpPr>
          <p:cNvPr id="4" name="Shape 2"/>
          <p:cNvSpPr/>
          <p:nvPr/>
        </p:nvSpPr>
        <p:spPr>
          <a:xfrm>
            <a:off x="812800" y="1666239"/>
            <a:ext cx="6350000" cy="3568700"/>
          </a:xfrm>
          <a:prstGeom prst="roundRect">
            <a:avLst>
              <a:gd name="adj" fmla="val 2135"/>
            </a:avLst>
          </a:prstGeom>
          <a:solidFill>
            <a:srgbClr val="FFFFFF"/>
          </a:solidFill>
          <a:ln/>
        </p:spPr>
      </p:sp>
      <p:pic>
        <p:nvPicPr>
          <p:cNvPr id="5" name="Image 0" descr="Dashboard page 3: Balance Sheet">    </p:cNvPr>
          <p:cNvPicPr>
            <a:picLocks noChangeAspect="1"/>
          </p:cNvPicPr>
          <p:nvPr/>
        </p:nvPicPr>
        <p:blipFill>
          <a:blip r:embed="rId1"/>
          <a:srcRect l="-202" r="-202" t="0" b="0"/>
          <a:stretch/>
        </p:blipFill>
        <p:spPr>
          <a:xfrm>
            <a:off x="825500" y="1678939"/>
            <a:ext cx="6324600" cy="3543300"/>
          </a:xfrm>
          <a:prstGeom prst="roundRect">
            <a:avLst>
              <a:gd name="adj" fmla="val 1792"/>
            </a:avLst>
          </a:prstGeom>
        </p:spPr>
      </p:pic>
      <p:sp>
        <p:nvSpPr>
          <p:cNvPr id="6" name="Shape 3"/>
          <p:cNvSpPr/>
          <p:nvPr/>
        </p:nvSpPr>
        <p:spPr>
          <a:xfrm>
            <a:off x="819150" y="1672589"/>
            <a:ext cx="6337300" cy="3556000"/>
          </a:xfrm>
          <a:prstGeom prst="roundRect">
            <a:avLst>
              <a:gd name="adj" fmla="val 1964"/>
            </a:avLst>
          </a:prstGeom>
          <a:noFill/>
          <a:ln w="12700">
            <a:solidFill>
              <a:srgbClr val="D8D4D0"/>
            </a:solidFill>
            <a:prstDash val="solid"/>
          </a:ln>
        </p:spPr>
      </p:sp>
      <p:sp>
        <p:nvSpPr>
          <p:cNvPr id="7" name="Shape 4"/>
          <p:cNvSpPr/>
          <p:nvPr/>
        </p:nvSpPr>
        <p:spPr>
          <a:xfrm>
            <a:off x="7473950" y="1672589"/>
            <a:ext cx="3898900" cy="1036320"/>
          </a:xfrm>
          <a:prstGeom prst="roundRect">
            <a:avLst>
              <a:gd name="adj" fmla="val 9191"/>
            </a:avLst>
          </a:prstGeom>
          <a:solidFill>
            <a:srgbClr val="FFFFFF"/>
          </a:solidFill>
          <a:ln w="12700">
            <a:solidFill>
              <a:srgbClr val="D8D4D0"/>
            </a:solidFill>
            <a:prstDash val="solid"/>
          </a:ln>
        </p:spPr>
      </p:sp>
      <p:sp>
        <p:nvSpPr>
          <p:cNvPr id="8" name="Text 5"/>
          <p:cNvSpPr/>
          <p:nvPr/>
        </p:nvSpPr>
        <p:spPr>
          <a:xfrm>
            <a:off x="7680960" y="1854200"/>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KPIs</a:t>
            </a:r>
            <a:endParaRPr lang="en-US" sz="1300" dirty="0"/>
          </a:p>
        </p:txBody>
      </p:sp>
      <p:sp>
        <p:nvSpPr>
          <p:cNvPr id="9" name="Text 6"/>
          <p:cNvSpPr/>
          <p:nvPr/>
        </p:nvSpPr>
        <p:spPr>
          <a:xfrm>
            <a:off x="7680960" y="2115821"/>
            <a:ext cx="35894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Assets EGP 16.40B, liabilities EGP 10.10B (62%), equity EGP 6.30B, debt EGP 5.67B.</a:t>
            </a:r>
            <a:endParaRPr lang="en-US" sz="1200" dirty="0"/>
          </a:p>
        </p:txBody>
      </p:sp>
      <p:sp>
        <p:nvSpPr>
          <p:cNvPr id="10" name="Shape 7"/>
          <p:cNvSpPr/>
          <p:nvPr/>
        </p:nvSpPr>
        <p:spPr>
          <a:xfrm>
            <a:off x="7473950" y="2823211"/>
            <a:ext cx="3898900" cy="1036320"/>
          </a:xfrm>
          <a:prstGeom prst="roundRect">
            <a:avLst>
              <a:gd name="adj" fmla="val 9191"/>
            </a:avLst>
          </a:prstGeom>
          <a:solidFill>
            <a:srgbClr val="FFFFFF"/>
          </a:solidFill>
          <a:ln w="12700">
            <a:solidFill>
              <a:srgbClr val="D8D4D0"/>
            </a:solidFill>
            <a:prstDash val="solid"/>
          </a:ln>
        </p:spPr>
      </p:sp>
      <p:sp>
        <p:nvSpPr>
          <p:cNvPr id="11" name="Text 8"/>
          <p:cNvSpPr/>
          <p:nvPr/>
        </p:nvSpPr>
        <p:spPr>
          <a:xfrm>
            <a:off x="7680960" y="3004821"/>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Charts</a:t>
            </a:r>
            <a:endParaRPr lang="en-US" sz="1300" dirty="0"/>
          </a:p>
        </p:txBody>
      </p:sp>
      <p:sp>
        <p:nvSpPr>
          <p:cNvPr id="12" name="Text 9"/>
          <p:cNvSpPr/>
          <p:nvPr/>
        </p:nvSpPr>
        <p:spPr>
          <a:xfrm>
            <a:off x="7680960" y="3266439"/>
            <a:ext cx="35894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Liabilities against equity by quarter, the asset mix, and liabilities to equity.</a:t>
            </a:r>
            <a:endParaRPr lang="en-US" sz="1200" dirty="0"/>
          </a:p>
        </p:txBody>
      </p:sp>
      <p:sp>
        <p:nvSpPr>
          <p:cNvPr id="13" name="Shape 10"/>
          <p:cNvSpPr/>
          <p:nvPr/>
        </p:nvSpPr>
        <p:spPr>
          <a:xfrm>
            <a:off x="7473950" y="3973832"/>
            <a:ext cx="3898900" cy="1036320"/>
          </a:xfrm>
          <a:prstGeom prst="roundRect">
            <a:avLst>
              <a:gd name="adj" fmla="val 9191"/>
            </a:avLst>
          </a:prstGeom>
          <a:solidFill>
            <a:srgbClr val="FFFFFF"/>
          </a:solidFill>
          <a:ln w="12700">
            <a:solidFill>
              <a:srgbClr val="E8730C"/>
            </a:solidFill>
            <a:prstDash val="solid"/>
          </a:ln>
        </p:spPr>
      </p:sp>
      <p:sp>
        <p:nvSpPr>
          <p:cNvPr id="14" name="Text 11"/>
          <p:cNvSpPr/>
          <p:nvPr/>
        </p:nvSpPr>
        <p:spPr>
          <a:xfrm>
            <a:off x="7680960" y="4155442"/>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What I learned</a:t>
            </a:r>
            <a:endParaRPr lang="en-US" sz="1300" dirty="0"/>
          </a:p>
        </p:txBody>
      </p:sp>
      <p:sp>
        <p:nvSpPr>
          <p:cNvPr id="15" name="Text 12"/>
          <p:cNvSpPr/>
          <p:nvPr/>
        </p:nvSpPr>
        <p:spPr>
          <a:xfrm>
            <a:off x="7680960" y="4417064"/>
            <a:ext cx="35894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Edita is capital and stock heavy, with liabilities at 1.60x equity.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FE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30C"/>
                </a:solidFill>
                <a:latin typeface="Inter" pitchFamily="34" charset="0"/>
                <a:ea typeface="Inter" pitchFamily="34" charset="-122"/>
                <a:cs typeface="Inter" pitchFamily="34" charset="-120"/>
              </a:rPr>
              <a:t>PAGE 4 · LIQUIDITY &amp; LEVERAGE</a:t>
            </a:r>
            <a:endParaRPr lang="en-US" sz="1200" dirty="0"/>
          </a:p>
        </p:txBody>
      </p:sp>
      <p:sp>
        <p:nvSpPr>
          <p:cNvPr id="3" name="Text 1"/>
          <p:cNvSpPr/>
          <p:nvPr>
            <p:ph type="title"/>
          </p:nvPr>
        </p:nvSpPr>
        <p:spPr>
          <a:xfrm>
            <a:off x="812800" y="1076964"/>
            <a:ext cx="10883392" cy="360680"/>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11111"/>
                </a:solidFill>
                <a:latin typeface="Inter" pitchFamily="34" charset="0"/>
                <a:ea typeface="Inter" pitchFamily="34" charset="-122"/>
                <a:cs typeface="Inter" pitchFamily="34" charset="-120"/>
              </a:rPr>
              <a:t>Interest is covered 6.3x, but short-term debt nearly tripled</a:t>
            </a:r>
            <a:endParaRPr lang="en-US" sz="2400" dirty="0"/>
          </a:p>
        </p:txBody>
      </p:sp>
      <p:sp>
        <p:nvSpPr>
          <p:cNvPr id="4" name="Shape 2"/>
          <p:cNvSpPr/>
          <p:nvPr/>
        </p:nvSpPr>
        <p:spPr>
          <a:xfrm>
            <a:off x="812800" y="1666242"/>
            <a:ext cx="6350000" cy="3568700"/>
          </a:xfrm>
          <a:prstGeom prst="roundRect">
            <a:avLst>
              <a:gd name="adj" fmla="val 2135"/>
            </a:avLst>
          </a:prstGeom>
          <a:solidFill>
            <a:srgbClr val="FFFFFF"/>
          </a:solidFill>
          <a:ln/>
        </p:spPr>
      </p:sp>
      <p:pic>
        <p:nvPicPr>
          <p:cNvPr id="5" name="Image 0" descr="Dashboard page 4: Liquidity &amp; Leverage">    </p:cNvPr>
          <p:cNvPicPr>
            <a:picLocks noChangeAspect="1"/>
          </p:cNvPicPr>
          <p:nvPr/>
        </p:nvPicPr>
        <p:blipFill>
          <a:blip r:embed="rId1"/>
          <a:srcRect l="-202" r="-202" t="0" b="0"/>
          <a:stretch/>
        </p:blipFill>
        <p:spPr>
          <a:xfrm>
            <a:off x="825500" y="1678942"/>
            <a:ext cx="6324600" cy="3543300"/>
          </a:xfrm>
          <a:prstGeom prst="roundRect">
            <a:avLst>
              <a:gd name="adj" fmla="val 1792"/>
            </a:avLst>
          </a:prstGeom>
        </p:spPr>
      </p:pic>
      <p:sp>
        <p:nvSpPr>
          <p:cNvPr id="6" name="Shape 3"/>
          <p:cNvSpPr/>
          <p:nvPr/>
        </p:nvSpPr>
        <p:spPr>
          <a:xfrm>
            <a:off x="819150" y="1672592"/>
            <a:ext cx="6337300" cy="3556000"/>
          </a:xfrm>
          <a:prstGeom prst="roundRect">
            <a:avLst>
              <a:gd name="adj" fmla="val 1964"/>
            </a:avLst>
          </a:prstGeom>
          <a:noFill/>
          <a:ln w="12700">
            <a:solidFill>
              <a:srgbClr val="D8D4D0"/>
            </a:solidFill>
            <a:prstDash val="solid"/>
          </a:ln>
        </p:spPr>
      </p:sp>
      <p:sp>
        <p:nvSpPr>
          <p:cNvPr id="7" name="Shape 4"/>
          <p:cNvSpPr/>
          <p:nvPr/>
        </p:nvSpPr>
        <p:spPr>
          <a:xfrm>
            <a:off x="7473950" y="1672592"/>
            <a:ext cx="3898900" cy="1036320"/>
          </a:xfrm>
          <a:prstGeom prst="roundRect">
            <a:avLst>
              <a:gd name="adj" fmla="val 9191"/>
            </a:avLst>
          </a:prstGeom>
          <a:solidFill>
            <a:srgbClr val="FFFFFF"/>
          </a:solidFill>
          <a:ln w="12700">
            <a:solidFill>
              <a:srgbClr val="D8D4D0"/>
            </a:solidFill>
            <a:prstDash val="solid"/>
          </a:ln>
        </p:spPr>
      </p:sp>
      <p:sp>
        <p:nvSpPr>
          <p:cNvPr id="8" name="Text 5"/>
          <p:cNvSpPr/>
          <p:nvPr/>
        </p:nvSpPr>
        <p:spPr>
          <a:xfrm>
            <a:off x="7680960" y="1854200"/>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KPIs</a:t>
            </a:r>
            <a:endParaRPr lang="en-US" sz="1300" dirty="0"/>
          </a:p>
        </p:txBody>
      </p:sp>
      <p:sp>
        <p:nvSpPr>
          <p:cNvPr id="9" name="Text 6"/>
          <p:cNvSpPr/>
          <p:nvPr/>
        </p:nvSpPr>
        <p:spPr>
          <a:xfrm>
            <a:off x="7680960" y="2115821"/>
            <a:ext cx="35894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Current ratio 1.55x, quick ratio 0.91x, interest coverage 6.3x, net debt to EBITDA 0.09x.</a:t>
            </a:r>
            <a:endParaRPr lang="en-US" sz="1200" dirty="0"/>
          </a:p>
        </p:txBody>
      </p:sp>
      <p:sp>
        <p:nvSpPr>
          <p:cNvPr id="10" name="Shape 7"/>
          <p:cNvSpPr/>
          <p:nvPr/>
        </p:nvSpPr>
        <p:spPr>
          <a:xfrm>
            <a:off x="7473950" y="2823214"/>
            <a:ext cx="3898900" cy="1242060"/>
          </a:xfrm>
          <a:prstGeom prst="roundRect">
            <a:avLst>
              <a:gd name="adj" fmla="val 7669"/>
            </a:avLst>
          </a:prstGeom>
          <a:solidFill>
            <a:srgbClr val="FFFFFF"/>
          </a:solidFill>
          <a:ln w="12700">
            <a:solidFill>
              <a:srgbClr val="D8D4D0"/>
            </a:solidFill>
            <a:prstDash val="solid"/>
          </a:ln>
        </p:spPr>
      </p:sp>
      <p:sp>
        <p:nvSpPr>
          <p:cNvPr id="11" name="Text 8"/>
          <p:cNvSpPr/>
          <p:nvPr/>
        </p:nvSpPr>
        <p:spPr>
          <a:xfrm>
            <a:off x="7680960" y="3004821"/>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Charts</a:t>
            </a:r>
            <a:endParaRPr lang="en-US" sz="1300" dirty="0"/>
          </a:p>
        </p:txBody>
      </p:sp>
      <p:sp>
        <p:nvSpPr>
          <p:cNvPr id="12" name="Text 9"/>
          <p:cNvSpPr/>
          <p:nvPr/>
        </p:nvSpPr>
        <p:spPr>
          <a:xfrm>
            <a:off x="7680960" y="3266442"/>
            <a:ext cx="358942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Current and quick ratios against 1.0, debt against cash, and coverage against the 3x warning.</a:t>
            </a:r>
            <a:endParaRPr lang="en-US" sz="1200" dirty="0"/>
          </a:p>
        </p:txBody>
      </p:sp>
      <p:sp>
        <p:nvSpPr>
          <p:cNvPr id="13" name="Shape 10"/>
          <p:cNvSpPr/>
          <p:nvPr/>
        </p:nvSpPr>
        <p:spPr>
          <a:xfrm>
            <a:off x="7473950" y="4179571"/>
            <a:ext cx="3898900" cy="1242060"/>
          </a:xfrm>
          <a:prstGeom prst="roundRect">
            <a:avLst>
              <a:gd name="adj" fmla="val 7669"/>
            </a:avLst>
          </a:prstGeom>
          <a:solidFill>
            <a:srgbClr val="FFFFFF"/>
          </a:solidFill>
          <a:ln w="12700">
            <a:solidFill>
              <a:srgbClr val="E8730C"/>
            </a:solidFill>
            <a:prstDash val="solid"/>
          </a:ln>
        </p:spPr>
      </p:sp>
      <p:sp>
        <p:nvSpPr>
          <p:cNvPr id="14" name="Text 11"/>
          <p:cNvSpPr/>
          <p:nvPr/>
        </p:nvSpPr>
        <p:spPr>
          <a:xfrm>
            <a:off x="7680960" y="4361179"/>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What I learned</a:t>
            </a:r>
            <a:endParaRPr lang="en-US" sz="1300" dirty="0"/>
          </a:p>
        </p:txBody>
      </p:sp>
      <p:sp>
        <p:nvSpPr>
          <p:cNvPr id="15" name="Text 12"/>
          <p:cNvSpPr/>
          <p:nvPr/>
        </p:nvSpPr>
        <p:spPr>
          <a:xfrm>
            <a:off x="7680960" y="4622800"/>
            <a:ext cx="358942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Short-term debt rose from EGP 0.70B to 1.97B, but cash of EGP 5.23B covers total debt, so the risk is timing, not solvency.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EFE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30C"/>
                </a:solidFill>
                <a:latin typeface="Inter" pitchFamily="34" charset="0"/>
                <a:ea typeface="Inter" pitchFamily="34" charset="-122"/>
                <a:cs typeface="Inter" pitchFamily="34" charset="-120"/>
              </a:rPr>
              <a:t>PAGE 5 · WORKING CAPITAL</a:t>
            </a:r>
            <a:endParaRPr lang="en-US" sz="1200" dirty="0"/>
          </a:p>
        </p:txBody>
      </p:sp>
      <p:sp>
        <p:nvSpPr>
          <p:cNvPr id="3" name="Text 1"/>
          <p:cNvSpPr/>
          <p:nvPr>
            <p:ph type="title"/>
          </p:nvPr>
        </p:nvSpPr>
        <p:spPr>
          <a:xfrm>
            <a:off x="812800" y="1076964"/>
            <a:ext cx="10883392" cy="360680"/>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11111"/>
                </a:solidFill>
                <a:latin typeface="Inter" pitchFamily="34" charset="0"/>
                <a:ea typeface="Inter" pitchFamily="34" charset="-122"/>
                <a:cs typeface="Inter" pitchFamily="34" charset="-120"/>
              </a:rPr>
              <a:t>Cash is tied up for about 34 days, mostly in inventory</a:t>
            </a:r>
            <a:endParaRPr lang="en-US" sz="2400" dirty="0"/>
          </a:p>
        </p:txBody>
      </p:sp>
      <p:sp>
        <p:nvSpPr>
          <p:cNvPr id="4" name="Shape 2"/>
          <p:cNvSpPr/>
          <p:nvPr/>
        </p:nvSpPr>
        <p:spPr>
          <a:xfrm>
            <a:off x="812800" y="1666242"/>
            <a:ext cx="6350000" cy="3568700"/>
          </a:xfrm>
          <a:prstGeom prst="roundRect">
            <a:avLst>
              <a:gd name="adj" fmla="val 2135"/>
            </a:avLst>
          </a:prstGeom>
          <a:solidFill>
            <a:srgbClr val="FFFFFF"/>
          </a:solidFill>
          <a:ln/>
        </p:spPr>
      </p:sp>
      <p:pic>
        <p:nvPicPr>
          <p:cNvPr id="5" name="Image 0" descr="Dashboard page 5: Working Capital">    </p:cNvPr>
          <p:cNvPicPr>
            <a:picLocks noChangeAspect="1"/>
          </p:cNvPicPr>
          <p:nvPr/>
        </p:nvPicPr>
        <p:blipFill>
          <a:blip r:embed="rId1"/>
          <a:srcRect l="-202" r="-202" t="0" b="0"/>
          <a:stretch/>
        </p:blipFill>
        <p:spPr>
          <a:xfrm>
            <a:off x="825500" y="1678942"/>
            <a:ext cx="6324600" cy="3543300"/>
          </a:xfrm>
          <a:prstGeom prst="roundRect">
            <a:avLst>
              <a:gd name="adj" fmla="val 1792"/>
            </a:avLst>
          </a:prstGeom>
        </p:spPr>
      </p:pic>
      <p:sp>
        <p:nvSpPr>
          <p:cNvPr id="6" name="Shape 3"/>
          <p:cNvSpPr/>
          <p:nvPr/>
        </p:nvSpPr>
        <p:spPr>
          <a:xfrm>
            <a:off x="819150" y="1672592"/>
            <a:ext cx="6337300" cy="3556000"/>
          </a:xfrm>
          <a:prstGeom prst="roundRect">
            <a:avLst>
              <a:gd name="adj" fmla="val 1964"/>
            </a:avLst>
          </a:prstGeom>
          <a:noFill/>
          <a:ln w="12700">
            <a:solidFill>
              <a:srgbClr val="D8D4D0"/>
            </a:solidFill>
            <a:prstDash val="solid"/>
          </a:ln>
        </p:spPr>
      </p:sp>
      <p:sp>
        <p:nvSpPr>
          <p:cNvPr id="7" name="Shape 4"/>
          <p:cNvSpPr/>
          <p:nvPr/>
        </p:nvSpPr>
        <p:spPr>
          <a:xfrm>
            <a:off x="7473950" y="1672592"/>
            <a:ext cx="3898900" cy="1036320"/>
          </a:xfrm>
          <a:prstGeom prst="roundRect">
            <a:avLst>
              <a:gd name="adj" fmla="val 9191"/>
            </a:avLst>
          </a:prstGeom>
          <a:solidFill>
            <a:srgbClr val="FFFFFF"/>
          </a:solidFill>
          <a:ln w="12700">
            <a:solidFill>
              <a:srgbClr val="D8D4D0"/>
            </a:solidFill>
            <a:prstDash val="solid"/>
          </a:ln>
        </p:spPr>
      </p:sp>
      <p:sp>
        <p:nvSpPr>
          <p:cNvPr id="8" name="Text 5"/>
          <p:cNvSpPr/>
          <p:nvPr/>
        </p:nvSpPr>
        <p:spPr>
          <a:xfrm>
            <a:off x="7680960" y="1854200"/>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KPIs</a:t>
            </a:r>
            <a:endParaRPr lang="en-US" sz="1300" dirty="0"/>
          </a:p>
        </p:txBody>
      </p:sp>
      <p:sp>
        <p:nvSpPr>
          <p:cNvPr id="9" name="Text 6"/>
          <p:cNvSpPr/>
          <p:nvPr/>
        </p:nvSpPr>
        <p:spPr>
          <a:xfrm>
            <a:off x="7680960" y="2115821"/>
            <a:ext cx="35894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Cash cycle 34 days: inventory 65, receivables 5, payables 37.</a:t>
            </a:r>
            <a:endParaRPr lang="en-US" sz="1200" dirty="0"/>
          </a:p>
        </p:txBody>
      </p:sp>
      <p:sp>
        <p:nvSpPr>
          <p:cNvPr id="10" name="Shape 7"/>
          <p:cNvSpPr/>
          <p:nvPr/>
        </p:nvSpPr>
        <p:spPr>
          <a:xfrm>
            <a:off x="7473950" y="2823214"/>
            <a:ext cx="3898900" cy="1036320"/>
          </a:xfrm>
          <a:prstGeom prst="roundRect">
            <a:avLst>
              <a:gd name="adj" fmla="val 9191"/>
            </a:avLst>
          </a:prstGeom>
          <a:solidFill>
            <a:srgbClr val="FFFFFF"/>
          </a:solidFill>
          <a:ln w="12700">
            <a:solidFill>
              <a:srgbClr val="D8D4D0"/>
            </a:solidFill>
            <a:prstDash val="solid"/>
          </a:ln>
        </p:spPr>
      </p:sp>
      <p:sp>
        <p:nvSpPr>
          <p:cNvPr id="11" name="Text 8"/>
          <p:cNvSpPr/>
          <p:nvPr/>
        </p:nvSpPr>
        <p:spPr>
          <a:xfrm>
            <a:off x="7680960" y="3004821"/>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Charts</a:t>
            </a:r>
            <a:endParaRPr lang="en-US" sz="1300" dirty="0"/>
          </a:p>
        </p:txBody>
      </p:sp>
      <p:sp>
        <p:nvSpPr>
          <p:cNvPr id="12" name="Text 9"/>
          <p:cNvSpPr/>
          <p:nvPr/>
        </p:nvSpPr>
        <p:spPr>
          <a:xfrm>
            <a:off x="7680960" y="3266442"/>
            <a:ext cx="35894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Days by quarter, inventory against receivables and payables, and inventory turnover.</a:t>
            </a:r>
            <a:endParaRPr lang="en-US" sz="1200" dirty="0"/>
          </a:p>
        </p:txBody>
      </p:sp>
      <p:sp>
        <p:nvSpPr>
          <p:cNvPr id="13" name="Shape 10"/>
          <p:cNvSpPr/>
          <p:nvPr/>
        </p:nvSpPr>
        <p:spPr>
          <a:xfrm>
            <a:off x="7473950" y="3973829"/>
            <a:ext cx="3898900" cy="1036320"/>
          </a:xfrm>
          <a:prstGeom prst="roundRect">
            <a:avLst>
              <a:gd name="adj" fmla="val 9191"/>
            </a:avLst>
          </a:prstGeom>
          <a:solidFill>
            <a:srgbClr val="FFFFFF"/>
          </a:solidFill>
          <a:ln w="12700">
            <a:solidFill>
              <a:srgbClr val="E8730C"/>
            </a:solidFill>
            <a:prstDash val="solid"/>
          </a:ln>
        </p:spPr>
      </p:sp>
      <p:sp>
        <p:nvSpPr>
          <p:cNvPr id="14" name="Text 11"/>
          <p:cNvSpPr/>
          <p:nvPr/>
        </p:nvSpPr>
        <p:spPr>
          <a:xfrm>
            <a:off x="7680960" y="4155442"/>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What I learned</a:t>
            </a:r>
            <a:endParaRPr lang="en-US" sz="1300" dirty="0"/>
          </a:p>
        </p:txBody>
      </p:sp>
      <p:sp>
        <p:nvSpPr>
          <p:cNvPr id="15" name="Text 12"/>
          <p:cNvSpPr/>
          <p:nvPr/>
        </p:nvSpPr>
        <p:spPr>
          <a:xfrm>
            <a:off x="7680960" y="4417064"/>
            <a:ext cx="35894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Inventory grew from EGP 2.02B to 2.77B in a year (+37%), the main place cash is tied up.</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EFE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30C"/>
                </a:solidFill>
                <a:latin typeface="Inter" pitchFamily="34" charset="0"/>
                <a:ea typeface="Inter" pitchFamily="34" charset="-122"/>
                <a:cs typeface="Inter" pitchFamily="34" charset="-120"/>
              </a:rPr>
              <a:t>PAGE 6 · RISKS &amp; TAKEAWAYS</a:t>
            </a:r>
            <a:endParaRPr lang="en-US" sz="1200" dirty="0"/>
          </a:p>
        </p:txBody>
      </p:sp>
      <p:sp>
        <p:nvSpPr>
          <p:cNvPr id="3" name="Text 1"/>
          <p:cNvSpPr/>
          <p:nvPr>
            <p:ph type="title"/>
          </p:nvPr>
        </p:nvSpPr>
        <p:spPr>
          <a:xfrm>
            <a:off x="812800" y="1076964"/>
            <a:ext cx="10883392" cy="360680"/>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11111"/>
                </a:solidFill>
                <a:latin typeface="Inter" pitchFamily="34" charset="0"/>
                <a:ea typeface="Inter" pitchFamily="34" charset="-122"/>
                <a:cs typeface="Inter" pitchFamily="34" charset="-120"/>
              </a:rPr>
              <a:t>Three things need attention: cash, short-term debt, inventory</a:t>
            </a:r>
            <a:endParaRPr lang="en-US" sz="2400" dirty="0"/>
          </a:p>
        </p:txBody>
      </p:sp>
      <p:sp>
        <p:nvSpPr>
          <p:cNvPr id="4" name="Shape 2"/>
          <p:cNvSpPr/>
          <p:nvPr/>
        </p:nvSpPr>
        <p:spPr>
          <a:xfrm>
            <a:off x="812800" y="1666242"/>
            <a:ext cx="6350000" cy="3568700"/>
          </a:xfrm>
          <a:prstGeom prst="roundRect">
            <a:avLst>
              <a:gd name="adj" fmla="val 2135"/>
            </a:avLst>
          </a:prstGeom>
          <a:solidFill>
            <a:srgbClr val="FFFFFF"/>
          </a:solidFill>
          <a:ln/>
        </p:spPr>
      </p:sp>
      <p:pic>
        <p:nvPicPr>
          <p:cNvPr id="5" name="Image 0" descr="Dashboard page 6: Risks &amp; Takeaways">    </p:cNvPr>
          <p:cNvPicPr>
            <a:picLocks noChangeAspect="1"/>
          </p:cNvPicPr>
          <p:nvPr/>
        </p:nvPicPr>
        <p:blipFill>
          <a:blip r:embed="rId1"/>
          <a:srcRect l="-202" r="-202" t="0" b="0"/>
          <a:stretch/>
        </p:blipFill>
        <p:spPr>
          <a:xfrm>
            <a:off x="825500" y="1678942"/>
            <a:ext cx="6324600" cy="3543300"/>
          </a:xfrm>
          <a:prstGeom prst="roundRect">
            <a:avLst>
              <a:gd name="adj" fmla="val 1792"/>
            </a:avLst>
          </a:prstGeom>
        </p:spPr>
      </p:pic>
      <p:sp>
        <p:nvSpPr>
          <p:cNvPr id="6" name="Shape 3"/>
          <p:cNvSpPr/>
          <p:nvPr/>
        </p:nvSpPr>
        <p:spPr>
          <a:xfrm>
            <a:off x="819150" y="1672592"/>
            <a:ext cx="6337300" cy="3556000"/>
          </a:xfrm>
          <a:prstGeom prst="roundRect">
            <a:avLst>
              <a:gd name="adj" fmla="val 1964"/>
            </a:avLst>
          </a:prstGeom>
          <a:noFill/>
          <a:ln w="12700">
            <a:solidFill>
              <a:srgbClr val="D8D4D0"/>
            </a:solidFill>
            <a:prstDash val="solid"/>
          </a:ln>
        </p:spPr>
      </p:sp>
      <p:sp>
        <p:nvSpPr>
          <p:cNvPr id="7" name="Shape 4"/>
          <p:cNvSpPr/>
          <p:nvPr/>
        </p:nvSpPr>
        <p:spPr>
          <a:xfrm>
            <a:off x="7473950" y="1672592"/>
            <a:ext cx="3898900" cy="1036320"/>
          </a:xfrm>
          <a:prstGeom prst="roundRect">
            <a:avLst>
              <a:gd name="adj" fmla="val 9191"/>
            </a:avLst>
          </a:prstGeom>
          <a:solidFill>
            <a:srgbClr val="FFFFFF"/>
          </a:solidFill>
          <a:ln w="12700">
            <a:solidFill>
              <a:srgbClr val="D8D4D0"/>
            </a:solidFill>
            <a:prstDash val="solid"/>
          </a:ln>
        </p:spPr>
      </p:sp>
      <p:sp>
        <p:nvSpPr>
          <p:cNvPr id="8" name="Text 5"/>
          <p:cNvSpPr/>
          <p:nvPr/>
        </p:nvSpPr>
        <p:spPr>
          <a:xfrm>
            <a:off x="7680960" y="1854200"/>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KPIs</a:t>
            </a:r>
            <a:endParaRPr lang="en-US" sz="1300" dirty="0"/>
          </a:p>
        </p:txBody>
      </p:sp>
      <p:sp>
        <p:nvSpPr>
          <p:cNvPr id="9" name="Text 6"/>
          <p:cNvSpPr/>
          <p:nvPr/>
        </p:nvSpPr>
        <p:spPr>
          <a:xfrm>
            <a:off x="7680960" y="2115821"/>
            <a:ext cx="35894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Three problem cards and four recommendations.</a:t>
            </a:r>
            <a:endParaRPr lang="en-US" sz="1200" dirty="0"/>
          </a:p>
        </p:txBody>
      </p:sp>
      <p:sp>
        <p:nvSpPr>
          <p:cNvPr id="10" name="Shape 7"/>
          <p:cNvSpPr/>
          <p:nvPr/>
        </p:nvSpPr>
        <p:spPr>
          <a:xfrm>
            <a:off x="7473950" y="2823214"/>
            <a:ext cx="3898900" cy="1036320"/>
          </a:xfrm>
          <a:prstGeom prst="roundRect">
            <a:avLst>
              <a:gd name="adj" fmla="val 9191"/>
            </a:avLst>
          </a:prstGeom>
          <a:solidFill>
            <a:srgbClr val="FFFFFF"/>
          </a:solidFill>
          <a:ln w="12700">
            <a:solidFill>
              <a:srgbClr val="D8D4D0"/>
            </a:solidFill>
            <a:prstDash val="solid"/>
          </a:ln>
        </p:spPr>
      </p:sp>
      <p:sp>
        <p:nvSpPr>
          <p:cNvPr id="11" name="Text 8"/>
          <p:cNvSpPr/>
          <p:nvPr/>
        </p:nvSpPr>
        <p:spPr>
          <a:xfrm>
            <a:off x="7680960" y="3004821"/>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Charts</a:t>
            </a:r>
            <a:endParaRPr lang="en-US" sz="1300" dirty="0"/>
          </a:p>
        </p:txBody>
      </p:sp>
      <p:sp>
        <p:nvSpPr>
          <p:cNvPr id="12" name="Text 9"/>
          <p:cNvSpPr/>
          <p:nvPr/>
        </p:nvSpPr>
        <p:spPr>
          <a:xfrm>
            <a:off x="7680960" y="3266442"/>
            <a:ext cx="35894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Net income against operating cash flow by quarter.</a:t>
            </a:r>
            <a:endParaRPr lang="en-US" sz="1200" dirty="0"/>
          </a:p>
        </p:txBody>
      </p:sp>
      <p:sp>
        <p:nvSpPr>
          <p:cNvPr id="13" name="Shape 10"/>
          <p:cNvSpPr/>
          <p:nvPr/>
        </p:nvSpPr>
        <p:spPr>
          <a:xfrm>
            <a:off x="7473950" y="3973829"/>
            <a:ext cx="3898900" cy="1036320"/>
          </a:xfrm>
          <a:prstGeom prst="roundRect">
            <a:avLst>
              <a:gd name="adj" fmla="val 9191"/>
            </a:avLst>
          </a:prstGeom>
          <a:solidFill>
            <a:srgbClr val="FFFFFF"/>
          </a:solidFill>
          <a:ln w="12700">
            <a:solidFill>
              <a:srgbClr val="E8730C"/>
            </a:solidFill>
            <a:prstDash val="solid"/>
          </a:ln>
        </p:spPr>
      </p:sp>
      <p:sp>
        <p:nvSpPr>
          <p:cNvPr id="14" name="Text 11"/>
          <p:cNvSpPr/>
          <p:nvPr/>
        </p:nvSpPr>
        <p:spPr>
          <a:xfrm>
            <a:off x="7680960" y="4155442"/>
            <a:ext cx="358942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Inter" pitchFamily="34" charset="0"/>
                <a:ea typeface="Inter" pitchFamily="34" charset="-122"/>
                <a:cs typeface="Inter" pitchFamily="34" charset="-120"/>
              </a:rPr>
              <a:t>What I learned</a:t>
            </a:r>
            <a:endParaRPr lang="en-US" sz="1300" dirty="0"/>
          </a:p>
        </p:txBody>
      </p:sp>
      <p:sp>
        <p:nvSpPr>
          <p:cNvPr id="15" name="Text 12"/>
          <p:cNvSpPr/>
          <p:nvPr/>
        </p:nvSpPr>
        <p:spPr>
          <a:xfrm>
            <a:off x="7680960" y="4417064"/>
            <a:ext cx="358942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B2B"/>
                </a:solidFill>
                <a:latin typeface="Inter" pitchFamily="34" charset="0"/>
                <a:ea typeface="Inter" pitchFamily="34" charset="-122"/>
                <a:cs typeface="Inter" pitchFamily="34" charset="-120"/>
              </a:rPr>
              <a:t>Control debt, cut inventory days, and match dividends and capex to operating cash flow.</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30C"/>
                </a:solidFill>
                <a:latin typeface="Inter" pitchFamily="34" charset="0"/>
                <a:ea typeface="Inter" pitchFamily="34" charset="-122"/>
                <a:cs typeface="Inter" pitchFamily="34" charset="-120"/>
              </a:rPr>
              <a:t>WHAT I LEARNED</a:t>
            </a:r>
            <a:endParaRPr lang="en-US" sz="1200" dirty="0"/>
          </a:p>
        </p:txBody>
      </p:sp>
      <p:sp>
        <p:nvSpPr>
          <p:cNvPr id="3" name="Text 1"/>
          <p:cNvSpPr/>
          <p:nvPr>
            <p:ph type="title"/>
          </p:nvPr>
        </p:nvSpPr>
        <p:spPr>
          <a:xfrm>
            <a:off x="812800" y="1076964"/>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1EFED"/>
                </a:solidFill>
                <a:latin typeface="Inter" pitchFamily="34" charset="0"/>
                <a:ea typeface="Inter" pitchFamily="34" charset="-122"/>
                <a:cs typeface="Inter" pitchFamily="34" charset="-120"/>
              </a:rPr>
              <a:t>Start from the business question, then build</a:t>
            </a:r>
            <a:endParaRPr lang="en-US" sz="2800" dirty="0"/>
          </a:p>
        </p:txBody>
      </p:sp>
      <p:sp>
        <p:nvSpPr>
          <p:cNvPr id="4" name="Shape 2"/>
          <p:cNvSpPr/>
          <p:nvPr/>
        </p:nvSpPr>
        <p:spPr>
          <a:xfrm>
            <a:off x="812800" y="1722121"/>
            <a:ext cx="3403600" cy="1572260"/>
          </a:xfrm>
          <a:prstGeom prst="roundRect">
            <a:avLst>
              <a:gd name="adj" fmla="val 6462"/>
            </a:avLst>
          </a:prstGeom>
          <a:solidFill>
            <a:srgbClr val="2B2B2B"/>
          </a:solidFill>
          <a:ln/>
        </p:spPr>
      </p:sp>
      <p:sp>
        <p:nvSpPr>
          <p:cNvPr id="5" name="Shape 3"/>
          <p:cNvSpPr/>
          <p:nvPr/>
        </p:nvSpPr>
        <p:spPr>
          <a:xfrm>
            <a:off x="812800" y="1722121"/>
            <a:ext cx="3403600" cy="1572260"/>
          </a:xfrm>
          <a:custGeom>
            <a:avLst/>
            <a:gdLst/>
            <a:ahLst/>
            <a:cxnLst/>
            <a:rect l="l" t="t" r="r" b="b"/>
            <a:pathLst>
              <a:path w="3403600" h="1572260">
                <a:moveTo>
                  <a:pt x="0" y="101600"/>
                </a:moveTo>
                <a:lnTo>
                  <a:pt x="0" y="101600"/>
                </a:lnTo>
                <a:arcTo hR="101600" wR="101600" stAng="10800000" swAng="5400000"/>
                <a:lnTo>
                  <a:pt x="3302000" y="0"/>
                </a:lnTo>
                <a:arcTo hR="101600" wR="101600" stAng="16200000" swAng="5400000"/>
                <a:lnTo>
                  <a:pt x="3403600" y="101600"/>
                </a:lnTo>
                <a:arcTo hR="63500" wR="101600" stAng="0" swAng="-5400000"/>
                <a:lnTo>
                  <a:pt x="101600" y="38100"/>
                </a:lnTo>
                <a:arcTo hR="63500" wR="101600" stAng="16200000" swAng="-5400000"/>
                <a:close/>
              </a:path>
            </a:pathLst>
          </a:custGeom>
          <a:solidFill>
            <a:srgbClr val="E8730C"/>
          </a:solidFill>
          <a:ln/>
        </p:spPr>
      </p:sp>
      <p:sp>
        <p:nvSpPr>
          <p:cNvPr id="6" name="Text 4"/>
          <p:cNvSpPr/>
          <p:nvPr/>
        </p:nvSpPr>
        <p:spPr>
          <a:xfrm>
            <a:off x="1041400" y="1986279"/>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EFED"/>
                </a:solidFill>
                <a:latin typeface="Inter" pitchFamily="34" charset="0"/>
                <a:ea typeface="Inter" pitchFamily="34" charset="-122"/>
                <a:cs typeface="Inter" pitchFamily="34" charset="-120"/>
              </a:rPr>
              <a:t>Finding</a:t>
            </a:r>
            <a:endParaRPr lang="en-US" sz="1600" dirty="0"/>
          </a:p>
        </p:txBody>
      </p:sp>
      <p:sp>
        <p:nvSpPr>
          <p:cNvPr id="7" name="Text 5"/>
          <p:cNvSpPr/>
          <p:nvPr/>
        </p:nvSpPr>
        <p:spPr>
          <a:xfrm>
            <a:off x="1041400" y="2319021"/>
            <a:ext cx="303479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CFCF"/>
                </a:solidFill>
                <a:latin typeface="Inter" pitchFamily="34" charset="0"/>
                <a:ea typeface="Inter" pitchFamily="34" charset="-122"/>
                <a:cs typeface="Inter" pitchFamily="34" charset="-120"/>
              </a:rPr>
              <a:t>Revenue grew 37% at a 17.7% operating margin with about 54% ROE.</a:t>
            </a:r>
            <a:endParaRPr lang="en-US" sz="1400" dirty="0"/>
          </a:p>
        </p:txBody>
      </p:sp>
      <p:sp>
        <p:nvSpPr>
          <p:cNvPr id="8" name="Shape 6"/>
          <p:cNvSpPr/>
          <p:nvPr/>
        </p:nvSpPr>
        <p:spPr>
          <a:xfrm>
            <a:off x="4394200" y="1722121"/>
            <a:ext cx="3403600" cy="1572260"/>
          </a:xfrm>
          <a:prstGeom prst="roundRect">
            <a:avLst>
              <a:gd name="adj" fmla="val 6462"/>
            </a:avLst>
          </a:prstGeom>
          <a:solidFill>
            <a:srgbClr val="2B2B2B"/>
          </a:solidFill>
          <a:ln/>
        </p:spPr>
      </p:sp>
      <p:sp>
        <p:nvSpPr>
          <p:cNvPr id="9" name="Shape 7"/>
          <p:cNvSpPr/>
          <p:nvPr/>
        </p:nvSpPr>
        <p:spPr>
          <a:xfrm>
            <a:off x="4394200" y="1722121"/>
            <a:ext cx="3403600" cy="1572260"/>
          </a:xfrm>
          <a:custGeom>
            <a:avLst/>
            <a:gdLst/>
            <a:ahLst/>
            <a:cxnLst/>
            <a:rect l="l" t="t" r="r" b="b"/>
            <a:pathLst>
              <a:path w="3403600" h="1572260">
                <a:moveTo>
                  <a:pt x="0" y="101600"/>
                </a:moveTo>
                <a:lnTo>
                  <a:pt x="0" y="101600"/>
                </a:lnTo>
                <a:arcTo hR="101600" wR="101600" stAng="10800000" swAng="5400000"/>
                <a:lnTo>
                  <a:pt x="3302000" y="0"/>
                </a:lnTo>
                <a:arcTo hR="101600" wR="101600" stAng="16200000" swAng="5400000"/>
                <a:lnTo>
                  <a:pt x="3403600" y="101600"/>
                </a:lnTo>
                <a:arcTo hR="63500" wR="101600" stAng="0" swAng="-5400000"/>
                <a:lnTo>
                  <a:pt x="101600" y="38100"/>
                </a:lnTo>
                <a:arcTo hR="63500" wR="101600" stAng="16200000" swAng="-5400000"/>
                <a:close/>
              </a:path>
            </a:pathLst>
          </a:custGeom>
          <a:solidFill>
            <a:srgbClr val="C0392B"/>
          </a:solidFill>
          <a:ln/>
        </p:spPr>
      </p:sp>
      <p:sp>
        <p:nvSpPr>
          <p:cNvPr id="10" name="Text 8"/>
          <p:cNvSpPr/>
          <p:nvPr/>
        </p:nvSpPr>
        <p:spPr>
          <a:xfrm>
            <a:off x="4622800" y="1986279"/>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EFED"/>
                </a:solidFill>
                <a:latin typeface="Inter" pitchFamily="34" charset="0"/>
                <a:ea typeface="Inter" pitchFamily="34" charset="-122"/>
                <a:cs typeface="Inter" pitchFamily="34" charset="-120"/>
              </a:rPr>
              <a:t>Risk</a:t>
            </a:r>
            <a:endParaRPr lang="en-US" sz="1600" dirty="0"/>
          </a:p>
        </p:txBody>
      </p:sp>
      <p:sp>
        <p:nvSpPr>
          <p:cNvPr id="11" name="Text 9"/>
          <p:cNvSpPr/>
          <p:nvPr/>
        </p:nvSpPr>
        <p:spPr>
          <a:xfrm>
            <a:off x="4622800" y="2319021"/>
            <a:ext cx="303479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CFCF"/>
                </a:solidFill>
                <a:latin typeface="Inter" pitchFamily="34" charset="0"/>
                <a:ea typeface="Inter" pitchFamily="34" charset="-122"/>
                <a:cs typeface="Inter" pitchFamily="34" charset="-120"/>
              </a:rPr>
              <a:t>Cash conversion weakened and short-term debt rose, though cash covers total debt.</a:t>
            </a:r>
            <a:endParaRPr lang="en-US" sz="1400" dirty="0"/>
          </a:p>
        </p:txBody>
      </p:sp>
      <p:sp>
        <p:nvSpPr>
          <p:cNvPr id="12" name="Shape 10"/>
          <p:cNvSpPr/>
          <p:nvPr/>
        </p:nvSpPr>
        <p:spPr>
          <a:xfrm>
            <a:off x="7975600" y="1722121"/>
            <a:ext cx="3403600" cy="1572260"/>
          </a:xfrm>
          <a:prstGeom prst="roundRect">
            <a:avLst>
              <a:gd name="adj" fmla="val 6462"/>
            </a:avLst>
          </a:prstGeom>
          <a:solidFill>
            <a:srgbClr val="2B2B2B"/>
          </a:solidFill>
          <a:ln/>
        </p:spPr>
      </p:sp>
      <p:sp>
        <p:nvSpPr>
          <p:cNvPr id="13" name="Shape 11"/>
          <p:cNvSpPr/>
          <p:nvPr/>
        </p:nvSpPr>
        <p:spPr>
          <a:xfrm>
            <a:off x="7975600" y="1722121"/>
            <a:ext cx="3403600" cy="1572260"/>
          </a:xfrm>
          <a:custGeom>
            <a:avLst/>
            <a:gdLst/>
            <a:ahLst/>
            <a:cxnLst/>
            <a:rect l="l" t="t" r="r" b="b"/>
            <a:pathLst>
              <a:path w="3403600" h="1572260">
                <a:moveTo>
                  <a:pt x="0" y="101600"/>
                </a:moveTo>
                <a:lnTo>
                  <a:pt x="0" y="101600"/>
                </a:lnTo>
                <a:arcTo hR="101600" wR="101600" stAng="10800000" swAng="5400000"/>
                <a:lnTo>
                  <a:pt x="3302000" y="0"/>
                </a:lnTo>
                <a:arcTo hR="101600" wR="101600" stAng="16200000" swAng="5400000"/>
                <a:lnTo>
                  <a:pt x="3403600" y="101600"/>
                </a:lnTo>
                <a:arcTo hR="63500" wR="101600" stAng="0" swAng="-5400000"/>
                <a:lnTo>
                  <a:pt x="101600" y="38100"/>
                </a:lnTo>
                <a:arcTo hR="63500" wR="101600" stAng="16200000" swAng="-5400000"/>
                <a:close/>
              </a:path>
            </a:pathLst>
          </a:custGeom>
          <a:solidFill>
            <a:srgbClr val="6B6B6B"/>
          </a:solidFill>
          <a:ln/>
        </p:spPr>
      </p:sp>
      <p:sp>
        <p:nvSpPr>
          <p:cNvPr id="14" name="Text 12"/>
          <p:cNvSpPr/>
          <p:nvPr/>
        </p:nvSpPr>
        <p:spPr>
          <a:xfrm>
            <a:off x="8204200" y="1986279"/>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EFED"/>
                </a:solidFill>
                <a:latin typeface="Inter" pitchFamily="34" charset="0"/>
                <a:ea typeface="Inter" pitchFamily="34" charset="-122"/>
                <a:cs typeface="Inter" pitchFamily="34" charset="-120"/>
              </a:rPr>
              <a:t>Skill</a:t>
            </a:r>
            <a:endParaRPr lang="en-US" sz="1600" dirty="0"/>
          </a:p>
        </p:txBody>
      </p:sp>
      <p:sp>
        <p:nvSpPr>
          <p:cNvPr id="15" name="Text 13"/>
          <p:cNvSpPr/>
          <p:nvPr/>
        </p:nvSpPr>
        <p:spPr>
          <a:xfrm>
            <a:off x="8204200" y="2319021"/>
            <a:ext cx="303479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CFCF"/>
                </a:solidFill>
                <a:latin typeface="Inter" pitchFamily="34" charset="0"/>
                <a:ea typeface="Inter" pitchFamily="34" charset="-122"/>
                <a:cs typeface="Inter" pitchFamily="34" charset="-120"/>
              </a:rPr>
              <a:t>Ask the business question first, then pick the KPIs and charts that answer it.</a:t>
            </a:r>
            <a:endParaRPr lang="en-US" sz="1400" dirty="0"/>
          </a:p>
        </p:txBody>
      </p:sp>
    </p:spTree>
  </p:cSld>
  <p:clrMapOvr>
    <a:masterClrMapping/>
  </p:clrMapOvr>
</p:sld>
</file>

<file path=ppt/theme/theme1.xml><?xml version="1.0" encoding="utf-8"?>
<a:theme xmlns:a="http://schemas.openxmlformats.org/drawingml/2006/main" name="Edita Financial Performance Dashboard">
  <a:themeElements>
    <a:clrScheme name="Edita Financial Performance Dashboard">
      <a:dk1>
        <a:srgbClr val="111111"/>
      </a:dk1>
      <a:lt1>
        <a:srgbClr val="F1EFED"/>
      </a:lt1>
      <a:dk2>
        <a:srgbClr val="494948"/>
      </a:dk2>
      <a:lt2>
        <a:srgbClr val="DBD9D7"/>
      </a:lt2>
      <a:accent1>
        <a:srgbClr val="E8730C"/>
      </a:accent1>
      <a:accent2>
        <a:srgbClr val="C0392B"/>
      </a:accent2>
      <a:accent3>
        <a:srgbClr val="F6B26B"/>
      </a:accent3>
      <a:accent4>
        <a:srgbClr val="2B2B2B"/>
      </a:accent4>
      <a:accent5>
        <a:srgbClr val="CFCFCF"/>
      </a:accent5>
      <a:accent6>
        <a:srgbClr val="6B6B6B"/>
      </a:accent6>
      <a:hlink>
        <a:srgbClr val="0563C1"/>
      </a:hlink>
      <a:folHlink>
        <a:srgbClr val="954F72"/>
      </a:folHlink>
    </a:clrScheme>
    <a:fontScheme name="Edita Financial Performance Dashboard">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Edita Financial Performance Dashboard</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2026-10-25T18:59:37Z</dcterms:created>
  <dcterms:modified xsi:type="dcterms:W3CDTF">2026-10-25T18:59:37Z</dcterms:modified>
</cp:coreProperties>
</file>